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61"/>
  </p:notesMasterIdLst>
  <p:handoutMasterIdLst>
    <p:handoutMasterId r:id="rId62"/>
  </p:handoutMasterIdLst>
  <p:sldIdLst>
    <p:sldId id="428" r:id="rId2"/>
    <p:sldId id="439" r:id="rId3"/>
    <p:sldId id="429" r:id="rId4"/>
    <p:sldId id="430" r:id="rId5"/>
    <p:sldId id="274" r:id="rId6"/>
    <p:sldId id="279" r:id="rId7"/>
    <p:sldId id="273" r:id="rId8"/>
    <p:sldId id="437" r:id="rId9"/>
    <p:sldId id="438" r:id="rId10"/>
    <p:sldId id="440" r:id="rId11"/>
    <p:sldId id="432" r:id="rId12"/>
    <p:sldId id="431" r:id="rId13"/>
    <p:sldId id="433" r:id="rId14"/>
    <p:sldId id="434" r:id="rId15"/>
    <p:sldId id="435" r:id="rId16"/>
    <p:sldId id="436" r:id="rId17"/>
    <p:sldId id="441" r:id="rId18"/>
    <p:sldId id="473" r:id="rId19"/>
    <p:sldId id="442" r:id="rId20"/>
    <p:sldId id="469" r:id="rId21"/>
    <p:sldId id="443" r:id="rId22"/>
    <p:sldId id="444" r:id="rId23"/>
    <p:sldId id="445" r:id="rId24"/>
    <p:sldId id="474" r:id="rId25"/>
    <p:sldId id="466" r:id="rId26"/>
    <p:sldId id="446" r:id="rId27"/>
    <p:sldId id="447" r:id="rId28"/>
    <p:sldId id="467" r:id="rId29"/>
    <p:sldId id="448" r:id="rId30"/>
    <p:sldId id="449" r:id="rId31"/>
    <p:sldId id="470" r:id="rId32"/>
    <p:sldId id="450" r:id="rId33"/>
    <p:sldId id="451" r:id="rId34"/>
    <p:sldId id="468" r:id="rId35"/>
    <p:sldId id="471" r:id="rId36"/>
    <p:sldId id="452" r:id="rId37"/>
    <p:sldId id="453" r:id="rId38"/>
    <p:sldId id="454" r:id="rId39"/>
    <p:sldId id="472" r:id="rId40"/>
    <p:sldId id="455" r:id="rId41"/>
    <p:sldId id="456" r:id="rId42"/>
    <p:sldId id="457" r:id="rId43"/>
    <p:sldId id="458" r:id="rId44"/>
    <p:sldId id="476" r:id="rId45"/>
    <p:sldId id="459" r:id="rId46"/>
    <p:sldId id="477" r:id="rId47"/>
    <p:sldId id="460" r:id="rId48"/>
    <p:sldId id="461" r:id="rId49"/>
    <p:sldId id="478" r:id="rId50"/>
    <p:sldId id="462" r:id="rId51"/>
    <p:sldId id="463" r:id="rId52"/>
    <p:sldId id="479" r:id="rId53"/>
    <p:sldId id="464" r:id="rId54"/>
    <p:sldId id="480" r:id="rId55"/>
    <p:sldId id="481" r:id="rId56"/>
    <p:sldId id="482" r:id="rId57"/>
    <p:sldId id="465" r:id="rId58"/>
    <p:sldId id="475" r:id="rId59"/>
    <p:sldId id="483" r:id="rId60"/>
  </p:sldIdLst>
  <p:sldSz cx="9144000" cy="6858000" type="screen4x3"/>
  <p:notesSz cx="6797675" cy="9928225"/>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p:cViewPr varScale="1">
        <p:scale>
          <a:sx n="62" d="100"/>
          <a:sy n="62" d="100"/>
        </p:scale>
        <p:origin x="1400" y="44"/>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presProps" Target="pres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handoutMaster" Target="handoutMasters/handout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61"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viewProps" Target="viewProp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45659" cy="496411"/>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50443" y="0"/>
            <a:ext cx="2945659" cy="496411"/>
          </a:xfrm>
          <a:prstGeom prst="rect">
            <a:avLst/>
          </a:prstGeom>
        </p:spPr>
        <p:txBody>
          <a:bodyPr vert="horz" lIns="91440" tIns="45720" rIns="91440" bIns="45720" rtlCol="0"/>
          <a:lstStyle>
            <a:lvl1pPr algn="r">
              <a:defRPr sz="1200"/>
            </a:lvl1pPr>
          </a:lstStyle>
          <a:p>
            <a:fld id="{D0942148-C549-497F-A25F-1F1FE6E3B3D1}" type="datetimeFigureOut">
              <a:rPr lang="en-US" smtClean="0"/>
              <a:pPr/>
              <a:t>1/5/2026</a:t>
            </a:fld>
            <a:endParaRPr lang="en-US"/>
          </a:p>
        </p:txBody>
      </p:sp>
      <p:sp>
        <p:nvSpPr>
          <p:cNvPr id="4" name="Footer Placeholder 3"/>
          <p:cNvSpPr>
            <a:spLocks noGrp="1"/>
          </p:cNvSpPr>
          <p:nvPr>
            <p:ph type="ftr" sz="quarter" idx="2"/>
          </p:nvPr>
        </p:nvSpPr>
        <p:spPr>
          <a:xfrm>
            <a:off x="0" y="9430091"/>
            <a:ext cx="2945659" cy="496411"/>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50443" y="9430091"/>
            <a:ext cx="2945659" cy="496411"/>
          </a:xfrm>
          <a:prstGeom prst="rect">
            <a:avLst/>
          </a:prstGeom>
        </p:spPr>
        <p:txBody>
          <a:bodyPr vert="horz" lIns="91440" tIns="45720" rIns="91440" bIns="45720" rtlCol="0" anchor="b"/>
          <a:lstStyle>
            <a:lvl1pPr algn="r">
              <a:defRPr sz="1200"/>
            </a:lvl1pPr>
          </a:lstStyle>
          <a:p>
            <a:fld id="{AB1E6440-7682-4FD3-9B68-BBB675A3EA3A}" type="slidenum">
              <a:rPr lang="en-US" smtClean="0"/>
              <a:pPr/>
              <a:t>‹#›</a:t>
            </a:fld>
            <a:endParaRPr lang="en-US"/>
          </a:p>
        </p:txBody>
      </p:sp>
    </p:spTree>
    <p:extLst>
      <p:ext uri="{BB962C8B-B14F-4D97-AF65-F5344CB8AC3E}">
        <p14:creationId xmlns:p14="http://schemas.microsoft.com/office/powerpoint/2010/main" val="466458155"/>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46400" cy="4968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49688" y="0"/>
            <a:ext cx="2946400" cy="496888"/>
          </a:xfrm>
          <a:prstGeom prst="rect">
            <a:avLst/>
          </a:prstGeom>
        </p:spPr>
        <p:txBody>
          <a:bodyPr vert="horz" lIns="91440" tIns="45720" rIns="91440" bIns="45720" rtlCol="0"/>
          <a:lstStyle>
            <a:lvl1pPr algn="r">
              <a:defRPr sz="1200"/>
            </a:lvl1pPr>
          </a:lstStyle>
          <a:p>
            <a:fld id="{373B07B3-D1B0-40DC-9793-C334E2505679}" type="datetimeFigureOut">
              <a:rPr lang="en-US" smtClean="0"/>
              <a:pPr/>
              <a:t>1/5/2026</a:t>
            </a:fld>
            <a:endParaRPr lang="en-US"/>
          </a:p>
        </p:txBody>
      </p:sp>
      <p:sp>
        <p:nvSpPr>
          <p:cNvPr id="4" name="Slide Image Placeholder 3"/>
          <p:cNvSpPr>
            <a:spLocks noGrp="1" noRot="1" noChangeAspect="1"/>
          </p:cNvSpPr>
          <p:nvPr>
            <p:ph type="sldImg" idx="2"/>
          </p:nvPr>
        </p:nvSpPr>
        <p:spPr>
          <a:xfrm>
            <a:off x="917575" y="744538"/>
            <a:ext cx="4962525" cy="3722687"/>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79450" y="4716463"/>
            <a:ext cx="5438775" cy="4467225"/>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9429750"/>
            <a:ext cx="2946400" cy="496888"/>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49688" y="9429750"/>
            <a:ext cx="2946400" cy="496888"/>
          </a:xfrm>
          <a:prstGeom prst="rect">
            <a:avLst/>
          </a:prstGeom>
        </p:spPr>
        <p:txBody>
          <a:bodyPr vert="horz" lIns="91440" tIns="45720" rIns="91440" bIns="45720" rtlCol="0" anchor="b"/>
          <a:lstStyle>
            <a:lvl1pPr algn="r">
              <a:defRPr sz="1200"/>
            </a:lvl1pPr>
          </a:lstStyle>
          <a:p>
            <a:fld id="{79E9F26E-24D9-4DEA-B6D8-D35C5B4CF1EE}" type="slidenum">
              <a:rPr lang="en-US" smtClean="0"/>
              <a:pPr/>
              <a:t>‹#›</a:t>
            </a:fld>
            <a:endParaRPr lang="en-US"/>
          </a:p>
        </p:txBody>
      </p:sp>
    </p:spTree>
    <p:extLst>
      <p:ext uri="{BB962C8B-B14F-4D97-AF65-F5344CB8AC3E}">
        <p14:creationId xmlns:p14="http://schemas.microsoft.com/office/powerpoint/2010/main" val="266736738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371600"/>
            <a:ext cx="7848600" cy="1927225"/>
          </a:xfrm>
        </p:spPr>
        <p:txBody>
          <a:bodyPr anchor="b">
            <a:noAutofit/>
          </a:bodyPr>
          <a:lstStyle>
            <a:lvl1pPr>
              <a:defRPr sz="5400" cap="all" baseline="0"/>
            </a:lvl1pPr>
          </a:lstStyle>
          <a:p>
            <a:r>
              <a:rPr lang="en-US"/>
              <a:t>Click to edit Master title style</a:t>
            </a:r>
            <a:endParaRPr lang="en-US" dirty="0"/>
          </a:p>
        </p:txBody>
      </p:sp>
      <p:sp>
        <p:nvSpPr>
          <p:cNvPr id="3" name="Subtitle 2"/>
          <p:cNvSpPr>
            <a:spLocks noGrp="1"/>
          </p:cNvSpPr>
          <p:nvPr>
            <p:ph type="subTitle" idx="1"/>
          </p:nvPr>
        </p:nvSpPr>
        <p:spPr>
          <a:xfrm>
            <a:off x="685800" y="3505200"/>
            <a:ext cx="6400800" cy="1752600"/>
          </a:xfrm>
        </p:spPr>
        <p:txBody>
          <a:bodyPr/>
          <a:lstStyle>
            <a:lvl1pPr marL="0" indent="0" algn="l">
              <a:buNone/>
              <a:defRPr>
                <a:solidFill>
                  <a:schemeClr val="tx1">
                    <a:lumMod val="75000"/>
                    <a:lumOff val="2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1D8BD707-D9CF-40AE-B4C6-C98DA3205C09}" type="datetimeFigureOut">
              <a:rPr lang="en-US" smtClean="0"/>
              <a:pPr/>
              <a:t>1/5/2026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cxnSp>
        <p:nvCxnSpPr>
          <p:cNvPr id="8" name="Straight Connector 7"/>
          <p:cNvCxnSpPr/>
          <p:nvPr/>
        </p:nvCxnSpPr>
        <p:spPr>
          <a:xfrm>
            <a:off x="685800" y="3398520"/>
            <a:ext cx="7848600" cy="1588"/>
          </a:xfrm>
          <a:prstGeom prst="line">
            <a:avLst/>
          </a:prstGeom>
          <a:ln w="19050">
            <a:solidFill>
              <a:schemeClr val="tx2"/>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a:xfrm>
            <a:off x="722313" y="2362200"/>
            <a:ext cx="7772400" cy="2200275"/>
          </a:xfrm>
        </p:spPr>
        <p:txBody>
          <a:bodyPr anchor="b">
            <a:normAutofit/>
          </a:bodyPr>
          <a:lstStyle>
            <a:lvl1pPr algn="l">
              <a:defRPr sz="4800" b="0" cap="all"/>
            </a:lvl1pPr>
          </a:lstStyle>
          <a:p>
            <a:r>
              <a:rPr lang="en-US"/>
              <a:t>Click to edit Master title style</a:t>
            </a:r>
            <a:endParaRPr lang="en-US" dirty="0"/>
          </a:p>
        </p:txBody>
      </p:sp>
      <p:sp>
        <p:nvSpPr>
          <p:cNvPr id="3" name="Text Placeholder 2"/>
          <p:cNvSpPr>
            <a:spLocks noGrp="1"/>
          </p:cNvSpPr>
          <p:nvPr>
            <p:ph type="body" idx="1"/>
          </p:nvPr>
        </p:nvSpPr>
        <p:spPr>
          <a:xfrm>
            <a:off x="722313" y="4626864"/>
            <a:ext cx="7772400" cy="1500187"/>
          </a:xfrm>
        </p:spPr>
        <p:txBody>
          <a:bodyPr anchor="t">
            <a:normAutofit/>
          </a:bodyPr>
          <a:lstStyle>
            <a:lvl1pPr marL="0" indent="0">
              <a:buNone/>
              <a:defRPr sz="2400">
                <a:solidFill>
                  <a:schemeClr val="tx2"/>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1/5/2026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cxnSp>
        <p:nvCxnSpPr>
          <p:cNvPr id="7" name="Straight Connector 6"/>
          <p:cNvCxnSpPr/>
          <p:nvPr/>
        </p:nvCxnSpPr>
        <p:spPr>
          <a:xfrm>
            <a:off x="731520" y="4599432"/>
            <a:ext cx="7848600" cy="1588"/>
          </a:xfrm>
          <a:prstGeom prst="line">
            <a:avLst/>
          </a:prstGeom>
          <a:ln w="19050">
            <a:solidFill>
              <a:schemeClr val="tx2"/>
            </a:solidFill>
          </a:ln>
        </p:spPr>
        <p:style>
          <a:lnRef idx="1">
            <a:schemeClr val="accent1"/>
          </a:lnRef>
          <a:fillRef idx="0">
            <a:schemeClr val="accent1"/>
          </a:fillRef>
          <a:effectRef idx="0">
            <a:schemeClr val="accent1"/>
          </a:effectRef>
          <a:fontRef idx="minor">
            <a:schemeClr val="tx1"/>
          </a:fontRef>
        </p:style>
      </p:cxnSp>
    </p:spTree>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73352"/>
            <a:ext cx="4038600" cy="4718304"/>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648200" y="1673352"/>
            <a:ext cx="4038600" cy="4718304"/>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1D8BD707-D9CF-40AE-B4C6-C98DA3205C09}" type="datetimeFigureOut">
              <a:rPr lang="en-US" smtClean="0"/>
              <a:pPr/>
              <a:t>1/5/2026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457200" y="1676400"/>
            <a:ext cx="3931920" cy="639762"/>
          </a:xfrm>
          <a:noFill/>
          <a:ln>
            <a:noFill/>
          </a:ln>
          <a:effectLst/>
        </p:spPr>
        <p:style>
          <a:lnRef idx="3">
            <a:schemeClr val="lt1"/>
          </a:lnRef>
          <a:fillRef idx="1">
            <a:schemeClr val="accent2"/>
          </a:fillRef>
          <a:effectRef idx="1">
            <a:schemeClr val="accent2"/>
          </a:effectRef>
          <a:fontRef idx="none"/>
        </p:style>
        <p:txBody>
          <a:bodyPr anchor="ctr">
            <a:normAutofit/>
          </a:bodyPr>
          <a:lstStyle>
            <a:lvl1pPr marL="0" indent="0" algn="ctr">
              <a:buNone/>
              <a:defRPr sz="2000" b="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438400"/>
            <a:ext cx="3931920"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754880" y="1676400"/>
            <a:ext cx="3931920" cy="639762"/>
          </a:xfrm>
          <a:noFill/>
          <a:ln>
            <a:noFill/>
          </a:ln>
          <a:effectLst/>
        </p:spPr>
        <p:style>
          <a:lnRef idx="3">
            <a:schemeClr val="lt1"/>
          </a:lnRef>
          <a:fillRef idx="1">
            <a:schemeClr val="accent2"/>
          </a:fillRef>
          <a:effectRef idx="1">
            <a:schemeClr val="accent2"/>
          </a:effectRef>
          <a:fontRef idx="none"/>
        </p:style>
        <p:txBody>
          <a:bodyPr anchor="ctr">
            <a:normAutofit/>
          </a:bodyPr>
          <a:lstStyle>
            <a:lvl1pPr marL="0" indent="0" algn="ctr">
              <a:buNone/>
              <a:defRPr lang="en-US" sz="2000" b="0" kern="1200" dirty="0" smtClean="0">
                <a:solidFill>
                  <a:schemeClr val="tx2"/>
                </a:solidFill>
                <a:latin typeface="+mn-lt"/>
                <a:ea typeface="+mn-ea"/>
                <a:cs typeface="+mn-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754880" y="2438400"/>
            <a:ext cx="3931920"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1D8BD707-D9CF-40AE-B4C6-C98DA3205C09}" type="datetimeFigureOut">
              <a:rPr lang="en-US" smtClean="0"/>
              <a:pPr/>
              <a:t>1/5/2026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cxnSp>
        <p:nvCxnSpPr>
          <p:cNvPr id="11" name="Straight Connector 10"/>
          <p:cNvCxnSpPr/>
          <p:nvPr/>
        </p:nvCxnSpPr>
        <p:spPr>
          <a:xfrm rot="5400000">
            <a:off x="2217817" y="4045823"/>
            <a:ext cx="4709160" cy="794"/>
          </a:xfrm>
          <a:prstGeom prst="line">
            <a:avLst/>
          </a:prstGeom>
          <a:ln w="19050">
            <a:solidFill>
              <a:schemeClr val="tx2"/>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1/5/2026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1/5/2026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792080"/>
            <a:ext cx="2139696" cy="1261872"/>
          </a:xfrm>
        </p:spPr>
        <p:txBody>
          <a:bodyPr anchor="b">
            <a:noAutofit/>
          </a:bodyPr>
          <a:lstStyle>
            <a:lvl1pPr algn="l">
              <a:defRPr sz="2400" b="0"/>
            </a:lvl1pPr>
          </a:lstStyle>
          <a:p>
            <a:r>
              <a:rPr lang="en-US"/>
              <a:t>Click to edit Master title style</a:t>
            </a:r>
            <a:endParaRPr lang="en-US" dirty="0"/>
          </a:p>
        </p:txBody>
      </p:sp>
      <p:sp>
        <p:nvSpPr>
          <p:cNvPr id="3" name="Content Placeholder 2"/>
          <p:cNvSpPr>
            <a:spLocks noGrp="1"/>
          </p:cNvSpPr>
          <p:nvPr>
            <p:ph idx="1"/>
          </p:nvPr>
        </p:nvSpPr>
        <p:spPr>
          <a:xfrm>
            <a:off x="2971800" y="792080"/>
            <a:ext cx="5715000" cy="5577840"/>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457201" y="2130552"/>
            <a:ext cx="2139696" cy="4243615"/>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cxnSp>
        <p:nvCxnSpPr>
          <p:cNvPr id="9" name="Straight Connector 8"/>
          <p:cNvCxnSpPr/>
          <p:nvPr/>
        </p:nvCxnSpPr>
        <p:spPr>
          <a:xfrm rot="5400000">
            <a:off x="-13116" y="3580206"/>
            <a:ext cx="5577840" cy="1588"/>
          </a:xfrm>
          <a:prstGeom prst="line">
            <a:avLst/>
          </a:prstGeom>
          <a:ln w="19050">
            <a:solidFill>
              <a:schemeClr val="tx2"/>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792480"/>
            <a:ext cx="2142680" cy="1264920"/>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p:cNvSpPr>
          <p:nvPr>
            <p:ph type="pic" idx="1"/>
          </p:nvPr>
        </p:nvSpPr>
        <p:spPr>
          <a:xfrm>
            <a:off x="2858610" y="838201"/>
            <a:ext cx="5904390" cy="5500456"/>
          </a:xfrm>
          <a:solidFill>
            <a:schemeClr val="bg2"/>
          </a:solidFill>
          <a:ln w="76200">
            <a:solidFill>
              <a:srgbClr val="FFFFFF"/>
            </a:solidFill>
            <a:miter lim="800000"/>
          </a:ln>
          <a:effectLst>
            <a:outerShdw blurRad="50800" dist="12700" dir="5400000" algn="t" rotWithShape="0">
              <a:prstClr val="black">
                <a:alpha val="59000"/>
              </a:prstClr>
            </a:outerShdw>
          </a:effectLst>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457200" y="2133600"/>
            <a:ext cx="2139696" cy="4242816"/>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609600"/>
            <a:ext cx="2057400" cy="5867400"/>
          </a:xfrm>
        </p:spPr>
        <p:txBody>
          <a:bodyPr vert="eaVert" anchor="b"/>
          <a:lstStyle/>
          <a:p>
            <a:r>
              <a:rPr lang="en-US"/>
              <a:t>Click to edit Master title style</a:t>
            </a:r>
            <a:endParaRPr lang="en-US" dirty="0"/>
          </a:p>
        </p:txBody>
      </p:sp>
      <p:sp>
        <p:nvSpPr>
          <p:cNvPr id="3" name="Vertical Text Placeholder 2"/>
          <p:cNvSpPr>
            <a:spLocks noGrp="1"/>
          </p:cNvSpPr>
          <p:nvPr>
            <p:ph type="body" orient="vert" idx="1"/>
          </p:nvPr>
        </p:nvSpPr>
        <p:spPr>
          <a:xfrm>
            <a:off x="457200" y="609600"/>
            <a:ext cx="6019800" cy="58674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D8BD707-D9CF-40AE-B4C6-C98DA3205C09}" type="datetimeFigureOut">
              <a:rPr lang="en-US" smtClean="0"/>
              <a:pPr/>
              <a:t>1/5/2026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 name="Rectangle 9"/>
          <p:cNvSpPr/>
          <p:nvPr/>
        </p:nvSpPr>
        <p:spPr>
          <a:xfrm>
            <a:off x="0" y="220786"/>
            <a:ext cx="9144000" cy="22860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Placeholder 1"/>
          <p:cNvSpPr>
            <a:spLocks noGrp="1"/>
          </p:cNvSpPr>
          <p:nvPr>
            <p:ph type="title"/>
          </p:nvPr>
        </p:nvSpPr>
        <p:spPr>
          <a:xfrm>
            <a:off x="457200" y="533400"/>
            <a:ext cx="8229600" cy="990600"/>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457200" y="1600200"/>
            <a:ext cx="8229600" cy="48768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Rectangle 6"/>
          <p:cNvSpPr/>
          <p:nvPr/>
        </p:nvSpPr>
        <p:spPr>
          <a:xfrm>
            <a:off x="0" y="0"/>
            <a:ext cx="9144000" cy="36576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Date Placeholder 3"/>
          <p:cNvSpPr>
            <a:spLocks noGrp="1"/>
          </p:cNvSpPr>
          <p:nvPr>
            <p:ph type="dt" sz="half" idx="2"/>
          </p:nvPr>
        </p:nvSpPr>
        <p:spPr>
          <a:xfrm>
            <a:off x="457200" y="18288"/>
            <a:ext cx="2895600" cy="329184"/>
          </a:xfrm>
          <a:prstGeom prst="rect">
            <a:avLst/>
          </a:prstGeom>
        </p:spPr>
        <p:txBody>
          <a:bodyPr vert="horz" lIns="91440" tIns="45720" rIns="91440" bIns="45720" rtlCol="0" anchor="ctr"/>
          <a:lstStyle>
            <a:lvl1pPr algn="l">
              <a:defRPr sz="1200">
                <a:solidFill>
                  <a:srgbClr val="FFFFFF"/>
                </a:solidFill>
              </a:defRPr>
            </a:lvl1pPr>
          </a:lstStyle>
          <a:p>
            <a:fld id="{1D8BD707-D9CF-40AE-B4C6-C98DA3205C09}" type="datetimeFigureOut">
              <a:rPr lang="en-US" smtClean="0"/>
              <a:pPr/>
              <a:t>1/5/2026</a:t>
            </a:fld>
            <a:endParaRPr lang="en-US"/>
          </a:p>
        </p:txBody>
      </p:sp>
      <p:sp>
        <p:nvSpPr>
          <p:cNvPr id="5" name="Footer Placeholder 4"/>
          <p:cNvSpPr>
            <a:spLocks noGrp="1"/>
          </p:cNvSpPr>
          <p:nvPr>
            <p:ph type="ftr" sz="quarter" idx="3"/>
          </p:nvPr>
        </p:nvSpPr>
        <p:spPr>
          <a:xfrm>
            <a:off x="3429000" y="18288"/>
            <a:ext cx="4114800" cy="329184"/>
          </a:xfrm>
          <a:prstGeom prst="rect">
            <a:avLst/>
          </a:prstGeom>
        </p:spPr>
        <p:txBody>
          <a:bodyPr vert="horz" lIns="91440" tIns="45720" rIns="91440" bIns="45720" rtlCol="0" anchor="ctr"/>
          <a:lstStyle>
            <a:lvl1pPr algn="ctr">
              <a:defRPr sz="1200">
                <a:solidFill>
                  <a:srgbClr val="FFFFFF"/>
                </a:solidFill>
              </a:defRPr>
            </a:lvl1pPr>
          </a:lstStyle>
          <a:p>
            <a:endParaRPr lang="en-US"/>
          </a:p>
        </p:txBody>
      </p:sp>
      <p:sp>
        <p:nvSpPr>
          <p:cNvPr id="6" name="Slide Number Placeholder 5"/>
          <p:cNvSpPr>
            <a:spLocks noGrp="1"/>
          </p:cNvSpPr>
          <p:nvPr>
            <p:ph type="sldNum" sz="quarter" idx="4"/>
          </p:nvPr>
        </p:nvSpPr>
        <p:spPr>
          <a:xfrm>
            <a:off x="7620000" y="18288"/>
            <a:ext cx="1066800" cy="329184"/>
          </a:xfrm>
          <a:prstGeom prst="rect">
            <a:avLst/>
          </a:prstGeom>
        </p:spPr>
        <p:txBody>
          <a:bodyPr vert="horz" lIns="91440" tIns="45720" rIns="91440" bIns="45720" rtlCol="0" anchor="ctr"/>
          <a:lstStyle>
            <a:lvl1pPr algn="l">
              <a:defRPr sz="1400" b="1">
                <a:solidFill>
                  <a:srgbClr val="FFFFFF"/>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spcBef>
          <a:spcPct val="0"/>
        </a:spcBef>
        <a:buNone/>
        <a:defRPr sz="4000" kern="1200" spc="-100" baseline="0">
          <a:solidFill>
            <a:schemeClr val="tx2"/>
          </a:solidFill>
          <a:latin typeface="+mj-lt"/>
          <a:ea typeface="+mj-ea"/>
          <a:cs typeface="+mj-cs"/>
        </a:defRPr>
      </a:lvl1pPr>
    </p:titleStyle>
    <p:bodyStyle>
      <a:lvl1pPr marL="182880" indent="-182880" algn="l" defTabSz="914400" rtl="0" eaLnBrk="1" latinLnBrk="0" hangingPunct="1">
        <a:spcBef>
          <a:spcPct val="20000"/>
        </a:spcBef>
        <a:buClr>
          <a:schemeClr val="accent1"/>
        </a:buClr>
        <a:buSzPct val="85000"/>
        <a:buFont typeface="Arial" pitchFamily="34" charset="0"/>
        <a:buChar char="•"/>
        <a:defRPr sz="2400" kern="1200">
          <a:solidFill>
            <a:schemeClr val="tx1"/>
          </a:solidFill>
          <a:latin typeface="+mn-lt"/>
          <a:ea typeface="+mn-ea"/>
          <a:cs typeface="+mn-cs"/>
        </a:defRPr>
      </a:lvl1pPr>
      <a:lvl2pPr marL="457200" indent="-182880" algn="l" defTabSz="914400" rtl="0" eaLnBrk="1" latinLnBrk="0" hangingPunct="1">
        <a:spcBef>
          <a:spcPct val="20000"/>
        </a:spcBef>
        <a:buClr>
          <a:schemeClr val="accent1"/>
        </a:buClr>
        <a:buSzPct val="85000"/>
        <a:buFont typeface="Arial" pitchFamily="34" charset="0"/>
        <a:buChar char="•"/>
        <a:defRPr sz="2000" kern="1200">
          <a:solidFill>
            <a:schemeClr val="tx1"/>
          </a:solidFill>
          <a:latin typeface="+mn-lt"/>
          <a:ea typeface="+mn-ea"/>
          <a:cs typeface="+mn-cs"/>
        </a:defRPr>
      </a:lvl2pPr>
      <a:lvl3pPr marL="731520" indent="-182880" algn="l" defTabSz="914400" rtl="0" eaLnBrk="1" latinLnBrk="0" hangingPunct="1">
        <a:spcBef>
          <a:spcPct val="20000"/>
        </a:spcBef>
        <a:buClr>
          <a:schemeClr val="accent1"/>
        </a:buClr>
        <a:buSzPct val="90000"/>
        <a:buFont typeface="Arial" pitchFamily="34" charset="0"/>
        <a:buChar char="•"/>
        <a:defRPr sz="1800" kern="1200">
          <a:solidFill>
            <a:schemeClr val="tx1"/>
          </a:solidFill>
          <a:latin typeface="+mn-lt"/>
          <a:ea typeface="+mn-ea"/>
          <a:cs typeface="+mn-cs"/>
        </a:defRPr>
      </a:lvl3pPr>
      <a:lvl4pPr marL="1005840" indent="-182880" algn="l" defTabSz="914400" rtl="0" eaLnBrk="1" latinLnBrk="0" hangingPunct="1">
        <a:spcBef>
          <a:spcPct val="20000"/>
        </a:spcBef>
        <a:buClr>
          <a:schemeClr val="accent1"/>
        </a:buClr>
        <a:buFont typeface="Arial" pitchFamily="34" charset="0"/>
        <a:buChar char="•"/>
        <a:defRPr sz="1600" kern="1200">
          <a:solidFill>
            <a:schemeClr val="tx1"/>
          </a:solidFill>
          <a:latin typeface="+mn-lt"/>
          <a:ea typeface="+mn-ea"/>
          <a:cs typeface="+mn-cs"/>
        </a:defRPr>
      </a:lvl4pPr>
      <a:lvl5pPr marL="1188720" indent="-137160" algn="l" defTabSz="914400" rtl="0" eaLnBrk="1" latinLnBrk="0" hangingPunct="1">
        <a:spcBef>
          <a:spcPct val="20000"/>
        </a:spcBef>
        <a:buClr>
          <a:schemeClr val="accent1"/>
        </a:buClr>
        <a:buSzPct val="100000"/>
        <a:buFont typeface="Arial" pitchFamily="34" charset="0"/>
        <a:buChar char="•"/>
        <a:defRPr sz="1400" kern="1200" baseline="0">
          <a:solidFill>
            <a:schemeClr val="tx1"/>
          </a:solidFill>
          <a:latin typeface="+mn-lt"/>
          <a:ea typeface="+mn-ea"/>
          <a:cs typeface="+mn-cs"/>
        </a:defRPr>
      </a:lvl5pPr>
      <a:lvl6pPr marL="1371600" indent="-182880" algn="l" defTabSz="914400" rtl="0" eaLnBrk="1" latinLnBrk="0" hangingPunct="1">
        <a:spcBef>
          <a:spcPct val="20000"/>
        </a:spcBef>
        <a:buClr>
          <a:schemeClr val="accent1"/>
        </a:buClr>
        <a:buFont typeface="Arial" pitchFamily="34" charset="0"/>
        <a:buChar char="•"/>
        <a:defRPr sz="1300" kern="1200">
          <a:solidFill>
            <a:schemeClr val="tx1"/>
          </a:solidFill>
          <a:latin typeface="+mn-lt"/>
          <a:ea typeface="+mn-ea"/>
          <a:cs typeface="+mn-cs"/>
        </a:defRPr>
      </a:lvl6pPr>
      <a:lvl7pPr marL="1554480" indent="-182880" algn="l" defTabSz="914400" rtl="0" eaLnBrk="1" latinLnBrk="0" hangingPunct="1">
        <a:spcBef>
          <a:spcPct val="20000"/>
        </a:spcBef>
        <a:buClr>
          <a:schemeClr val="accent1"/>
        </a:buClr>
        <a:buFont typeface="Arial" pitchFamily="34" charset="0"/>
        <a:buChar char="•"/>
        <a:defRPr sz="1300" kern="1200">
          <a:solidFill>
            <a:schemeClr val="tx1"/>
          </a:solidFill>
          <a:latin typeface="+mn-lt"/>
          <a:ea typeface="+mn-ea"/>
          <a:cs typeface="+mn-cs"/>
        </a:defRPr>
      </a:lvl7pPr>
      <a:lvl8pPr marL="1737360" indent="-182880" algn="l" defTabSz="914400" rtl="0" eaLnBrk="1" latinLnBrk="0" hangingPunct="1">
        <a:spcBef>
          <a:spcPct val="20000"/>
        </a:spcBef>
        <a:buClr>
          <a:schemeClr val="accent1"/>
        </a:buClr>
        <a:buFont typeface="Arial" pitchFamily="34" charset="0"/>
        <a:buChar char="•"/>
        <a:defRPr sz="1300" kern="1200">
          <a:solidFill>
            <a:schemeClr val="tx1"/>
          </a:solidFill>
          <a:latin typeface="+mn-lt"/>
          <a:ea typeface="+mn-ea"/>
          <a:cs typeface="+mn-cs"/>
        </a:defRPr>
      </a:lvl8pPr>
      <a:lvl9pPr marL="1920240" indent="-182880" algn="l" defTabSz="914400" rtl="0" eaLnBrk="1" latinLnBrk="0" hangingPunct="1">
        <a:spcBef>
          <a:spcPct val="20000"/>
        </a:spcBef>
        <a:buClr>
          <a:schemeClr val="accent1"/>
        </a:buClr>
        <a:buFont typeface="Arial" pitchFamily="34" charset="0"/>
        <a:buChar char="•"/>
        <a:defRPr sz="13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4.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hyperlink" Target="https://www.google.com/search?sca_esv=613707160b8c8479&amp;sxsrf=AE3TifMcK-YV6A2PImpPC5WZNoqYzBt0kA:1765848658273&amp;q=regulating&amp;si=AMgyJEt_i95eqLH3KOj-Ut-VGJJ7MfyJnTPlcY46NsUDypocU0qBIHwkvCz1JvAHxdVTH8ATUJoAFMjcq4VW2MmDdIEg9NUJ1EgwCq1-EqJMNBydGa7qRMA%3D&amp;expnd=1&amp;sa=X&amp;ved=2ahUKEwjep4Pw-sCRAxVtwTgGHcpwBL4QyecJegQIHBAP" TargetMode="External"/><Relationship Id="rId2" Type="http://schemas.openxmlformats.org/officeDocument/2006/relationships/hyperlink" Target="https://www.google.com/search?sca_esv=613707160b8c8479&amp;sxsrf=AE3TifMcK-YV6A2PImpPC5WZNoqYzBt0kA:1765848658273&amp;q=recognizes&amp;si=AMgyJEt_i95eqLH3KOj-Ut-VGJJ7QJ5mk1qpJRAOjAy2EYbYyXFhqUa1dsbpKwAzPTzd3tjH1GbkMuaO5jhhhICA0gnQSsl1UQG6JOVBNDSdaCXMi19Gsyw%3D&amp;expnd=1&amp;sa=X&amp;ved=2ahUKEwjep4Pw-sCRAxVtwTgGHcpwBL4QyecJegQIHBAO" TargetMode="External"/><Relationship Id="rId1" Type="http://schemas.openxmlformats.org/officeDocument/2006/relationships/slideLayout" Target="../slideLayouts/slideLayout2.xml"/><Relationship Id="rId5" Type="http://schemas.openxmlformats.org/officeDocument/2006/relationships/hyperlink" Target="https://languages.oup.com/google-dictionary-en" TargetMode="External"/><Relationship Id="rId4" Type="http://schemas.openxmlformats.org/officeDocument/2006/relationships/hyperlink" Target="https://www.google.com/search?sca_esv=613707160b8c8479&amp;sxsrf=AE3TifMcK-YV6A2PImpPC5WZNoqYzBt0kA:1765848658273&amp;q=imposition&amp;si=AMgyJEt_i95eqLH3KOj-Ut-VGJJ7NQctxl-aC0S02gxtEN7Ezs1AfnwlWARouDWcLK-fxYo7GDFXiVgSDG2eYnncX-qugiErzXzBuIZ73WDS6S-jtoM9RSE%3D&amp;expnd=1&amp;sa=X&amp;ved=2ahUKEwjep4Pw-sCRAxVtwTgGHcpwBL4QyecJegQIHBAQ" TargetMode="Externa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7.jp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image" Target="../media/image9.jpg"/><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3" Type="http://schemas.openxmlformats.org/officeDocument/2006/relationships/hyperlink" Target="https://www.lawyersnjurists.com/article/financing-sme-impact-economic-development-brac-bank-limited/" TargetMode="External"/><Relationship Id="rId2" Type="http://schemas.openxmlformats.org/officeDocument/2006/relationships/hyperlink" Target="https://www.lawyersnjurists.com/article/companies-act-and-its-amendment-is-to-give-to-the-government-the-powers-to-control-which-will-prevent-malpractices-protect-the-interests-of-the-investing-public-and-ensure-social-justice-explain/" TargetMode="External"/><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3" Type="http://schemas.openxmlformats.org/officeDocument/2006/relationships/hyperlink" Target="https://www.lawyersnjurists.com/article/land-reforms-ordinance-1984/" TargetMode="External"/><Relationship Id="rId2" Type="http://schemas.openxmlformats.org/officeDocument/2006/relationships/hyperlink" Target="https://www.lawyersnjurists.com/article/personal-property-securities-register-to-run-a-business/" TargetMode="Externa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399377" y="100853"/>
            <a:ext cx="1070386" cy="6656294"/>
          </a:xfrm>
          <a:prstGeom prst="rect">
            <a:avLst/>
          </a:prstGeom>
        </p:spPr>
      </p:pic>
      <p:pic>
        <p:nvPicPr>
          <p:cNvPr id="3" name="object 3"/>
          <p:cNvPicPr/>
          <p:nvPr/>
        </p:nvPicPr>
        <p:blipFill>
          <a:blip r:embed="rId3" cstate="print"/>
          <a:stretch>
            <a:fillRect/>
          </a:stretch>
        </p:blipFill>
        <p:spPr>
          <a:xfrm>
            <a:off x="208429" y="100853"/>
            <a:ext cx="61856" cy="6656294"/>
          </a:xfrm>
          <a:prstGeom prst="rect">
            <a:avLst/>
          </a:prstGeom>
        </p:spPr>
      </p:pic>
      <p:sp>
        <p:nvSpPr>
          <p:cNvPr id="4" name="object 4"/>
          <p:cNvSpPr/>
          <p:nvPr/>
        </p:nvSpPr>
        <p:spPr>
          <a:xfrm>
            <a:off x="964154" y="100853"/>
            <a:ext cx="0" cy="6656294"/>
          </a:xfrm>
          <a:custGeom>
            <a:avLst/>
            <a:gdLst/>
            <a:ahLst/>
            <a:cxnLst/>
            <a:rect l="l" t="t" r="r" b="b"/>
            <a:pathLst>
              <a:path h="7543800">
                <a:moveTo>
                  <a:pt x="0" y="0"/>
                </a:moveTo>
                <a:lnTo>
                  <a:pt x="0" y="7543800"/>
                </a:lnTo>
              </a:path>
            </a:pathLst>
          </a:custGeom>
          <a:ln w="62484">
            <a:solidFill>
              <a:srgbClr val="FDC3AE"/>
            </a:solidFill>
          </a:ln>
        </p:spPr>
        <p:txBody>
          <a:bodyPr wrap="square" lIns="0" tIns="0" rIns="0" bIns="0" rtlCol="0"/>
          <a:lstStyle/>
          <a:p>
            <a:endParaRPr sz="1588"/>
          </a:p>
        </p:txBody>
      </p:sp>
      <p:pic>
        <p:nvPicPr>
          <p:cNvPr id="5" name="object 5"/>
          <p:cNvPicPr/>
          <p:nvPr/>
        </p:nvPicPr>
        <p:blipFill>
          <a:blip r:embed="rId4" cstate="print"/>
          <a:stretch>
            <a:fillRect/>
          </a:stretch>
        </p:blipFill>
        <p:spPr>
          <a:xfrm>
            <a:off x="1792493" y="100853"/>
            <a:ext cx="36307" cy="6656294"/>
          </a:xfrm>
          <a:prstGeom prst="rect">
            <a:avLst/>
          </a:prstGeom>
        </p:spPr>
      </p:pic>
      <p:sp>
        <p:nvSpPr>
          <p:cNvPr id="6" name="object 6"/>
          <p:cNvSpPr/>
          <p:nvPr/>
        </p:nvSpPr>
        <p:spPr>
          <a:xfrm>
            <a:off x="1169894" y="100853"/>
            <a:ext cx="0" cy="6656294"/>
          </a:xfrm>
          <a:custGeom>
            <a:avLst/>
            <a:gdLst/>
            <a:ahLst/>
            <a:cxnLst/>
            <a:rect l="l" t="t" r="r" b="b"/>
            <a:pathLst>
              <a:path h="7543800">
                <a:moveTo>
                  <a:pt x="0" y="0"/>
                </a:moveTo>
                <a:lnTo>
                  <a:pt x="0" y="7543800"/>
                </a:lnTo>
              </a:path>
            </a:pathLst>
          </a:custGeom>
          <a:ln w="10668">
            <a:solidFill>
              <a:srgbClr val="FDC3AE"/>
            </a:solidFill>
          </a:ln>
        </p:spPr>
        <p:txBody>
          <a:bodyPr wrap="square" lIns="0" tIns="0" rIns="0" bIns="0" rtlCol="0"/>
          <a:lstStyle/>
          <a:p>
            <a:endParaRPr sz="1588"/>
          </a:p>
        </p:txBody>
      </p:sp>
      <p:sp>
        <p:nvSpPr>
          <p:cNvPr id="7" name="object 7"/>
          <p:cNvSpPr/>
          <p:nvPr/>
        </p:nvSpPr>
        <p:spPr>
          <a:xfrm>
            <a:off x="8953041" y="100852"/>
            <a:ext cx="55469" cy="6656854"/>
          </a:xfrm>
          <a:custGeom>
            <a:avLst/>
            <a:gdLst/>
            <a:ahLst/>
            <a:cxnLst/>
            <a:rect l="l" t="t" r="r" b="b"/>
            <a:pathLst>
              <a:path w="62865" h="7544434">
                <a:moveTo>
                  <a:pt x="12192" y="0"/>
                </a:moveTo>
                <a:lnTo>
                  <a:pt x="0" y="0"/>
                </a:lnTo>
                <a:lnTo>
                  <a:pt x="0" y="7543813"/>
                </a:lnTo>
                <a:lnTo>
                  <a:pt x="12192" y="7543813"/>
                </a:lnTo>
                <a:lnTo>
                  <a:pt x="12192" y="0"/>
                </a:lnTo>
                <a:close/>
              </a:path>
              <a:path w="62865" h="7544434">
                <a:moveTo>
                  <a:pt x="62484" y="0"/>
                </a:moveTo>
                <a:lnTo>
                  <a:pt x="25908" y="0"/>
                </a:lnTo>
                <a:lnTo>
                  <a:pt x="25908" y="7543813"/>
                </a:lnTo>
                <a:lnTo>
                  <a:pt x="62484" y="7543813"/>
                </a:lnTo>
                <a:lnTo>
                  <a:pt x="62484" y="0"/>
                </a:lnTo>
                <a:close/>
              </a:path>
            </a:pathLst>
          </a:custGeom>
          <a:solidFill>
            <a:srgbClr val="FDC3AE"/>
          </a:solidFill>
        </p:spPr>
        <p:txBody>
          <a:bodyPr wrap="square" lIns="0" tIns="0" rIns="0" bIns="0" rtlCol="0"/>
          <a:lstStyle/>
          <a:p>
            <a:endParaRPr sz="1588"/>
          </a:p>
        </p:txBody>
      </p:sp>
      <p:grpSp>
        <p:nvGrpSpPr>
          <p:cNvPr id="8" name="object 8"/>
          <p:cNvGrpSpPr/>
          <p:nvPr/>
        </p:nvGrpSpPr>
        <p:grpSpPr>
          <a:xfrm>
            <a:off x="726141" y="100853"/>
            <a:ext cx="1612526" cy="6656294"/>
            <a:chOff x="670560" y="114300"/>
            <a:chExt cx="1827530" cy="7543800"/>
          </a:xfrm>
        </p:grpSpPr>
        <p:pic>
          <p:nvPicPr>
            <p:cNvPr id="9" name="object 9"/>
            <p:cNvPicPr/>
            <p:nvPr/>
          </p:nvPicPr>
          <p:blipFill>
            <a:blip r:embed="rId5" cstate="print"/>
            <a:stretch>
              <a:fillRect/>
            </a:stretch>
          </p:blipFill>
          <p:spPr>
            <a:xfrm>
              <a:off x="1339595" y="114300"/>
              <a:ext cx="91440" cy="7543800"/>
            </a:xfrm>
            <a:prstGeom prst="rect">
              <a:avLst/>
            </a:prstGeom>
          </p:spPr>
        </p:pic>
        <p:sp>
          <p:nvSpPr>
            <p:cNvPr id="10" name="object 10"/>
            <p:cNvSpPr/>
            <p:nvPr/>
          </p:nvSpPr>
          <p:spPr>
            <a:xfrm>
              <a:off x="670560" y="3886212"/>
              <a:ext cx="1477010" cy="2287905"/>
            </a:xfrm>
            <a:custGeom>
              <a:avLst/>
              <a:gdLst/>
              <a:ahLst/>
              <a:cxnLst/>
              <a:rect l="l" t="t" r="r" b="b"/>
              <a:pathLst>
                <a:path w="1477010" h="2287904">
                  <a:moveTo>
                    <a:pt x="1424940" y="713232"/>
                  </a:moveTo>
                  <a:lnTo>
                    <a:pt x="1423289" y="664476"/>
                  </a:lnTo>
                  <a:lnTo>
                    <a:pt x="1418437" y="616597"/>
                  </a:lnTo>
                  <a:lnTo>
                    <a:pt x="1410474" y="569683"/>
                  </a:lnTo>
                  <a:lnTo>
                    <a:pt x="1399514" y="523875"/>
                  </a:lnTo>
                  <a:lnTo>
                    <a:pt x="1385658" y="479234"/>
                  </a:lnTo>
                  <a:lnTo>
                    <a:pt x="1369021" y="435902"/>
                  </a:lnTo>
                  <a:lnTo>
                    <a:pt x="1349692" y="393979"/>
                  </a:lnTo>
                  <a:lnTo>
                    <a:pt x="1327797" y="353568"/>
                  </a:lnTo>
                  <a:lnTo>
                    <a:pt x="1303413" y="314769"/>
                  </a:lnTo>
                  <a:lnTo>
                    <a:pt x="1276680" y="277698"/>
                  </a:lnTo>
                  <a:lnTo>
                    <a:pt x="1247673" y="242455"/>
                  </a:lnTo>
                  <a:lnTo>
                    <a:pt x="1216533" y="209169"/>
                  </a:lnTo>
                  <a:lnTo>
                    <a:pt x="1183322" y="177914"/>
                  </a:lnTo>
                  <a:lnTo>
                    <a:pt x="1148181" y="148818"/>
                  </a:lnTo>
                  <a:lnTo>
                    <a:pt x="1111199" y="121996"/>
                  </a:lnTo>
                  <a:lnTo>
                    <a:pt x="1072489" y="97536"/>
                  </a:lnTo>
                  <a:lnTo>
                    <a:pt x="1032154" y="75539"/>
                  </a:lnTo>
                  <a:lnTo>
                    <a:pt x="990307" y="56146"/>
                  </a:lnTo>
                  <a:lnTo>
                    <a:pt x="947039" y="39433"/>
                  </a:lnTo>
                  <a:lnTo>
                    <a:pt x="902474" y="25527"/>
                  </a:lnTo>
                  <a:lnTo>
                    <a:pt x="856691" y="14516"/>
                  </a:lnTo>
                  <a:lnTo>
                    <a:pt x="809828" y="6515"/>
                  </a:lnTo>
                  <a:lnTo>
                    <a:pt x="761961" y="1638"/>
                  </a:lnTo>
                  <a:lnTo>
                    <a:pt x="713219" y="0"/>
                  </a:lnTo>
                  <a:lnTo>
                    <a:pt x="664476" y="1638"/>
                  </a:lnTo>
                  <a:lnTo>
                    <a:pt x="616597" y="6515"/>
                  </a:lnTo>
                  <a:lnTo>
                    <a:pt x="569683" y="14516"/>
                  </a:lnTo>
                  <a:lnTo>
                    <a:pt x="523862" y="25527"/>
                  </a:lnTo>
                  <a:lnTo>
                    <a:pt x="479234" y="39433"/>
                  </a:lnTo>
                  <a:lnTo>
                    <a:pt x="435902" y="56146"/>
                  </a:lnTo>
                  <a:lnTo>
                    <a:pt x="393979" y="75539"/>
                  </a:lnTo>
                  <a:lnTo>
                    <a:pt x="353568" y="97536"/>
                  </a:lnTo>
                  <a:lnTo>
                    <a:pt x="314769" y="121996"/>
                  </a:lnTo>
                  <a:lnTo>
                    <a:pt x="277698" y="148818"/>
                  </a:lnTo>
                  <a:lnTo>
                    <a:pt x="242455" y="177914"/>
                  </a:lnTo>
                  <a:lnTo>
                    <a:pt x="209169" y="209169"/>
                  </a:lnTo>
                  <a:lnTo>
                    <a:pt x="177914" y="242455"/>
                  </a:lnTo>
                  <a:lnTo>
                    <a:pt x="148818" y="277698"/>
                  </a:lnTo>
                  <a:lnTo>
                    <a:pt x="121996" y="314769"/>
                  </a:lnTo>
                  <a:lnTo>
                    <a:pt x="97536" y="353568"/>
                  </a:lnTo>
                  <a:lnTo>
                    <a:pt x="75539" y="393979"/>
                  </a:lnTo>
                  <a:lnTo>
                    <a:pt x="56146" y="435902"/>
                  </a:lnTo>
                  <a:lnTo>
                    <a:pt x="39433" y="479234"/>
                  </a:lnTo>
                  <a:lnTo>
                    <a:pt x="25527" y="523875"/>
                  </a:lnTo>
                  <a:lnTo>
                    <a:pt x="14516" y="569683"/>
                  </a:lnTo>
                  <a:lnTo>
                    <a:pt x="6515" y="616597"/>
                  </a:lnTo>
                  <a:lnTo>
                    <a:pt x="1638" y="664476"/>
                  </a:lnTo>
                  <a:lnTo>
                    <a:pt x="0" y="713232"/>
                  </a:lnTo>
                  <a:lnTo>
                    <a:pt x="1638" y="761961"/>
                  </a:lnTo>
                  <a:lnTo>
                    <a:pt x="6515" y="809828"/>
                  </a:lnTo>
                  <a:lnTo>
                    <a:pt x="14516" y="856691"/>
                  </a:lnTo>
                  <a:lnTo>
                    <a:pt x="25527" y="902474"/>
                  </a:lnTo>
                  <a:lnTo>
                    <a:pt x="39433" y="947039"/>
                  </a:lnTo>
                  <a:lnTo>
                    <a:pt x="56146" y="990307"/>
                  </a:lnTo>
                  <a:lnTo>
                    <a:pt x="75539" y="1032154"/>
                  </a:lnTo>
                  <a:lnTo>
                    <a:pt x="97536" y="1072489"/>
                  </a:lnTo>
                  <a:lnTo>
                    <a:pt x="121996" y="1111199"/>
                  </a:lnTo>
                  <a:lnTo>
                    <a:pt x="148818" y="1148181"/>
                  </a:lnTo>
                  <a:lnTo>
                    <a:pt x="177914" y="1183322"/>
                  </a:lnTo>
                  <a:lnTo>
                    <a:pt x="209169" y="1216533"/>
                  </a:lnTo>
                  <a:lnTo>
                    <a:pt x="242455" y="1247673"/>
                  </a:lnTo>
                  <a:lnTo>
                    <a:pt x="277698" y="1276680"/>
                  </a:lnTo>
                  <a:lnTo>
                    <a:pt x="314769" y="1303413"/>
                  </a:lnTo>
                  <a:lnTo>
                    <a:pt x="353568" y="1327797"/>
                  </a:lnTo>
                  <a:lnTo>
                    <a:pt x="393979" y="1349692"/>
                  </a:lnTo>
                  <a:lnTo>
                    <a:pt x="435902" y="1369021"/>
                  </a:lnTo>
                  <a:lnTo>
                    <a:pt x="479234" y="1385658"/>
                  </a:lnTo>
                  <a:lnTo>
                    <a:pt x="523862" y="1399514"/>
                  </a:lnTo>
                  <a:lnTo>
                    <a:pt x="569683" y="1410474"/>
                  </a:lnTo>
                  <a:lnTo>
                    <a:pt x="616597" y="1418437"/>
                  </a:lnTo>
                  <a:lnTo>
                    <a:pt x="664476" y="1423289"/>
                  </a:lnTo>
                  <a:lnTo>
                    <a:pt x="713219" y="1424940"/>
                  </a:lnTo>
                  <a:lnTo>
                    <a:pt x="761961" y="1423289"/>
                  </a:lnTo>
                  <a:lnTo>
                    <a:pt x="809828" y="1418437"/>
                  </a:lnTo>
                  <a:lnTo>
                    <a:pt x="856691" y="1410474"/>
                  </a:lnTo>
                  <a:lnTo>
                    <a:pt x="902474" y="1399514"/>
                  </a:lnTo>
                  <a:lnTo>
                    <a:pt x="947039" y="1385658"/>
                  </a:lnTo>
                  <a:lnTo>
                    <a:pt x="990307" y="1369021"/>
                  </a:lnTo>
                  <a:lnTo>
                    <a:pt x="1032154" y="1349692"/>
                  </a:lnTo>
                  <a:lnTo>
                    <a:pt x="1072489" y="1327797"/>
                  </a:lnTo>
                  <a:lnTo>
                    <a:pt x="1111199" y="1303413"/>
                  </a:lnTo>
                  <a:lnTo>
                    <a:pt x="1148181" y="1276680"/>
                  </a:lnTo>
                  <a:lnTo>
                    <a:pt x="1183322" y="1247673"/>
                  </a:lnTo>
                  <a:lnTo>
                    <a:pt x="1216533" y="1216533"/>
                  </a:lnTo>
                  <a:lnTo>
                    <a:pt x="1247673" y="1183322"/>
                  </a:lnTo>
                  <a:lnTo>
                    <a:pt x="1276680" y="1148181"/>
                  </a:lnTo>
                  <a:lnTo>
                    <a:pt x="1303413" y="1111199"/>
                  </a:lnTo>
                  <a:lnTo>
                    <a:pt x="1327797" y="1072489"/>
                  </a:lnTo>
                  <a:lnTo>
                    <a:pt x="1349692" y="1032154"/>
                  </a:lnTo>
                  <a:lnTo>
                    <a:pt x="1369021" y="990307"/>
                  </a:lnTo>
                  <a:lnTo>
                    <a:pt x="1385658" y="947039"/>
                  </a:lnTo>
                  <a:lnTo>
                    <a:pt x="1399514" y="902474"/>
                  </a:lnTo>
                  <a:lnTo>
                    <a:pt x="1410474" y="856691"/>
                  </a:lnTo>
                  <a:lnTo>
                    <a:pt x="1418437" y="809828"/>
                  </a:lnTo>
                  <a:lnTo>
                    <a:pt x="1423289" y="761961"/>
                  </a:lnTo>
                  <a:lnTo>
                    <a:pt x="1424940" y="713232"/>
                  </a:lnTo>
                  <a:close/>
                </a:path>
                <a:path w="1477010" h="2287904">
                  <a:moveTo>
                    <a:pt x="1476756" y="1935480"/>
                  </a:moveTo>
                  <a:lnTo>
                    <a:pt x="1473517" y="1887537"/>
                  </a:lnTo>
                  <a:lnTo>
                    <a:pt x="1464106" y="1841550"/>
                  </a:lnTo>
                  <a:lnTo>
                    <a:pt x="1448943" y="1797939"/>
                  </a:lnTo>
                  <a:lnTo>
                    <a:pt x="1428432" y="1757108"/>
                  </a:lnTo>
                  <a:lnTo>
                    <a:pt x="1403019" y="1719503"/>
                  </a:lnTo>
                  <a:lnTo>
                    <a:pt x="1373124" y="1685544"/>
                  </a:lnTo>
                  <a:lnTo>
                    <a:pt x="1339151" y="1655635"/>
                  </a:lnTo>
                  <a:lnTo>
                    <a:pt x="1301546" y="1630222"/>
                  </a:lnTo>
                  <a:lnTo>
                    <a:pt x="1260729" y="1609725"/>
                  </a:lnTo>
                  <a:lnTo>
                    <a:pt x="1217104" y="1594548"/>
                  </a:lnTo>
                  <a:lnTo>
                    <a:pt x="1171117" y="1585137"/>
                  </a:lnTo>
                  <a:lnTo>
                    <a:pt x="1123188" y="1581912"/>
                  </a:lnTo>
                  <a:lnTo>
                    <a:pt x="1075270" y="1585137"/>
                  </a:lnTo>
                  <a:lnTo>
                    <a:pt x="1029373" y="1594548"/>
                  </a:lnTo>
                  <a:lnTo>
                    <a:pt x="985875" y="1609725"/>
                  </a:lnTo>
                  <a:lnTo>
                    <a:pt x="945210" y="1630222"/>
                  </a:lnTo>
                  <a:lnTo>
                    <a:pt x="907783" y="1655635"/>
                  </a:lnTo>
                  <a:lnTo>
                    <a:pt x="874014" y="1685544"/>
                  </a:lnTo>
                  <a:lnTo>
                    <a:pt x="844296" y="1719503"/>
                  </a:lnTo>
                  <a:lnTo>
                    <a:pt x="819061" y="1757108"/>
                  </a:lnTo>
                  <a:lnTo>
                    <a:pt x="798715" y="1797939"/>
                  </a:lnTo>
                  <a:lnTo>
                    <a:pt x="783666" y="1841550"/>
                  </a:lnTo>
                  <a:lnTo>
                    <a:pt x="774344" y="1887537"/>
                  </a:lnTo>
                  <a:lnTo>
                    <a:pt x="771144" y="1935480"/>
                  </a:lnTo>
                  <a:lnTo>
                    <a:pt x="774344" y="1983384"/>
                  </a:lnTo>
                  <a:lnTo>
                    <a:pt x="783666" y="2029282"/>
                  </a:lnTo>
                  <a:lnTo>
                    <a:pt x="798715" y="2072779"/>
                  </a:lnTo>
                  <a:lnTo>
                    <a:pt x="819061" y="2113445"/>
                  </a:lnTo>
                  <a:lnTo>
                    <a:pt x="844296" y="2150872"/>
                  </a:lnTo>
                  <a:lnTo>
                    <a:pt x="874014" y="2184654"/>
                  </a:lnTo>
                  <a:lnTo>
                    <a:pt x="907783" y="2214359"/>
                  </a:lnTo>
                  <a:lnTo>
                    <a:pt x="945210" y="2239594"/>
                  </a:lnTo>
                  <a:lnTo>
                    <a:pt x="985875" y="2259939"/>
                  </a:lnTo>
                  <a:lnTo>
                    <a:pt x="1029373" y="2274989"/>
                  </a:lnTo>
                  <a:lnTo>
                    <a:pt x="1075270" y="2284311"/>
                  </a:lnTo>
                  <a:lnTo>
                    <a:pt x="1123188" y="2287524"/>
                  </a:lnTo>
                  <a:lnTo>
                    <a:pt x="1171117" y="2284311"/>
                  </a:lnTo>
                  <a:lnTo>
                    <a:pt x="1217104" y="2274989"/>
                  </a:lnTo>
                  <a:lnTo>
                    <a:pt x="1260729" y="2259939"/>
                  </a:lnTo>
                  <a:lnTo>
                    <a:pt x="1301546" y="2239594"/>
                  </a:lnTo>
                  <a:lnTo>
                    <a:pt x="1339151" y="2214359"/>
                  </a:lnTo>
                  <a:lnTo>
                    <a:pt x="1373124" y="2184654"/>
                  </a:lnTo>
                  <a:lnTo>
                    <a:pt x="1403019" y="2150872"/>
                  </a:lnTo>
                  <a:lnTo>
                    <a:pt x="1428432" y="2113445"/>
                  </a:lnTo>
                  <a:lnTo>
                    <a:pt x="1448943" y="2072779"/>
                  </a:lnTo>
                  <a:lnTo>
                    <a:pt x="1464106" y="2029282"/>
                  </a:lnTo>
                  <a:lnTo>
                    <a:pt x="1473517" y="1983384"/>
                  </a:lnTo>
                  <a:lnTo>
                    <a:pt x="1476756" y="1935480"/>
                  </a:lnTo>
                  <a:close/>
                </a:path>
              </a:pathLst>
            </a:custGeom>
            <a:solidFill>
              <a:srgbClr val="FD8536"/>
            </a:solidFill>
          </p:spPr>
          <p:txBody>
            <a:bodyPr wrap="square" lIns="0" tIns="0" rIns="0" bIns="0" rtlCol="0"/>
            <a:lstStyle/>
            <a:p>
              <a:endParaRPr sz="1588"/>
            </a:p>
          </p:txBody>
        </p:sp>
        <p:pic>
          <p:nvPicPr>
            <p:cNvPr id="11" name="object 11"/>
            <p:cNvPicPr/>
            <p:nvPr/>
          </p:nvPicPr>
          <p:blipFill>
            <a:blip r:embed="rId6" cstate="print"/>
            <a:stretch>
              <a:fillRect/>
            </a:stretch>
          </p:blipFill>
          <p:spPr>
            <a:xfrm>
              <a:off x="1200912" y="6166104"/>
              <a:ext cx="150875" cy="150875"/>
            </a:xfrm>
            <a:prstGeom prst="rect">
              <a:avLst/>
            </a:prstGeom>
          </p:spPr>
        </p:pic>
        <p:sp>
          <p:nvSpPr>
            <p:cNvPr id="12" name="object 12"/>
            <p:cNvSpPr/>
            <p:nvPr/>
          </p:nvSpPr>
          <p:spPr>
            <a:xfrm>
              <a:off x="1831848" y="5059692"/>
              <a:ext cx="666115" cy="1724025"/>
            </a:xfrm>
            <a:custGeom>
              <a:avLst/>
              <a:gdLst/>
              <a:ahLst/>
              <a:cxnLst/>
              <a:rect l="l" t="t" r="r" b="b"/>
              <a:pathLst>
                <a:path w="666114" h="1724025">
                  <a:moveTo>
                    <a:pt x="301752" y="1572768"/>
                  </a:moveTo>
                  <a:lnTo>
                    <a:pt x="293954" y="1525473"/>
                  </a:lnTo>
                  <a:lnTo>
                    <a:pt x="272338" y="1484096"/>
                  </a:lnTo>
                  <a:lnTo>
                    <a:pt x="239534" y="1451292"/>
                  </a:lnTo>
                  <a:lnTo>
                    <a:pt x="198158" y="1429677"/>
                  </a:lnTo>
                  <a:lnTo>
                    <a:pt x="150876" y="1421892"/>
                  </a:lnTo>
                  <a:lnTo>
                    <a:pt x="102997" y="1429677"/>
                  </a:lnTo>
                  <a:lnTo>
                    <a:pt x="61556" y="1451292"/>
                  </a:lnTo>
                  <a:lnTo>
                    <a:pt x="28956" y="1484096"/>
                  </a:lnTo>
                  <a:lnTo>
                    <a:pt x="7632" y="1525473"/>
                  </a:lnTo>
                  <a:lnTo>
                    <a:pt x="0" y="1572768"/>
                  </a:lnTo>
                  <a:lnTo>
                    <a:pt x="7632" y="1620634"/>
                  </a:lnTo>
                  <a:lnTo>
                    <a:pt x="28956" y="1662074"/>
                  </a:lnTo>
                  <a:lnTo>
                    <a:pt x="61556" y="1694675"/>
                  </a:lnTo>
                  <a:lnTo>
                    <a:pt x="102997" y="1715998"/>
                  </a:lnTo>
                  <a:lnTo>
                    <a:pt x="150876" y="1723644"/>
                  </a:lnTo>
                  <a:lnTo>
                    <a:pt x="198158" y="1715998"/>
                  </a:lnTo>
                  <a:lnTo>
                    <a:pt x="239534" y="1694675"/>
                  </a:lnTo>
                  <a:lnTo>
                    <a:pt x="272338" y="1662074"/>
                  </a:lnTo>
                  <a:lnTo>
                    <a:pt x="293954" y="1620634"/>
                  </a:lnTo>
                  <a:lnTo>
                    <a:pt x="301752" y="1572768"/>
                  </a:lnTo>
                  <a:close/>
                </a:path>
                <a:path w="666114" h="1724025">
                  <a:moveTo>
                    <a:pt x="665988" y="201168"/>
                  </a:moveTo>
                  <a:lnTo>
                    <a:pt x="660679" y="155473"/>
                  </a:lnTo>
                  <a:lnTo>
                    <a:pt x="645566" y="113296"/>
                  </a:lnTo>
                  <a:lnTo>
                    <a:pt x="621830" y="75920"/>
                  </a:lnTo>
                  <a:lnTo>
                    <a:pt x="590702" y="44615"/>
                  </a:lnTo>
                  <a:lnTo>
                    <a:pt x="553351" y="20675"/>
                  </a:lnTo>
                  <a:lnTo>
                    <a:pt x="510984" y="5384"/>
                  </a:lnTo>
                  <a:lnTo>
                    <a:pt x="464820" y="0"/>
                  </a:lnTo>
                  <a:lnTo>
                    <a:pt x="419125" y="5384"/>
                  </a:lnTo>
                  <a:lnTo>
                    <a:pt x="376948" y="20675"/>
                  </a:lnTo>
                  <a:lnTo>
                    <a:pt x="339572" y="44615"/>
                  </a:lnTo>
                  <a:lnTo>
                    <a:pt x="308267" y="75920"/>
                  </a:lnTo>
                  <a:lnTo>
                    <a:pt x="284327" y="113296"/>
                  </a:lnTo>
                  <a:lnTo>
                    <a:pt x="269036" y="155473"/>
                  </a:lnTo>
                  <a:lnTo>
                    <a:pt x="263652" y="201168"/>
                  </a:lnTo>
                  <a:lnTo>
                    <a:pt x="269036" y="247332"/>
                  </a:lnTo>
                  <a:lnTo>
                    <a:pt x="284327" y="289699"/>
                  </a:lnTo>
                  <a:lnTo>
                    <a:pt x="308267" y="327050"/>
                  </a:lnTo>
                  <a:lnTo>
                    <a:pt x="339572" y="358178"/>
                  </a:lnTo>
                  <a:lnTo>
                    <a:pt x="376948" y="381914"/>
                  </a:lnTo>
                  <a:lnTo>
                    <a:pt x="419125" y="397027"/>
                  </a:lnTo>
                  <a:lnTo>
                    <a:pt x="464820" y="402336"/>
                  </a:lnTo>
                  <a:lnTo>
                    <a:pt x="510984" y="397027"/>
                  </a:lnTo>
                  <a:lnTo>
                    <a:pt x="553351" y="381914"/>
                  </a:lnTo>
                  <a:lnTo>
                    <a:pt x="590702" y="358178"/>
                  </a:lnTo>
                  <a:lnTo>
                    <a:pt x="621830" y="327050"/>
                  </a:lnTo>
                  <a:lnTo>
                    <a:pt x="645566" y="289699"/>
                  </a:lnTo>
                  <a:lnTo>
                    <a:pt x="660679" y="247332"/>
                  </a:lnTo>
                  <a:lnTo>
                    <a:pt x="665988" y="201168"/>
                  </a:lnTo>
                  <a:close/>
                </a:path>
              </a:pathLst>
            </a:custGeom>
            <a:solidFill>
              <a:srgbClr val="FD8536"/>
            </a:solidFill>
          </p:spPr>
          <p:txBody>
            <a:bodyPr wrap="square" lIns="0" tIns="0" rIns="0" bIns="0" rtlCol="0"/>
            <a:lstStyle/>
            <a:p>
              <a:endParaRPr sz="1588"/>
            </a:p>
          </p:txBody>
        </p:sp>
      </p:grpSp>
      <p:sp>
        <p:nvSpPr>
          <p:cNvPr id="13" name="object 13"/>
          <p:cNvSpPr txBox="1">
            <a:spLocks noGrp="1"/>
          </p:cNvSpPr>
          <p:nvPr>
            <p:ph type="title"/>
          </p:nvPr>
        </p:nvSpPr>
        <p:spPr>
          <a:xfrm>
            <a:off x="3223593" y="840861"/>
            <a:ext cx="5630396" cy="2315921"/>
          </a:xfrm>
          <a:prstGeom prst="rect">
            <a:avLst/>
          </a:prstGeom>
        </p:spPr>
        <p:txBody>
          <a:bodyPr vert="horz" wrap="square" lIns="0" tIns="11206" rIns="0" bIns="0" rtlCol="0" anchor="ctr">
            <a:spAutoFit/>
          </a:bodyPr>
          <a:lstStyle/>
          <a:p>
            <a:pPr marL="11206" algn="ctr">
              <a:spcBef>
                <a:spcPts val="88"/>
              </a:spcBef>
            </a:pPr>
            <a:r>
              <a:rPr lang="en-US" sz="4400" b="1" spc="-154" dirty="0">
                <a:solidFill>
                  <a:srgbClr val="565E6D"/>
                </a:solidFill>
                <a:latin typeface="Times New Roman"/>
                <a:cs typeface="Times New Roman"/>
              </a:rPr>
              <a:t>Law, Land, Property Law and Land Law</a:t>
            </a:r>
            <a:br>
              <a:rPr lang="en-US" sz="4400" b="1" spc="-154" dirty="0">
                <a:solidFill>
                  <a:srgbClr val="565E6D"/>
                </a:solidFill>
                <a:latin typeface="Times New Roman"/>
                <a:cs typeface="Times New Roman"/>
              </a:rPr>
            </a:br>
            <a:br>
              <a:rPr lang="en-US" sz="3088" b="1" spc="-331" dirty="0">
                <a:solidFill>
                  <a:srgbClr val="565E6D"/>
                </a:solidFill>
                <a:latin typeface="Times New Roman"/>
                <a:cs typeface="Times New Roman"/>
              </a:rPr>
            </a:br>
            <a:endParaRPr sz="3088" dirty="0">
              <a:latin typeface="Times New Roman"/>
              <a:cs typeface="Times New Roman"/>
            </a:endParaRPr>
          </a:p>
        </p:txBody>
      </p:sp>
      <p:sp>
        <p:nvSpPr>
          <p:cNvPr id="14" name="object 14"/>
          <p:cNvSpPr txBox="1"/>
          <p:nvPr/>
        </p:nvSpPr>
        <p:spPr>
          <a:xfrm>
            <a:off x="3962400" y="6023005"/>
            <a:ext cx="5848519" cy="734142"/>
          </a:xfrm>
          <a:prstGeom prst="rect">
            <a:avLst/>
          </a:prstGeom>
        </p:spPr>
        <p:txBody>
          <a:bodyPr vert="horz" wrap="square" lIns="0" tIns="11206" rIns="0" bIns="0" rtlCol="0">
            <a:spAutoFit/>
          </a:bodyPr>
          <a:lstStyle/>
          <a:p>
            <a:pPr marL="1441714" marR="1432748" algn="ctr">
              <a:lnSpc>
                <a:spcPct val="125000"/>
              </a:lnSpc>
              <a:spcBef>
                <a:spcPts val="88"/>
              </a:spcBef>
            </a:pPr>
            <a:r>
              <a:rPr lang="en-US" sz="1941" b="1" spc="-62" dirty="0">
                <a:latin typeface="Cambria"/>
                <a:cs typeface="Cambria"/>
              </a:rPr>
              <a:t>Er. Subash Bhandari </a:t>
            </a:r>
          </a:p>
          <a:p>
            <a:pPr marL="1441714" marR="1432748" algn="ctr">
              <a:lnSpc>
                <a:spcPct val="125000"/>
              </a:lnSpc>
              <a:spcBef>
                <a:spcPts val="88"/>
              </a:spcBef>
            </a:pPr>
            <a:r>
              <a:rPr lang="en-US" sz="1941" b="1" spc="-62" dirty="0">
                <a:latin typeface="Cambria"/>
                <a:cs typeface="Cambria"/>
              </a:rPr>
              <a:t> </a:t>
            </a:r>
          </a:p>
        </p:txBody>
      </p:sp>
      <p:sp>
        <p:nvSpPr>
          <p:cNvPr id="15" name="Date Placeholder 14"/>
          <p:cNvSpPr>
            <a:spLocks noGrp="1"/>
          </p:cNvSpPr>
          <p:nvPr>
            <p:ph type="dt" sz="half" idx="4294967295"/>
          </p:nvPr>
        </p:nvSpPr>
        <p:spPr/>
        <p:txBody>
          <a:bodyPr/>
          <a:lstStyle/>
          <a:p>
            <a:fld id="{A6F3EF0D-2B9D-4281-A609-AB7CB251DBDE}" type="datetime1">
              <a:rPr lang="en-US" smtClean="0"/>
              <a:t>1/5/2026</a:t>
            </a:fld>
            <a:endParaRPr lang="en-US"/>
          </a:p>
        </p:txBody>
      </p:sp>
    </p:spTree>
    <p:extLst>
      <p:ext uri="{BB962C8B-B14F-4D97-AF65-F5344CB8AC3E}">
        <p14:creationId xmlns:p14="http://schemas.microsoft.com/office/powerpoint/2010/main" val="115027717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5E2305-02AB-0911-3457-8DD2D42D4788}"/>
              </a:ext>
            </a:extLst>
          </p:cNvPr>
          <p:cNvSpPr>
            <a:spLocks noGrp="1"/>
          </p:cNvSpPr>
          <p:nvPr>
            <p:ph type="title"/>
          </p:nvPr>
        </p:nvSpPr>
        <p:spPr/>
        <p:txBody>
          <a:bodyPr/>
          <a:lstStyle/>
          <a:p>
            <a:endParaRPr lang="en-US" dirty="0"/>
          </a:p>
        </p:txBody>
      </p:sp>
      <p:sp>
        <p:nvSpPr>
          <p:cNvPr id="3" name="Content Placeholder 2">
            <a:extLst>
              <a:ext uri="{FF2B5EF4-FFF2-40B4-BE49-F238E27FC236}">
                <a16:creationId xmlns:a16="http://schemas.microsoft.com/office/drawing/2014/main" id="{36EF5FC1-6346-ABF3-B585-5B0782205195}"/>
              </a:ext>
            </a:extLst>
          </p:cNvPr>
          <p:cNvSpPr>
            <a:spLocks noGrp="1"/>
          </p:cNvSpPr>
          <p:nvPr>
            <p:ph idx="1"/>
          </p:nvPr>
        </p:nvSpPr>
        <p:spPr/>
        <p:txBody>
          <a:bodyPr/>
          <a:lstStyle/>
          <a:p>
            <a:pPr marL="0" indent="0">
              <a:buNone/>
            </a:pPr>
            <a:r>
              <a:rPr lang="en-US" dirty="0"/>
              <a:t>Law ?????</a:t>
            </a:r>
          </a:p>
          <a:p>
            <a:pPr marL="0" indent="0">
              <a:buNone/>
            </a:pPr>
            <a:endParaRPr lang="en-US" dirty="0"/>
          </a:p>
          <a:p>
            <a:pPr marL="0" indent="0">
              <a:buNone/>
            </a:pPr>
            <a:endParaRPr lang="en-US" dirty="0"/>
          </a:p>
          <a:p>
            <a:pPr marL="0" indent="0">
              <a:buNone/>
            </a:pPr>
            <a:endParaRPr lang="en-US" dirty="0"/>
          </a:p>
          <a:p>
            <a:pPr marL="0" indent="0">
              <a:buNone/>
            </a:pPr>
            <a:endParaRPr lang="en-US" dirty="0"/>
          </a:p>
          <a:p>
            <a:pPr marL="0" indent="0">
              <a:buNone/>
            </a:pPr>
            <a:r>
              <a:rPr lang="en-US"/>
              <a:t>Land ?????</a:t>
            </a:r>
            <a:endParaRPr lang="en-US" dirty="0"/>
          </a:p>
          <a:p>
            <a:pPr marL="0" indent="0">
              <a:buNone/>
            </a:pPr>
            <a:endParaRPr lang="en-US" dirty="0"/>
          </a:p>
        </p:txBody>
      </p:sp>
    </p:spTree>
    <p:extLst>
      <p:ext uri="{BB962C8B-B14F-4D97-AF65-F5344CB8AC3E}">
        <p14:creationId xmlns:p14="http://schemas.microsoft.com/office/powerpoint/2010/main" val="32803617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E9F443-321E-48DF-909C-2641D97E8698}"/>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4BE7074E-CFCD-C033-28E8-B7B81BD2C847}"/>
              </a:ext>
            </a:extLst>
          </p:cNvPr>
          <p:cNvSpPr>
            <a:spLocks noGrp="1"/>
          </p:cNvSpPr>
          <p:nvPr>
            <p:ph idx="1"/>
          </p:nvPr>
        </p:nvSpPr>
        <p:spPr>
          <a:xfrm>
            <a:off x="76200" y="914400"/>
            <a:ext cx="8991600" cy="5562600"/>
          </a:xfrm>
        </p:spPr>
        <p:txBody>
          <a:bodyPr>
            <a:noAutofit/>
          </a:bodyPr>
          <a:lstStyle/>
          <a:p>
            <a:pPr algn="just">
              <a:defRPr/>
            </a:pPr>
            <a:r>
              <a:rPr lang="en-US" dirty="0">
                <a:latin typeface="Times New Roman" panose="02020603050405020304" pitchFamily="18" charset="0"/>
                <a:cs typeface="Times New Roman" panose="02020603050405020304" pitchFamily="18" charset="0"/>
              </a:rPr>
              <a:t>The system of rules which a particular country or community </a:t>
            </a:r>
            <a:r>
              <a:rPr lang="en-US" dirty="0">
                <a:latin typeface="Times New Roman" panose="02020603050405020304" pitchFamily="18" charset="0"/>
                <a:cs typeface="Times New Roman" panose="02020603050405020304" pitchFamily="18" charset="0"/>
                <a:hlinkClick r:id="rId2">
                  <a:extLst>
                    <a:ext uri="{A12FA001-AC4F-418D-AE19-62706E023703}">
                      <ahyp:hlinkClr xmlns:ahyp="http://schemas.microsoft.com/office/drawing/2018/hyperlinkcolor" val="tx"/>
                    </a:ext>
                  </a:extLst>
                </a:hlinkClick>
              </a:rPr>
              <a:t>recognizes</a:t>
            </a:r>
            <a:r>
              <a:rPr lang="en-US" dirty="0">
                <a:latin typeface="Times New Roman" panose="02020603050405020304" pitchFamily="18" charset="0"/>
                <a:cs typeface="Times New Roman" panose="02020603050405020304" pitchFamily="18" charset="0"/>
              </a:rPr>
              <a:t> as </a:t>
            </a:r>
            <a:r>
              <a:rPr lang="en-US" dirty="0">
                <a:latin typeface="Times New Roman" panose="02020603050405020304" pitchFamily="18" charset="0"/>
                <a:cs typeface="Times New Roman" panose="02020603050405020304" pitchFamily="18" charset="0"/>
                <a:hlinkClick r:id="rId3">
                  <a:extLst>
                    <a:ext uri="{A12FA001-AC4F-418D-AE19-62706E023703}">
                      <ahyp:hlinkClr xmlns:ahyp="http://schemas.microsoft.com/office/drawing/2018/hyperlinkcolor" val="tx"/>
                    </a:ext>
                  </a:extLst>
                </a:hlinkClick>
              </a:rPr>
              <a:t>regulating</a:t>
            </a:r>
            <a:r>
              <a:rPr lang="en-US" dirty="0">
                <a:latin typeface="Times New Roman" panose="02020603050405020304" pitchFamily="18" charset="0"/>
                <a:cs typeface="Times New Roman" panose="02020603050405020304" pitchFamily="18" charset="0"/>
              </a:rPr>
              <a:t> the actions of its members and which it may enforce by the </a:t>
            </a:r>
            <a:r>
              <a:rPr lang="en-US" dirty="0">
                <a:latin typeface="Times New Roman" panose="02020603050405020304" pitchFamily="18" charset="0"/>
                <a:cs typeface="Times New Roman" panose="02020603050405020304" pitchFamily="18" charset="0"/>
                <a:hlinkClick r:id="rId4">
                  <a:extLst>
                    <a:ext uri="{A12FA001-AC4F-418D-AE19-62706E023703}">
                      <ahyp:hlinkClr xmlns:ahyp="http://schemas.microsoft.com/office/drawing/2018/hyperlinkcolor" val="tx"/>
                    </a:ext>
                  </a:extLst>
                </a:hlinkClick>
              </a:rPr>
              <a:t>imposition</a:t>
            </a:r>
            <a:r>
              <a:rPr lang="en-US" dirty="0">
                <a:latin typeface="Times New Roman" panose="02020603050405020304" pitchFamily="18" charset="0"/>
                <a:cs typeface="Times New Roman" panose="02020603050405020304" pitchFamily="18" charset="0"/>
              </a:rPr>
              <a:t> of penalties.(Definitions from </a:t>
            </a:r>
            <a:r>
              <a:rPr lang="en-US" dirty="0">
                <a:latin typeface="Times New Roman" panose="02020603050405020304" pitchFamily="18" charset="0"/>
                <a:cs typeface="Times New Roman" panose="02020603050405020304" pitchFamily="18" charset="0"/>
                <a:hlinkClick r:id="rId5">
                  <a:extLst>
                    <a:ext uri="{A12FA001-AC4F-418D-AE19-62706E023703}">
                      <ahyp:hlinkClr xmlns:ahyp="http://schemas.microsoft.com/office/drawing/2018/hyperlinkcolor" val="tx"/>
                    </a:ext>
                  </a:extLst>
                </a:hlinkClick>
              </a:rPr>
              <a:t>Oxford Languages</a:t>
            </a:r>
            <a:r>
              <a:rPr lang="en-US" dirty="0">
                <a:latin typeface="Times New Roman" panose="02020603050405020304" pitchFamily="18" charset="0"/>
                <a:cs typeface="Times New Roman" panose="02020603050405020304" pitchFamily="18" charset="0"/>
              </a:rPr>
              <a:t>)</a:t>
            </a:r>
          </a:p>
          <a:p>
            <a:pPr algn="just">
              <a:defRPr/>
            </a:pPr>
            <a:r>
              <a:rPr lang="en-US" dirty="0">
                <a:latin typeface="Times New Roman" panose="02020603050405020304" pitchFamily="18" charset="0"/>
                <a:cs typeface="Times New Roman" panose="02020603050405020304" pitchFamily="18" charset="0"/>
              </a:rPr>
              <a:t>Laws are vital to a society because they provide guidelines for what is acceptable and what is not</a:t>
            </a:r>
          </a:p>
          <a:p>
            <a:pPr algn="just">
              <a:defRPr/>
            </a:pPr>
            <a:r>
              <a:rPr lang="en-US" dirty="0">
                <a:latin typeface="Times New Roman" panose="02020603050405020304" pitchFamily="18" charset="0"/>
                <a:cs typeface="Times New Roman" panose="02020603050405020304" pitchFamily="18" charset="0"/>
              </a:rPr>
              <a:t>Law is systematic operation means: </a:t>
            </a:r>
          </a:p>
          <a:p>
            <a:pPr algn="just">
              <a:buFont typeface="Wingdings" panose="05000000000000000000" pitchFamily="2" charset="2"/>
              <a:buChar char="v"/>
              <a:defRPr/>
            </a:pPr>
            <a:r>
              <a:rPr lang="en-US" dirty="0">
                <a:latin typeface="Times New Roman" panose="02020603050405020304" pitchFamily="18" charset="0"/>
                <a:cs typeface="Times New Roman" panose="02020603050405020304" pitchFamily="18" charset="0"/>
              </a:rPr>
              <a:t>Command &amp; sanction</a:t>
            </a:r>
          </a:p>
          <a:p>
            <a:pPr algn="just">
              <a:buFont typeface="Wingdings" panose="05000000000000000000" pitchFamily="2" charset="2"/>
              <a:buChar char="v"/>
              <a:defRPr/>
            </a:pPr>
            <a:r>
              <a:rPr lang="en-US" dirty="0">
                <a:latin typeface="Times New Roman" panose="02020603050405020304" pitchFamily="18" charset="0"/>
                <a:cs typeface="Times New Roman" panose="02020603050405020304" pitchFamily="18" charset="0"/>
              </a:rPr>
              <a:t>Issued by sovereign (Superior body ) </a:t>
            </a:r>
          </a:p>
          <a:p>
            <a:pPr algn="just">
              <a:buFont typeface="Wingdings" panose="05000000000000000000" pitchFamily="2" charset="2"/>
              <a:buChar char="v"/>
              <a:defRPr/>
            </a:pPr>
            <a:r>
              <a:rPr lang="en-US" dirty="0">
                <a:latin typeface="Times New Roman" panose="02020603050405020304" pitchFamily="18" charset="0"/>
                <a:cs typeface="Times New Roman" panose="02020603050405020304" pitchFamily="18" charset="0"/>
              </a:rPr>
              <a:t>Rule of human conduct</a:t>
            </a:r>
          </a:p>
          <a:p>
            <a:pPr algn="just">
              <a:buFont typeface="Wingdings" panose="05000000000000000000" pitchFamily="2" charset="2"/>
              <a:buChar char="v"/>
              <a:defRPr/>
            </a:pPr>
            <a:r>
              <a:rPr lang="en-US" dirty="0">
                <a:latin typeface="Times New Roman" panose="02020603050405020304" pitchFamily="18" charset="0"/>
                <a:cs typeface="Times New Roman" panose="02020603050405020304" pitchFamily="18" charset="0"/>
              </a:rPr>
              <a:t>A formal written enactment i.e. public, private, mandatory</a:t>
            </a:r>
          </a:p>
        </p:txBody>
      </p:sp>
      <p:sp>
        <p:nvSpPr>
          <p:cNvPr id="3" name="Title 2">
            <a:extLst>
              <a:ext uri="{FF2B5EF4-FFF2-40B4-BE49-F238E27FC236}">
                <a16:creationId xmlns:a16="http://schemas.microsoft.com/office/drawing/2014/main" id="{8B22E6EB-2CA1-A28F-1747-0517C62D5287}"/>
              </a:ext>
            </a:extLst>
          </p:cNvPr>
          <p:cNvSpPr>
            <a:spLocks noGrp="1"/>
          </p:cNvSpPr>
          <p:nvPr>
            <p:ph type="title"/>
          </p:nvPr>
        </p:nvSpPr>
        <p:spPr>
          <a:xfrm>
            <a:off x="457200" y="76200"/>
            <a:ext cx="8229600" cy="990600"/>
          </a:xfrm>
        </p:spPr>
        <p:txBody>
          <a:bodyPr/>
          <a:lstStyle/>
          <a:p>
            <a:pPr>
              <a:defRPr/>
            </a:pPr>
            <a:r>
              <a:rPr lang="en-US" dirty="0">
                <a:latin typeface="Times New Roman" panose="02020603050405020304" pitchFamily="18" charset="0"/>
                <a:cs typeface="Times New Roman" panose="02020603050405020304" pitchFamily="18" charset="0"/>
              </a:rPr>
              <a:t>Law</a:t>
            </a:r>
          </a:p>
        </p:txBody>
      </p:sp>
    </p:spTree>
    <p:extLst>
      <p:ext uri="{BB962C8B-B14F-4D97-AF65-F5344CB8AC3E}">
        <p14:creationId xmlns:p14="http://schemas.microsoft.com/office/powerpoint/2010/main" val="100431767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13DC4FE-7C9B-3F55-AFB1-2E6EA1F367DD}"/>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A04EED18-FD09-E5BB-B798-E70FD56E3FDC}"/>
              </a:ext>
            </a:extLst>
          </p:cNvPr>
          <p:cNvSpPr>
            <a:spLocks noGrp="1"/>
          </p:cNvSpPr>
          <p:nvPr>
            <p:ph idx="1"/>
          </p:nvPr>
        </p:nvSpPr>
        <p:spPr/>
        <p:txBody>
          <a:bodyPr/>
          <a:lstStyle/>
          <a:p>
            <a:pPr algn="just">
              <a:defRPr/>
            </a:pPr>
            <a:r>
              <a:rPr lang="en-US" sz="2800" dirty="0">
                <a:latin typeface="Times New Roman" panose="02020603050405020304" pitchFamily="18" charset="0"/>
                <a:cs typeface="Times New Roman" panose="02020603050405020304" pitchFamily="18" charset="0"/>
              </a:rPr>
              <a:t>Establishing Order and Predictability</a:t>
            </a:r>
          </a:p>
          <a:p>
            <a:pPr algn="just">
              <a:defRPr/>
            </a:pPr>
            <a:r>
              <a:rPr lang="en-US" sz="2800" dirty="0">
                <a:latin typeface="Times New Roman" panose="02020603050405020304" pitchFamily="18" charset="0"/>
                <a:cs typeface="Times New Roman" panose="02020603050405020304" pitchFamily="18" charset="0"/>
              </a:rPr>
              <a:t>Safeguarding Rights and Liberties</a:t>
            </a:r>
          </a:p>
          <a:p>
            <a:pPr algn="just">
              <a:defRPr/>
            </a:pPr>
            <a:r>
              <a:rPr lang="en-US" sz="2800" dirty="0">
                <a:latin typeface="Times New Roman" panose="02020603050405020304" pitchFamily="18" charset="0"/>
                <a:cs typeface="Times New Roman" panose="02020603050405020304" pitchFamily="18" charset="0"/>
              </a:rPr>
              <a:t>Facilitating Social Change and Progress</a:t>
            </a:r>
          </a:p>
          <a:p>
            <a:pPr algn="just">
              <a:defRPr/>
            </a:pPr>
            <a:r>
              <a:rPr lang="en-US" sz="2800" dirty="0">
                <a:latin typeface="Times New Roman" panose="02020603050405020304" pitchFamily="18" charset="0"/>
                <a:cs typeface="Times New Roman" panose="02020603050405020304" pitchFamily="18" charset="0"/>
              </a:rPr>
              <a:t>Fostering Economic Growth</a:t>
            </a:r>
          </a:p>
          <a:p>
            <a:pPr algn="just">
              <a:defRPr/>
            </a:pPr>
            <a:r>
              <a:rPr lang="en-US" sz="2800" dirty="0">
                <a:latin typeface="Times New Roman" panose="02020603050405020304" pitchFamily="18" charset="0"/>
                <a:cs typeface="Times New Roman" panose="02020603050405020304" pitchFamily="18" charset="0"/>
              </a:rPr>
              <a:t>The Role of Laws in Global Harmony</a:t>
            </a:r>
          </a:p>
        </p:txBody>
      </p:sp>
      <p:sp>
        <p:nvSpPr>
          <p:cNvPr id="3" name="Title 2">
            <a:extLst>
              <a:ext uri="{FF2B5EF4-FFF2-40B4-BE49-F238E27FC236}">
                <a16:creationId xmlns:a16="http://schemas.microsoft.com/office/drawing/2014/main" id="{C9D71C3B-D7AA-EBF9-2773-7EAC863421B6}"/>
              </a:ext>
            </a:extLst>
          </p:cNvPr>
          <p:cNvSpPr>
            <a:spLocks noGrp="1"/>
          </p:cNvSpPr>
          <p:nvPr>
            <p:ph type="title"/>
          </p:nvPr>
        </p:nvSpPr>
        <p:spPr/>
        <p:txBody>
          <a:bodyPr/>
          <a:lstStyle/>
          <a:p>
            <a:pPr>
              <a:defRPr/>
            </a:pPr>
            <a:r>
              <a:rPr lang="en-US" dirty="0">
                <a:latin typeface="Times New Roman" panose="02020603050405020304" pitchFamily="18" charset="0"/>
                <a:cs typeface="Times New Roman" panose="02020603050405020304" pitchFamily="18" charset="0"/>
              </a:rPr>
              <a:t>Why Law </a:t>
            </a:r>
          </a:p>
        </p:txBody>
      </p:sp>
    </p:spTree>
    <p:extLst>
      <p:ext uri="{BB962C8B-B14F-4D97-AF65-F5344CB8AC3E}">
        <p14:creationId xmlns:p14="http://schemas.microsoft.com/office/powerpoint/2010/main" val="280550222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normAutofit/>
          </a:bodyPr>
          <a:lstStyle/>
          <a:p>
            <a:pPr algn="just">
              <a:defRPr/>
            </a:pPr>
            <a:r>
              <a:rPr lang="en-US" sz="2800" dirty="0">
                <a:latin typeface="Times New Roman" panose="02020603050405020304" pitchFamily="18" charset="0"/>
                <a:cs typeface="Times New Roman" panose="02020603050405020304" pitchFamily="18" charset="0"/>
              </a:rPr>
              <a:t>Land is the ultimate resource for life, without which life on earth cannot be sustained. </a:t>
            </a:r>
          </a:p>
          <a:p>
            <a:pPr algn="just">
              <a:defRPr/>
            </a:pPr>
            <a:r>
              <a:rPr lang="en-US" sz="2800" dirty="0">
                <a:latin typeface="Times New Roman" panose="02020603050405020304" pitchFamily="18" charset="0"/>
                <a:cs typeface="Times New Roman" panose="02020603050405020304" pitchFamily="18" charset="0"/>
              </a:rPr>
              <a:t>Land is considered as Wealth, Commodity, Scarce Resource and Community Resource</a:t>
            </a:r>
          </a:p>
          <a:p>
            <a:pPr algn="just">
              <a:defRPr/>
            </a:pPr>
            <a:r>
              <a:rPr lang="en-US" sz="2800" dirty="0">
                <a:latin typeface="Times New Roman" panose="02020603050405020304" pitchFamily="18" charset="0"/>
                <a:cs typeface="Times New Roman" panose="02020603050405020304" pitchFamily="18" charset="0"/>
              </a:rPr>
              <a:t>Land is principal source of livelihood for majority of the Nepalese People</a:t>
            </a:r>
          </a:p>
          <a:p>
            <a:pPr lvl="3" algn="just">
              <a:defRPr/>
            </a:pPr>
            <a:r>
              <a:rPr lang="en-US" sz="2400" dirty="0">
                <a:latin typeface="Times New Roman" panose="02020603050405020304" pitchFamily="18" charset="0"/>
                <a:cs typeface="Times New Roman" panose="02020603050405020304" pitchFamily="18" charset="0"/>
              </a:rPr>
              <a:t>Significant contribution in GDP(Gross domestic product)</a:t>
            </a:r>
          </a:p>
          <a:p>
            <a:pPr lvl="3" algn="just">
              <a:defRPr/>
            </a:pPr>
            <a:r>
              <a:rPr lang="en-US" sz="2400" dirty="0">
                <a:latin typeface="Times New Roman" panose="02020603050405020304" pitchFamily="18" charset="0"/>
                <a:cs typeface="Times New Roman" panose="02020603050405020304" pitchFamily="18" charset="0"/>
              </a:rPr>
              <a:t>highest engagement of active labor force with agriculture</a:t>
            </a:r>
          </a:p>
          <a:p>
            <a:pPr lvl="3" algn="just">
              <a:defRPr/>
            </a:pPr>
            <a:r>
              <a:rPr lang="en-US" sz="2400" dirty="0">
                <a:latin typeface="Times New Roman" panose="02020603050405020304" pitchFamily="18" charset="0"/>
                <a:cs typeface="Times New Roman" panose="02020603050405020304" pitchFamily="18" charset="0"/>
              </a:rPr>
              <a:t>The other sources of GDP (e.g. tourism) are mostly based on land and land resources</a:t>
            </a:r>
          </a:p>
          <a:p>
            <a:pPr lvl="1" algn="just">
              <a:defRPr/>
            </a:pPr>
            <a:endParaRPr lang="en-US" sz="2800" dirty="0">
              <a:latin typeface="Times New Roman" panose="02020603050405020304" pitchFamily="18" charset="0"/>
              <a:cs typeface="Times New Roman" panose="02020603050405020304" pitchFamily="18" charset="0"/>
            </a:endParaRPr>
          </a:p>
          <a:p>
            <a:pPr algn="just">
              <a:defRPr/>
            </a:pPr>
            <a:endParaRPr lang="en-US" sz="1400" dirty="0"/>
          </a:p>
        </p:txBody>
      </p:sp>
      <p:sp>
        <p:nvSpPr>
          <p:cNvPr id="3" name="Title 2"/>
          <p:cNvSpPr>
            <a:spLocks noGrp="1"/>
          </p:cNvSpPr>
          <p:nvPr>
            <p:ph type="title"/>
          </p:nvPr>
        </p:nvSpPr>
        <p:spPr/>
        <p:txBody>
          <a:bodyPr/>
          <a:lstStyle/>
          <a:p>
            <a:pPr>
              <a:defRPr/>
            </a:pPr>
            <a:r>
              <a:rPr lang="en-US" dirty="0">
                <a:latin typeface="Times New Roman" panose="02020603050405020304" pitchFamily="18" charset="0"/>
                <a:cs typeface="Times New Roman" panose="02020603050405020304" pitchFamily="18" charset="0"/>
              </a:rPr>
              <a:t>Land</a:t>
            </a:r>
          </a:p>
        </p:txBody>
      </p:sp>
    </p:spTree>
    <p:extLst>
      <p:ext uri="{BB962C8B-B14F-4D97-AF65-F5344CB8AC3E}">
        <p14:creationId xmlns:p14="http://schemas.microsoft.com/office/powerpoint/2010/main" val="348357875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Land</a:t>
            </a:r>
          </a:p>
        </p:txBody>
      </p:sp>
      <p:sp>
        <p:nvSpPr>
          <p:cNvPr id="3" name="Content Placeholder 2"/>
          <p:cNvSpPr>
            <a:spLocks noGrp="1"/>
          </p:cNvSpPr>
          <p:nvPr>
            <p:ph idx="1"/>
          </p:nvPr>
        </p:nvSpPr>
        <p:spPr>
          <a:xfrm>
            <a:off x="228600" y="1600200"/>
            <a:ext cx="8686800" cy="4495800"/>
          </a:xfrm>
        </p:spPr>
        <p:txBody>
          <a:bodyPr>
            <a:normAutofit/>
          </a:bodyPr>
          <a:lstStyle/>
          <a:p>
            <a:r>
              <a:rPr lang="en-US" sz="2800" dirty="0">
                <a:latin typeface="Times New Roman" panose="02020603050405020304" pitchFamily="18" charset="0"/>
                <a:cs typeface="Times New Roman" panose="02020603050405020304" pitchFamily="18" charset="0"/>
              </a:rPr>
              <a:t>Two unique characteristics of land distinguish it from other types of property. </a:t>
            </a:r>
          </a:p>
          <a:p>
            <a:pPr lvl="1"/>
            <a:r>
              <a:rPr lang="en-US" sz="2800" dirty="0">
                <a:latin typeface="Times New Roman" panose="02020603050405020304" pitchFamily="18" charset="0"/>
                <a:cs typeface="Times New Roman" panose="02020603050405020304" pitchFamily="18" charset="0"/>
              </a:rPr>
              <a:t>land is immovable, so it cannot be physically transferred from one person to another. </a:t>
            </a:r>
          </a:p>
          <a:p>
            <a:pPr marL="457200" indent="-176213"/>
            <a:r>
              <a:rPr lang="en-US" sz="2800" dirty="0">
                <a:latin typeface="Times New Roman" panose="02020603050405020304" pitchFamily="18" charset="0"/>
                <a:cs typeface="Times New Roman" panose="02020603050405020304" pitchFamily="18" charset="0"/>
              </a:rPr>
              <a:t>land is permanent; it cannot be increased, decreased, or destroyed as can all other forms of wealth.</a:t>
            </a:r>
          </a:p>
        </p:txBody>
      </p:sp>
    </p:spTree>
    <p:extLst>
      <p:ext uri="{BB962C8B-B14F-4D97-AF65-F5344CB8AC3E}">
        <p14:creationId xmlns:p14="http://schemas.microsoft.com/office/powerpoint/2010/main" val="329653895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latin typeface="Times New Roman" panose="02020603050405020304" pitchFamily="18" charset="0"/>
                <a:cs typeface="Times New Roman" panose="02020603050405020304" pitchFamily="18" charset="0"/>
              </a:rPr>
              <a:t>Land…</a:t>
            </a:r>
          </a:p>
        </p:txBody>
      </p:sp>
      <p:sp>
        <p:nvSpPr>
          <p:cNvPr id="3" name="Content Placeholder 2"/>
          <p:cNvSpPr>
            <a:spLocks noGrp="1"/>
          </p:cNvSpPr>
          <p:nvPr>
            <p:ph idx="1"/>
          </p:nvPr>
        </p:nvSpPr>
        <p:spPr/>
        <p:txBody>
          <a:bodyPr/>
          <a:lstStyle/>
          <a:p>
            <a:r>
              <a:rPr lang="en-US" dirty="0">
                <a:latin typeface="Times New Roman" pitchFamily="18" charset="0"/>
                <a:cs typeface="Times New Roman" pitchFamily="18" charset="0"/>
              </a:rPr>
              <a:t>According to P.F. Dale- Land is a physical thing that includes the surface of the earth and all things attached to it both above and below. It is also an abstract thing that is manifest as a set of rights to its use with a value that can be treated enough through the physical object that cannot be moved. (Land Administration)</a:t>
            </a:r>
          </a:p>
          <a:p>
            <a:r>
              <a:rPr lang="en-US" dirty="0">
                <a:latin typeface="Times New Roman" pitchFamily="18" charset="0"/>
                <a:cs typeface="Times New Roman" pitchFamily="18" charset="0"/>
              </a:rPr>
              <a:t>Legal definition – land means all category of land including those with buildings, gardens, trees, factories, lakes, ponds etc. (Land Survey Measurement Act 2019) </a:t>
            </a:r>
            <a:r>
              <a:rPr lang="en-US" sz="2800" dirty="0">
                <a:latin typeface="Times New Roman" pitchFamily="18" charset="0"/>
                <a:cs typeface="Times New Roman" pitchFamily="18" charset="0"/>
              </a:rPr>
              <a:t>{</a:t>
            </a:r>
            <a:r>
              <a:rPr lang="en-US" sz="2800" dirty="0" err="1">
                <a:latin typeface="Preeti" pitchFamily="2" charset="0"/>
              </a:rPr>
              <a:t>hUuf</a:t>
            </a:r>
            <a:r>
              <a:rPr lang="en-US" sz="2800" dirty="0">
                <a:latin typeface="Preeti" pitchFamily="2" charset="0"/>
              </a:rPr>
              <a:t> </a:t>
            </a:r>
            <a:r>
              <a:rPr lang="en-US" sz="2800" dirty="0" err="1">
                <a:latin typeface="Preeti" pitchFamily="2" charset="0"/>
              </a:rPr>
              <a:t>gfkhfFr</a:t>
            </a:r>
            <a:r>
              <a:rPr lang="en-US" sz="2800" dirty="0">
                <a:latin typeface="Preeti" pitchFamily="2" charset="0"/>
              </a:rPr>
              <a:t> P]g @)!( </a:t>
            </a:r>
            <a:r>
              <a:rPr lang="en-US" sz="2800" dirty="0" err="1">
                <a:latin typeface="Preeti" pitchFamily="2" charset="0"/>
              </a:rPr>
              <a:t>df</a:t>
            </a:r>
            <a:r>
              <a:rPr lang="en-US" sz="2800" dirty="0">
                <a:latin typeface="Preeti" pitchFamily="2" charset="0"/>
              </a:rPr>
              <a:t> </a:t>
            </a:r>
            <a:r>
              <a:rPr lang="en-US" sz="2800" dirty="0" err="1">
                <a:latin typeface="Preeti" pitchFamily="2" charset="0"/>
              </a:rPr>
              <a:t>pNn</a:t>
            </a:r>
            <a:r>
              <a:rPr lang="en-US" sz="2800" dirty="0">
                <a:latin typeface="Preeti" pitchFamily="2" charset="0"/>
              </a:rPr>
              <a:t>]v </a:t>
            </a:r>
            <a:r>
              <a:rPr lang="en-US" sz="2800" dirty="0" err="1">
                <a:latin typeface="Preeti" pitchFamily="2" charset="0"/>
              </a:rPr>
              <a:t>eP</a:t>
            </a:r>
            <a:r>
              <a:rPr lang="en-US" sz="2800" dirty="0">
                <a:latin typeface="Preeti" pitchFamily="2" charset="0"/>
              </a:rPr>
              <a:t> </a:t>
            </a:r>
            <a:r>
              <a:rPr lang="en-US" sz="2800" dirty="0" err="1">
                <a:latin typeface="Preeti" pitchFamily="2" charset="0"/>
              </a:rPr>
              <a:t>cg'zf</a:t>
            </a:r>
            <a:r>
              <a:rPr lang="en-US" sz="2800" dirty="0">
                <a:latin typeface="Preeti" pitchFamily="2" charset="0"/>
              </a:rPr>
              <a:t>/ – </a:t>
            </a:r>
            <a:r>
              <a:rPr lang="en-US" sz="2800" dirty="0" err="1">
                <a:latin typeface="Preeti" pitchFamily="2" charset="0"/>
              </a:rPr>
              <a:t>æhUufÆ</a:t>
            </a:r>
            <a:r>
              <a:rPr lang="en-US" sz="2800" dirty="0">
                <a:latin typeface="Preeti" pitchFamily="2" charset="0"/>
              </a:rPr>
              <a:t> </a:t>
            </a:r>
            <a:r>
              <a:rPr lang="en-US" sz="2800" dirty="0" err="1">
                <a:latin typeface="Preeti" pitchFamily="2" charset="0"/>
              </a:rPr>
              <a:t>eGgfn</a:t>
            </a:r>
            <a:r>
              <a:rPr lang="en-US" sz="2800" dirty="0">
                <a:latin typeface="Preeti" pitchFamily="2" charset="0"/>
              </a:rPr>
              <a:t>] 3/, </a:t>
            </a:r>
            <a:r>
              <a:rPr lang="en-US" sz="2800" dirty="0" err="1">
                <a:latin typeface="Preeti" pitchFamily="2" charset="0"/>
              </a:rPr>
              <a:t>jfu</a:t>
            </a:r>
            <a:r>
              <a:rPr lang="en-US" sz="2800" dirty="0">
                <a:latin typeface="Preeti" pitchFamily="2" charset="0"/>
              </a:rPr>
              <a:t>, au}</a:t>
            </a:r>
            <a:r>
              <a:rPr lang="en-US" sz="2800" dirty="0" err="1">
                <a:latin typeface="Preeti" pitchFamily="2" charset="0"/>
              </a:rPr>
              <a:t>rf</a:t>
            </a:r>
            <a:r>
              <a:rPr lang="en-US" sz="2800" dirty="0">
                <a:latin typeface="Preeti" pitchFamily="2" charset="0"/>
              </a:rPr>
              <a:t>, ¿v, </a:t>
            </a:r>
            <a:r>
              <a:rPr lang="en-US" sz="2800" dirty="0" err="1">
                <a:latin typeface="Preeti" pitchFamily="2" charset="0"/>
              </a:rPr>
              <a:t>sf</a:t>
            </a:r>
            <a:r>
              <a:rPr lang="en-US" sz="2800" dirty="0">
                <a:latin typeface="Preeti" pitchFamily="2" charset="0"/>
              </a:rPr>
              <a:t>/</a:t>
            </a:r>
            <a:r>
              <a:rPr lang="en-US" sz="2800" dirty="0" err="1">
                <a:latin typeface="Preeti" pitchFamily="2" charset="0"/>
              </a:rPr>
              <a:t>vfgf</a:t>
            </a:r>
            <a:r>
              <a:rPr lang="en-US" sz="2800" dirty="0">
                <a:latin typeface="Preeti" pitchFamily="2" charset="0"/>
              </a:rPr>
              <a:t>, </a:t>
            </a:r>
            <a:r>
              <a:rPr lang="en-US" sz="2800" dirty="0" err="1">
                <a:latin typeface="Preeti" pitchFamily="2" charset="0"/>
              </a:rPr>
              <a:t>tfn</a:t>
            </a:r>
            <a:r>
              <a:rPr lang="en-US" sz="2800" dirty="0">
                <a:latin typeface="Preeti" pitchFamily="2" charset="0"/>
              </a:rPr>
              <a:t>, </a:t>
            </a:r>
            <a:r>
              <a:rPr lang="en-US" sz="2800" dirty="0" err="1">
                <a:latin typeface="Preeti" pitchFamily="2" charset="0"/>
              </a:rPr>
              <a:t>kf</a:t>
            </a:r>
            <a:r>
              <a:rPr lang="en-US" sz="2800" dirty="0">
                <a:latin typeface="Preeti" pitchFamily="2" charset="0"/>
              </a:rPr>
              <a:t>]v/L, </a:t>
            </a:r>
            <a:r>
              <a:rPr lang="en-US" sz="2800" dirty="0" err="1">
                <a:latin typeface="Preeti" pitchFamily="2" charset="0"/>
              </a:rPr>
              <a:t>OToflb</a:t>
            </a:r>
            <a:r>
              <a:rPr lang="en-US" sz="2800" dirty="0">
                <a:latin typeface="Preeti" pitchFamily="2" charset="0"/>
              </a:rPr>
              <a:t> </a:t>
            </a:r>
            <a:r>
              <a:rPr lang="en-US" sz="2800" dirty="0" err="1">
                <a:latin typeface="Preeti" pitchFamily="2" charset="0"/>
              </a:rPr>
              <a:t>ePsf</a:t>
            </a:r>
            <a:r>
              <a:rPr lang="en-US" sz="2800" dirty="0">
                <a:latin typeface="Preeti" pitchFamily="2" charset="0"/>
              </a:rPr>
              <a:t>] ;d]t ;a} </a:t>
            </a:r>
            <a:r>
              <a:rPr lang="en-US" sz="2800" dirty="0" err="1">
                <a:latin typeface="Preeti" pitchFamily="2" charset="0"/>
              </a:rPr>
              <a:t>lsl;dsf</a:t>
            </a:r>
            <a:r>
              <a:rPr lang="en-US" sz="2800" dirty="0">
                <a:latin typeface="Preeti" pitchFamily="2" charset="0"/>
              </a:rPr>
              <a:t>] </a:t>
            </a:r>
            <a:r>
              <a:rPr lang="en-US" sz="2800" dirty="0" err="1">
                <a:latin typeface="Preeti" pitchFamily="2" charset="0"/>
              </a:rPr>
              <a:t>hUuf</a:t>
            </a:r>
            <a:r>
              <a:rPr lang="en-US" sz="2800" dirty="0">
                <a:latin typeface="Preeti" pitchFamily="2" charset="0"/>
              </a:rPr>
              <a:t> ;</a:t>
            </a:r>
            <a:r>
              <a:rPr lang="en-US" sz="2800" dirty="0" err="1">
                <a:latin typeface="Preeti" pitchFamily="2" charset="0"/>
              </a:rPr>
              <a:t>D´g</a:t>
            </a:r>
            <a:r>
              <a:rPr lang="en-US" sz="2800" dirty="0">
                <a:latin typeface="Preeti" pitchFamily="2" charset="0"/>
              </a:rPr>
              <a:t>' k5{ </a:t>
            </a:r>
            <a:r>
              <a:rPr lang="en-US" sz="2800" dirty="0">
                <a:latin typeface="Times New Roman" pitchFamily="18" charset="0"/>
                <a:cs typeface="Times New Roman" pitchFamily="18" charset="0"/>
              </a:rPr>
              <a:t>.} </a:t>
            </a:r>
          </a:p>
          <a:p>
            <a:pPr marL="0" indent="0">
              <a:buNone/>
            </a:pPr>
            <a:endParaRPr lang="en-US" dirty="0">
              <a:latin typeface="Preeti" pitchFamily="2" charset="0"/>
            </a:endParaRPr>
          </a:p>
        </p:txBody>
      </p:sp>
    </p:spTree>
    <p:extLst>
      <p:ext uri="{BB962C8B-B14F-4D97-AF65-F5344CB8AC3E}">
        <p14:creationId xmlns:p14="http://schemas.microsoft.com/office/powerpoint/2010/main" val="326270220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55590200-5E13-A9EC-22FA-36FA90F65E9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28599" y="838200"/>
            <a:ext cx="9372600" cy="5005652"/>
          </a:xfrm>
          <a:prstGeom prst="rect">
            <a:avLst/>
          </a:prstGeom>
        </p:spPr>
      </p:pic>
    </p:spTree>
    <p:extLst>
      <p:ext uri="{BB962C8B-B14F-4D97-AF65-F5344CB8AC3E}">
        <p14:creationId xmlns:p14="http://schemas.microsoft.com/office/powerpoint/2010/main" val="257915812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437D7FC3-E00B-6B3D-7DC9-1E71F300B27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762000"/>
            <a:ext cx="9448103" cy="5105400"/>
          </a:xfrm>
          <a:prstGeom prst="rect">
            <a:avLst/>
          </a:prstGeom>
        </p:spPr>
      </p:pic>
    </p:spTree>
    <p:extLst>
      <p:ext uri="{BB962C8B-B14F-4D97-AF65-F5344CB8AC3E}">
        <p14:creationId xmlns:p14="http://schemas.microsoft.com/office/powerpoint/2010/main" val="161801505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86A4D8D-BDA3-EA5C-A4BD-5901C747E1FE}"/>
              </a:ext>
            </a:extLst>
          </p:cNvPr>
          <p:cNvSpPr>
            <a:spLocks noGrp="1"/>
          </p:cNvSpPr>
          <p:nvPr>
            <p:ph idx="1"/>
          </p:nvPr>
        </p:nvSpPr>
        <p:spPr/>
        <p:txBody>
          <a:bodyPr/>
          <a:lstStyle/>
          <a:p>
            <a:pPr marL="0" indent="0">
              <a:buNone/>
            </a:pPr>
            <a:r>
              <a:rPr lang="en-US" sz="2800" dirty="0">
                <a:latin typeface="Times New Roman" panose="02020603050405020304" pitchFamily="18" charset="0"/>
                <a:cs typeface="Times New Roman" panose="02020603050405020304" pitchFamily="18" charset="0"/>
              </a:rPr>
              <a:t>Property?????</a:t>
            </a:r>
          </a:p>
          <a:p>
            <a:pPr marL="0" indent="0">
              <a:buNone/>
            </a:pPr>
            <a:endParaRPr lang="en-US" dirty="0"/>
          </a:p>
        </p:txBody>
      </p:sp>
    </p:spTree>
    <p:extLst>
      <p:ext uri="{BB962C8B-B14F-4D97-AF65-F5344CB8AC3E}">
        <p14:creationId xmlns:p14="http://schemas.microsoft.com/office/powerpoint/2010/main" val="357294922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657AEB-4AC0-8E5B-4EF1-A8636197BDC0}"/>
              </a:ext>
            </a:extLst>
          </p:cNvPr>
          <p:cNvSpPr>
            <a:spLocks noGrp="1"/>
          </p:cNvSpPr>
          <p:nvPr>
            <p:ph type="title"/>
          </p:nvPr>
        </p:nvSpPr>
        <p:spPr/>
        <p:txBody>
          <a:bodyPr/>
          <a:lstStyle/>
          <a:p>
            <a:r>
              <a:rPr lang="en-US" dirty="0">
                <a:latin typeface="Times New Roman" panose="02020603050405020304" pitchFamily="18" charset="0"/>
                <a:cs typeface="Times New Roman" panose="02020603050405020304" pitchFamily="18" charset="0"/>
              </a:rPr>
              <a:t>Property</a:t>
            </a:r>
          </a:p>
        </p:txBody>
      </p:sp>
      <p:sp>
        <p:nvSpPr>
          <p:cNvPr id="3" name="Content Placeholder 2">
            <a:extLst>
              <a:ext uri="{FF2B5EF4-FFF2-40B4-BE49-F238E27FC236}">
                <a16:creationId xmlns:a16="http://schemas.microsoft.com/office/drawing/2014/main" id="{123F5A9C-D305-45E9-6126-13CF67F51747}"/>
              </a:ext>
            </a:extLst>
          </p:cNvPr>
          <p:cNvSpPr>
            <a:spLocks noGrp="1"/>
          </p:cNvSpPr>
          <p:nvPr>
            <p:ph idx="1"/>
          </p:nvPr>
        </p:nvSpPr>
        <p:spPr/>
        <p:txBody>
          <a:bodyPr/>
          <a:lstStyle/>
          <a:p>
            <a:pPr algn="just"/>
            <a:r>
              <a:rPr lang="en-US" sz="2800" dirty="0">
                <a:latin typeface="Times New Roman" panose="02020603050405020304" pitchFamily="18" charset="0"/>
                <a:cs typeface="Times New Roman" panose="02020603050405020304" pitchFamily="18" charset="0"/>
              </a:rPr>
              <a:t>Property as an asset or collection of assets owned by an individual, group or entity. These assets can be tangible, such as land and building, or intangible, intellectual property rights. </a:t>
            </a:r>
          </a:p>
          <a:p>
            <a:pPr algn="just"/>
            <a:r>
              <a:rPr lang="en-US" sz="2800" dirty="0">
                <a:latin typeface="Times New Roman" panose="02020603050405020304" pitchFamily="18" charset="0"/>
                <a:cs typeface="Times New Roman" panose="02020603050405020304" pitchFamily="18" charset="0"/>
              </a:rPr>
              <a:t>The meaning of property also involve the legal rights associated with ownership, including the right to use, enjoy, or transfer the property.</a:t>
            </a:r>
          </a:p>
          <a:p>
            <a:pPr marL="0" indent="0">
              <a:buNone/>
            </a:pPr>
            <a:endParaRPr lang="en-US" dirty="0"/>
          </a:p>
        </p:txBody>
      </p:sp>
    </p:spTree>
    <p:extLst>
      <p:ext uri="{BB962C8B-B14F-4D97-AF65-F5344CB8AC3E}">
        <p14:creationId xmlns:p14="http://schemas.microsoft.com/office/powerpoint/2010/main" val="383747851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38BF0AB-0D15-B8CA-A683-9827C987035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41FDB6B-A0A7-1220-EF85-C678F8A31BE5}"/>
              </a:ext>
            </a:extLst>
          </p:cNvPr>
          <p:cNvSpPr>
            <a:spLocks noGrp="1"/>
          </p:cNvSpPr>
          <p:nvPr>
            <p:ph type="title"/>
          </p:nvPr>
        </p:nvSpPr>
        <p:spPr/>
        <p:txBody>
          <a:bodyPr/>
          <a:lstStyle/>
          <a:p>
            <a:r>
              <a:rPr lang="en-US" dirty="0">
                <a:latin typeface="Times New Roman" panose="02020603050405020304" pitchFamily="18" charset="0"/>
                <a:cs typeface="Times New Roman" panose="02020603050405020304" pitchFamily="18" charset="0"/>
              </a:rPr>
              <a:t>Property Law</a:t>
            </a:r>
          </a:p>
        </p:txBody>
      </p:sp>
      <p:sp>
        <p:nvSpPr>
          <p:cNvPr id="3" name="Content Placeholder 2">
            <a:extLst>
              <a:ext uri="{FF2B5EF4-FFF2-40B4-BE49-F238E27FC236}">
                <a16:creationId xmlns:a16="http://schemas.microsoft.com/office/drawing/2014/main" id="{9E2D5E96-7705-3795-8897-AD630A78B907}"/>
              </a:ext>
            </a:extLst>
          </p:cNvPr>
          <p:cNvSpPr>
            <a:spLocks noGrp="1"/>
          </p:cNvSpPr>
          <p:nvPr>
            <p:ph idx="1"/>
          </p:nvPr>
        </p:nvSpPr>
        <p:spPr>
          <a:xfrm>
            <a:off x="473467" y="1828800"/>
            <a:ext cx="8229600" cy="3581400"/>
          </a:xfrm>
        </p:spPr>
        <p:txBody>
          <a:bodyPr/>
          <a:lstStyle/>
          <a:p>
            <a:pPr marL="0" indent="0" algn="just">
              <a:buNone/>
            </a:pPr>
            <a:r>
              <a:rPr lang="en-US" dirty="0">
                <a:latin typeface="Times New Roman" panose="02020603050405020304" pitchFamily="18" charset="0"/>
                <a:cs typeface="Times New Roman" panose="02020603050405020304" pitchFamily="18" charset="0"/>
              </a:rPr>
              <a:t>Property law in Nepal has undergone significant transformation with the enactment of the National Civil Code 2017, establishing a comprehensive legal framework that governs property rights, ownership, inheritance, and transactions. Real estate law in Nepal is primarily governed by the Lands Act 2021 (1964) and the National Civil Code 2017. These laws regulate ownership, transfer, partition, inheritance, and management of land and property in Nepal.</a:t>
            </a:r>
          </a:p>
        </p:txBody>
      </p:sp>
    </p:spTree>
    <p:extLst>
      <p:ext uri="{BB962C8B-B14F-4D97-AF65-F5344CB8AC3E}">
        <p14:creationId xmlns:p14="http://schemas.microsoft.com/office/powerpoint/2010/main" val="73187786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7D9510-29C1-FD21-F8A1-D80E6DF135B9}"/>
              </a:ext>
            </a:extLst>
          </p:cNvPr>
          <p:cNvSpPr>
            <a:spLocks noGrp="1"/>
          </p:cNvSpPr>
          <p:nvPr>
            <p:ph type="title"/>
          </p:nvPr>
        </p:nvSpPr>
        <p:spPr>
          <a:xfrm>
            <a:off x="381000" y="228600"/>
            <a:ext cx="8229600" cy="990600"/>
          </a:xfrm>
        </p:spPr>
        <p:txBody>
          <a:bodyPr>
            <a:normAutofit/>
          </a:bodyPr>
          <a:lstStyle/>
          <a:p>
            <a:r>
              <a:rPr lang="en-US" dirty="0">
                <a:latin typeface="Times New Roman" panose="02020603050405020304" pitchFamily="18" charset="0"/>
                <a:cs typeface="Times New Roman" panose="02020603050405020304" pitchFamily="18" charset="0"/>
              </a:rPr>
              <a:t>Property Law </a:t>
            </a:r>
            <a:r>
              <a:rPr lang="en-US" sz="3100" dirty="0">
                <a:latin typeface="Times New Roman" panose="02020603050405020304" pitchFamily="18" charset="0"/>
                <a:cs typeface="Times New Roman" panose="02020603050405020304" pitchFamily="18" charset="0"/>
              </a:rPr>
              <a:t>(</a:t>
            </a:r>
            <a:r>
              <a:rPr lang="en-US" sz="3100" b="1" dirty="0">
                <a:latin typeface="Times New Roman" panose="02020603050405020304" pitchFamily="18" charset="0"/>
                <a:cs typeface="Times New Roman" panose="02020603050405020304" pitchFamily="18" charset="0"/>
              </a:rPr>
              <a:t>Legal Framework and Sources)</a:t>
            </a:r>
            <a:endParaRPr lang="en-US"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FB929099-4588-1F46-D256-89AADA5B2C36}"/>
              </a:ext>
            </a:extLst>
          </p:cNvPr>
          <p:cNvSpPr>
            <a:spLocks noGrp="1"/>
          </p:cNvSpPr>
          <p:nvPr>
            <p:ph idx="1"/>
          </p:nvPr>
        </p:nvSpPr>
        <p:spPr>
          <a:xfrm>
            <a:off x="76200" y="1143000"/>
            <a:ext cx="8991600" cy="5638800"/>
          </a:xfrm>
        </p:spPr>
        <p:txBody>
          <a:bodyPr>
            <a:normAutofit fontScale="47500" lnSpcReduction="20000"/>
          </a:bodyPr>
          <a:lstStyle/>
          <a:p>
            <a:r>
              <a:rPr lang="en-US" sz="4400" b="1" dirty="0">
                <a:latin typeface="Times New Roman" panose="02020603050405020304" pitchFamily="18" charset="0"/>
                <a:cs typeface="Times New Roman" panose="02020603050405020304" pitchFamily="18" charset="0"/>
              </a:rPr>
              <a:t>National Civil Code 2017 (</a:t>
            </a:r>
            <a:r>
              <a:rPr lang="en-US" sz="4400" b="1" dirty="0" err="1">
                <a:latin typeface="Times New Roman" panose="02020603050405020304" pitchFamily="18" charset="0"/>
                <a:cs typeface="Times New Roman" panose="02020603050405020304" pitchFamily="18" charset="0"/>
              </a:rPr>
              <a:t>Muluki</a:t>
            </a:r>
            <a:r>
              <a:rPr lang="en-US" sz="4400" b="1" dirty="0">
                <a:latin typeface="Times New Roman" panose="02020603050405020304" pitchFamily="18" charset="0"/>
                <a:cs typeface="Times New Roman" panose="02020603050405020304" pitchFamily="18" charset="0"/>
              </a:rPr>
              <a:t> Civil Code 2074)</a:t>
            </a:r>
            <a:endParaRPr lang="en-US" sz="4400" dirty="0">
              <a:latin typeface="Times New Roman" panose="02020603050405020304" pitchFamily="18" charset="0"/>
              <a:cs typeface="Times New Roman" panose="02020603050405020304" pitchFamily="18" charset="0"/>
            </a:endParaRPr>
          </a:p>
          <a:p>
            <a:r>
              <a:rPr lang="en-US" sz="4400" dirty="0">
                <a:latin typeface="Times New Roman" panose="02020603050405020304" pitchFamily="18" charset="0"/>
                <a:cs typeface="Times New Roman" panose="02020603050405020304" pitchFamily="18" charset="0"/>
              </a:rPr>
              <a:t>Comprehensive property rights framework</a:t>
            </a:r>
          </a:p>
          <a:p>
            <a:r>
              <a:rPr lang="en-US" sz="4400" dirty="0">
                <a:latin typeface="Times New Roman" panose="02020603050405020304" pitchFamily="18" charset="0"/>
                <a:cs typeface="Times New Roman" panose="02020603050405020304" pitchFamily="18" charset="0"/>
              </a:rPr>
              <a:t>Inheritance and succession laws</a:t>
            </a:r>
          </a:p>
          <a:p>
            <a:r>
              <a:rPr lang="en-US" sz="4400" dirty="0">
                <a:latin typeface="Times New Roman" panose="02020603050405020304" pitchFamily="18" charset="0"/>
                <a:cs typeface="Times New Roman" panose="02020603050405020304" pitchFamily="18" charset="0"/>
              </a:rPr>
              <a:t>Property transfer and transaction regulations</a:t>
            </a:r>
          </a:p>
          <a:p>
            <a:r>
              <a:rPr lang="en-US" sz="4400" dirty="0">
                <a:latin typeface="Times New Roman" panose="02020603050405020304" pitchFamily="18" charset="0"/>
                <a:cs typeface="Times New Roman" panose="02020603050405020304" pitchFamily="18" charset="0"/>
              </a:rPr>
              <a:t>Gender equality in property ownership</a:t>
            </a:r>
          </a:p>
          <a:p>
            <a:r>
              <a:rPr lang="en-US" sz="4400" b="1" dirty="0">
                <a:latin typeface="Times New Roman" panose="02020603050405020304" pitchFamily="18" charset="0"/>
                <a:cs typeface="Times New Roman" panose="02020603050405020304" pitchFamily="18" charset="0"/>
              </a:rPr>
              <a:t>Lands Act 2021 BS (1964 AD)</a:t>
            </a:r>
            <a:endParaRPr lang="en-US" sz="4400" dirty="0">
              <a:latin typeface="Times New Roman" panose="02020603050405020304" pitchFamily="18" charset="0"/>
              <a:cs typeface="Times New Roman" panose="02020603050405020304" pitchFamily="18" charset="0"/>
            </a:endParaRPr>
          </a:p>
          <a:p>
            <a:r>
              <a:rPr lang="en-US" sz="4400" dirty="0">
                <a:latin typeface="Times New Roman" panose="02020603050405020304" pitchFamily="18" charset="0"/>
                <a:cs typeface="Times New Roman" panose="02020603050405020304" pitchFamily="18" charset="0"/>
              </a:rPr>
              <a:t>Land registration procedures</a:t>
            </a:r>
          </a:p>
          <a:p>
            <a:r>
              <a:rPr lang="en-US" sz="4400" dirty="0">
                <a:latin typeface="Times New Roman" panose="02020603050405020304" pitchFamily="18" charset="0"/>
                <a:cs typeface="Times New Roman" panose="02020603050405020304" pitchFamily="18" charset="0"/>
              </a:rPr>
              <a:t>Measurement and valuation standards</a:t>
            </a:r>
          </a:p>
          <a:p>
            <a:r>
              <a:rPr lang="en-US" sz="4400" dirty="0">
                <a:latin typeface="Times New Roman" panose="02020603050405020304" pitchFamily="18" charset="0"/>
                <a:cs typeface="Times New Roman" panose="02020603050405020304" pitchFamily="18" charset="0"/>
              </a:rPr>
              <a:t>Classification of land types</a:t>
            </a:r>
          </a:p>
          <a:p>
            <a:r>
              <a:rPr lang="en-US" sz="4400" dirty="0">
                <a:latin typeface="Times New Roman" panose="02020603050405020304" pitchFamily="18" charset="0"/>
                <a:cs typeface="Times New Roman" panose="02020603050405020304" pitchFamily="18" charset="0"/>
              </a:rPr>
              <a:t>Government land policies</a:t>
            </a:r>
          </a:p>
          <a:p>
            <a:r>
              <a:rPr lang="en-US" sz="4400" b="1" dirty="0">
                <a:latin typeface="Times New Roman" panose="02020603050405020304" pitchFamily="18" charset="0"/>
                <a:cs typeface="Times New Roman" panose="02020603050405020304" pitchFamily="18" charset="0"/>
              </a:rPr>
              <a:t>Constitutional Provisions</a:t>
            </a:r>
            <a:endParaRPr lang="en-US" sz="4400" dirty="0">
              <a:latin typeface="Times New Roman" panose="02020603050405020304" pitchFamily="18" charset="0"/>
              <a:cs typeface="Times New Roman" panose="02020603050405020304" pitchFamily="18" charset="0"/>
            </a:endParaRPr>
          </a:p>
          <a:p>
            <a:r>
              <a:rPr lang="en-US" sz="4400" dirty="0">
                <a:latin typeface="Times New Roman" panose="02020603050405020304" pitchFamily="18" charset="0"/>
                <a:cs typeface="Times New Roman" panose="02020603050405020304" pitchFamily="18" charset="0"/>
              </a:rPr>
              <a:t>The Constitution of Nepal 2015 guarantees property rights under fundamental rights, ensuring:</a:t>
            </a:r>
          </a:p>
          <a:p>
            <a:r>
              <a:rPr lang="en-US" sz="4400" dirty="0">
                <a:latin typeface="Times New Roman" panose="02020603050405020304" pitchFamily="18" charset="0"/>
                <a:cs typeface="Times New Roman" panose="02020603050405020304" pitchFamily="18" charset="0"/>
              </a:rPr>
              <a:t>Right to acquire, own, and dispose of property</a:t>
            </a:r>
          </a:p>
          <a:p>
            <a:r>
              <a:rPr lang="en-US" sz="4400" dirty="0">
                <a:latin typeface="Times New Roman" panose="02020603050405020304" pitchFamily="18" charset="0"/>
                <a:cs typeface="Times New Roman" panose="02020603050405020304" pitchFamily="18" charset="0"/>
              </a:rPr>
              <a:t>Protection against arbitrary acquisition</a:t>
            </a:r>
          </a:p>
          <a:p>
            <a:r>
              <a:rPr lang="en-US" sz="4400" dirty="0">
                <a:latin typeface="Times New Roman" panose="02020603050405020304" pitchFamily="18" charset="0"/>
                <a:cs typeface="Times New Roman" panose="02020603050405020304" pitchFamily="18" charset="0"/>
              </a:rPr>
              <a:t>Equal property rights regardless of gender</a:t>
            </a:r>
          </a:p>
          <a:p>
            <a:r>
              <a:rPr lang="en-US" sz="4400" dirty="0">
                <a:latin typeface="Times New Roman" panose="02020603050405020304" pitchFamily="18" charset="0"/>
                <a:cs typeface="Times New Roman" panose="02020603050405020304" pitchFamily="18" charset="0"/>
              </a:rPr>
              <a:t>Compensation for government acquisition</a:t>
            </a:r>
          </a:p>
          <a:p>
            <a:pPr marL="0" indent="0">
              <a:buNone/>
            </a:pPr>
            <a:endParaRPr lang="en-US" dirty="0"/>
          </a:p>
        </p:txBody>
      </p:sp>
    </p:spTree>
    <p:extLst>
      <p:ext uri="{BB962C8B-B14F-4D97-AF65-F5344CB8AC3E}">
        <p14:creationId xmlns:p14="http://schemas.microsoft.com/office/powerpoint/2010/main" val="31236231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5320557-7235-BE92-9D3F-1EA4217CA681}"/>
            </a:ext>
          </a:extLst>
        </p:cNvPr>
        <p:cNvGrpSpPr/>
        <p:nvPr/>
      </p:nvGrpSpPr>
      <p:grpSpPr>
        <a:xfrm>
          <a:off x="0" y="0"/>
          <a:ext cx="0" cy="0"/>
          <a:chOff x="0" y="0"/>
          <a:chExt cx="0" cy="0"/>
        </a:xfrm>
      </p:grpSpPr>
      <p:sp>
        <p:nvSpPr>
          <p:cNvPr id="5" name="Rectangle 1">
            <a:extLst>
              <a:ext uri="{FF2B5EF4-FFF2-40B4-BE49-F238E27FC236}">
                <a16:creationId xmlns:a16="http://schemas.microsoft.com/office/drawing/2014/main" id="{A040E97C-287A-A7CE-CAA8-996656AE60A8}"/>
              </a:ext>
            </a:extLst>
          </p:cNvPr>
          <p:cNvSpPr>
            <a:spLocks noChangeArrowheads="1"/>
          </p:cNvSpPr>
          <p:nvPr/>
        </p:nvSpPr>
        <p:spPr bwMode="auto">
          <a:xfrm>
            <a:off x="304800" y="795272"/>
            <a:ext cx="7928225" cy="5740033"/>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238050" tIns="0" rIns="0" bIns="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7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3200" b="1" i="0" u="none" strike="noStrike" cap="none" normalizeH="0" baseline="0" dirty="0">
                <a:ln>
                  <a:noFill/>
                </a:ln>
                <a:solidFill>
                  <a:srgbClr val="4E4E4E"/>
                </a:solidFill>
                <a:effectLst/>
                <a:latin typeface="Times New Roman" panose="02020603050405020304" pitchFamily="18" charset="0"/>
                <a:cs typeface="Times New Roman" panose="02020603050405020304" pitchFamily="18" charset="0"/>
              </a:rPr>
              <a:t>Classification by Nature</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28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800" b="1" i="0" u="none" strike="noStrike" cap="none" normalizeH="0" baseline="0" dirty="0">
                <a:ln>
                  <a:noFill/>
                </a:ln>
                <a:solidFill>
                  <a:srgbClr val="4E4E4E"/>
                </a:solidFill>
                <a:effectLst/>
                <a:latin typeface="Times New Roman" panose="02020603050405020304" pitchFamily="18" charset="0"/>
                <a:cs typeface="Times New Roman" panose="02020603050405020304" pitchFamily="18" charset="0"/>
              </a:rPr>
              <a:t>Movable Property</a:t>
            </a:r>
            <a:endParaRPr kumimoji="0" lang="en-US" altLang="en-US" sz="1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800" b="0" i="0" u="none" strike="noStrike" cap="none" normalizeH="0" baseline="0" dirty="0">
                <a:ln>
                  <a:noFill/>
                </a:ln>
                <a:solidFill>
                  <a:srgbClr val="4E4E4E"/>
                </a:solidFill>
                <a:effectLst/>
                <a:latin typeface="Times New Roman" panose="02020603050405020304" pitchFamily="18" charset="0"/>
                <a:cs typeface="Times New Roman" panose="02020603050405020304" pitchFamily="18" charset="0"/>
              </a:rPr>
              <a:t>Cash, jewelry, vehicles</a:t>
            </a:r>
            <a:endParaRPr kumimoji="0" lang="en-US" altLang="en-US" sz="3200" b="0" i="0" u="none" strike="noStrike" cap="none" normalizeH="0" baseline="0" dirty="0">
              <a:ln>
                <a:noFill/>
              </a:ln>
              <a:solidFill>
                <a:srgbClr val="4E4E4E"/>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800" b="0" i="0" u="none" strike="noStrike" cap="none" normalizeH="0" baseline="0" dirty="0">
                <a:ln>
                  <a:noFill/>
                </a:ln>
                <a:solidFill>
                  <a:srgbClr val="4E4E4E"/>
                </a:solidFill>
                <a:effectLst/>
                <a:latin typeface="Times New Roman" panose="02020603050405020304" pitchFamily="18" charset="0"/>
                <a:cs typeface="Times New Roman" panose="02020603050405020304" pitchFamily="18" charset="0"/>
              </a:rPr>
              <a:t>Livestock and agricultural produce</a:t>
            </a:r>
            <a:endParaRPr kumimoji="0" lang="en-US" altLang="en-US" sz="3200" b="0" i="0" u="none" strike="noStrike" cap="none" normalizeH="0" baseline="0" dirty="0">
              <a:ln>
                <a:noFill/>
              </a:ln>
              <a:solidFill>
                <a:srgbClr val="4E4E4E"/>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800" b="0" i="0" u="none" strike="noStrike" cap="none" normalizeH="0" baseline="0" dirty="0">
                <a:ln>
                  <a:noFill/>
                </a:ln>
                <a:solidFill>
                  <a:srgbClr val="4E4E4E"/>
                </a:solidFill>
                <a:effectLst/>
                <a:latin typeface="Times New Roman" panose="02020603050405020304" pitchFamily="18" charset="0"/>
                <a:cs typeface="Times New Roman" panose="02020603050405020304" pitchFamily="18" charset="0"/>
              </a:rPr>
              <a:t>Household goods and personal belongings</a:t>
            </a:r>
            <a:endParaRPr kumimoji="0" lang="en-US" altLang="en-US" sz="3200" b="0" i="0" u="none" strike="noStrike" cap="none" normalizeH="0" baseline="0" dirty="0">
              <a:ln>
                <a:noFill/>
              </a:ln>
              <a:solidFill>
                <a:srgbClr val="4E4E4E"/>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800" b="0" i="0" u="none" strike="noStrike" cap="none" normalizeH="0" baseline="0" dirty="0">
                <a:ln>
                  <a:noFill/>
                </a:ln>
                <a:solidFill>
                  <a:srgbClr val="4E4E4E"/>
                </a:solidFill>
                <a:effectLst/>
                <a:latin typeface="Times New Roman" panose="02020603050405020304" pitchFamily="18" charset="0"/>
                <a:cs typeface="Times New Roman" panose="02020603050405020304" pitchFamily="18" charset="0"/>
              </a:rPr>
              <a:t>Bank deposits and financial instruments</a:t>
            </a:r>
            <a:endParaRPr kumimoji="0" lang="en-US" altLang="en-US" sz="3200" b="0" i="0" u="none" strike="noStrike" cap="none" normalizeH="0" baseline="0" dirty="0">
              <a:ln>
                <a:noFill/>
              </a:ln>
              <a:solidFill>
                <a:srgbClr val="4E4E4E"/>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800" b="1" i="0" u="none" strike="noStrike" cap="none" normalizeH="0" baseline="0" dirty="0">
                <a:ln>
                  <a:noFill/>
                </a:ln>
                <a:solidFill>
                  <a:srgbClr val="4E4E4E"/>
                </a:solidFill>
                <a:effectLst/>
                <a:latin typeface="Times New Roman" panose="02020603050405020304" pitchFamily="18" charset="0"/>
                <a:cs typeface="Times New Roman" panose="02020603050405020304" pitchFamily="18" charset="0"/>
              </a:rPr>
              <a:t>Immovable Property</a:t>
            </a:r>
            <a:endParaRPr kumimoji="0" lang="en-US" altLang="en-US" sz="1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800" b="0" i="0" u="none" strike="noStrike" cap="none" normalizeH="0" baseline="0" dirty="0">
                <a:ln>
                  <a:noFill/>
                </a:ln>
                <a:solidFill>
                  <a:srgbClr val="4E4E4E"/>
                </a:solidFill>
                <a:effectLst/>
                <a:latin typeface="Times New Roman" panose="02020603050405020304" pitchFamily="18" charset="0"/>
                <a:cs typeface="Times New Roman" panose="02020603050405020304" pitchFamily="18" charset="0"/>
              </a:rPr>
              <a:t>Land and buildings</a:t>
            </a:r>
            <a:endParaRPr kumimoji="0" lang="en-US" altLang="en-US" sz="3200" b="0" i="0" u="none" strike="noStrike" cap="none" normalizeH="0" baseline="0" dirty="0">
              <a:ln>
                <a:noFill/>
              </a:ln>
              <a:solidFill>
                <a:srgbClr val="4E4E4E"/>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800" b="0" i="0" u="none" strike="noStrike" cap="none" normalizeH="0" baseline="0" dirty="0">
                <a:ln>
                  <a:noFill/>
                </a:ln>
                <a:solidFill>
                  <a:srgbClr val="4E4E4E"/>
                </a:solidFill>
                <a:effectLst/>
                <a:latin typeface="Times New Roman" panose="02020603050405020304" pitchFamily="18" charset="0"/>
                <a:cs typeface="Times New Roman" panose="02020603050405020304" pitchFamily="18" charset="0"/>
              </a:rPr>
              <a:t>Permanent fixtures and structures</a:t>
            </a:r>
            <a:endParaRPr kumimoji="0" lang="en-US" altLang="en-US" sz="3200" b="0" i="0" u="none" strike="noStrike" cap="none" normalizeH="0" baseline="0" dirty="0">
              <a:ln>
                <a:noFill/>
              </a:ln>
              <a:solidFill>
                <a:srgbClr val="4E4E4E"/>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800" b="0" i="0" u="none" strike="noStrike" cap="none" normalizeH="0" baseline="0" dirty="0">
                <a:ln>
                  <a:noFill/>
                </a:ln>
                <a:solidFill>
                  <a:srgbClr val="4E4E4E"/>
                </a:solidFill>
                <a:effectLst/>
                <a:latin typeface="Times New Roman" panose="02020603050405020304" pitchFamily="18" charset="0"/>
                <a:cs typeface="Times New Roman" panose="02020603050405020304" pitchFamily="18" charset="0"/>
              </a:rPr>
              <a:t>Trees and crops attached to land</a:t>
            </a:r>
            <a:endParaRPr kumimoji="0" lang="en-US" altLang="en-US" sz="3200" b="0" i="0" u="none" strike="noStrike" cap="none" normalizeH="0" baseline="0" dirty="0">
              <a:ln>
                <a:noFill/>
              </a:ln>
              <a:solidFill>
                <a:srgbClr val="4E4E4E"/>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800" b="0" i="0" u="none" strike="noStrike" cap="none" normalizeH="0" baseline="0" dirty="0">
                <a:ln>
                  <a:noFill/>
                </a:ln>
                <a:solidFill>
                  <a:srgbClr val="4E4E4E"/>
                </a:solidFill>
                <a:effectLst/>
                <a:latin typeface="Times New Roman" panose="02020603050405020304" pitchFamily="18" charset="0"/>
                <a:cs typeface="Times New Roman" panose="02020603050405020304" pitchFamily="18" charset="0"/>
              </a:rPr>
              <a:t>Mining rights and easements</a:t>
            </a:r>
            <a:endParaRPr kumimoji="0" lang="en-US" altLang="en-US" sz="3200" b="0" i="0" u="none" strike="noStrike" cap="none" normalizeH="0" baseline="0" dirty="0">
              <a:ln>
                <a:noFill/>
              </a:ln>
              <a:solidFill>
                <a:srgbClr val="4E4E4E"/>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9" name="Title 1">
            <a:extLst>
              <a:ext uri="{FF2B5EF4-FFF2-40B4-BE49-F238E27FC236}">
                <a16:creationId xmlns:a16="http://schemas.microsoft.com/office/drawing/2014/main" id="{C1FFD884-351A-5639-3F1A-E22D65B69322}"/>
              </a:ext>
            </a:extLst>
          </p:cNvPr>
          <p:cNvSpPr>
            <a:spLocks noGrp="1"/>
          </p:cNvSpPr>
          <p:nvPr>
            <p:ph type="title"/>
          </p:nvPr>
        </p:nvSpPr>
        <p:spPr>
          <a:xfrm>
            <a:off x="457200" y="533400"/>
            <a:ext cx="8229600" cy="990600"/>
          </a:xfrm>
        </p:spPr>
        <p:txBody>
          <a:bodyPr>
            <a:normAutofit fontScale="90000"/>
          </a:bodyPr>
          <a:lstStyle/>
          <a:p>
            <a:r>
              <a:rPr lang="en-US" altLang="en-US" b="1" dirty="0">
                <a:latin typeface="Open Sans" panose="020B0606030504020204" pitchFamily="34" charset="0"/>
                <a:cs typeface="Open Sans" panose="020B0606030504020204" pitchFamily="34" charset="0"/>
              </a:rPr>
              <a:t>Types of Property in Nepal</a:t>
            </a:r>
            <a:br>
              <a:rPr lang="en-US" altLang="en-US" b="1" dirty="0">
                <a:solidFill>
                  <a:srgbClr val="4E4E4E"/>
                </a:solidFill>
                <a:latin typeface="Open Sans" panose="020B0606030504020204" pitchFamily="34" charset="0"/>
                <a:cs typeface="Open Sans" panose="020B0606030504020204" pitchFamily="34" charset="0"/>
              </a:rPr>
            </a:br>
            <a:endParaRPr lang="en-US" dirty="0"/>
          </a:p>
        </p:txBody>
      </p:sp>
    </p:spTree>
    <p:extLst>
      <p:ext uri="{BB962C8B-B14F-4D97-AF65-F5344CB8AC3E}">
        <p14:creationId xmlns:p14="http://schemas.microsoft.com/office/powerpoint/2010/main" val="117959607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9211FC-CA76-E818-2F4C-4690410507F2}"/>
              </a:ext>
            </a:extLst>
          </p:cNvPr>
          <p:cNvSpPr>
            <a:spLocks noGrp="1"/>
          </p:cNvSpPr>
          <p:nvPr>
            <p:ph type="title"/>
          </p:nvPr>
        </p:nvSpPr>
        <p:spPr/>
        <p:txBody>
          <a:bodyPr>
            <a:normAutofit/>
          </a:bodyPr>
          <a:lstStyle/>
          <a:p>
            <a:r>
              <a:rPr lang="en-US" sz="3200" b="1" dirty="0">
                <a:solidFill>
                  <a:schemeClr val="tx1"/>
                </a:solidFill>
                <a:latin typeface="Times New Roman" panose="02020603050405020304" pitchFamily="18" charset="0"/>
                <a:cs typeface="Times New Roman" panose="02020603050405020304" pitchFamily="18" charset="0"/>
              </a:rPr>
              <a:t>Classification by Ownership</a:t>
            </a:r>
            <a:endParaRPr lang="en-US" sz="3600" dirty="0">
              <a:latin typeface="Times New Roman" panose="02020603050405020304" pitchFamily="18" charset="0"/>
              <a:cs typeface="Times New Roman" panose="02020603050405020304" pitchFamily="18" charset="0"/>
            </a:endParaRPr>
          </a:p>
        </p:txBody>
      </p:sp>
      <p:graphicFrame>
        <p:nvGraphicFramePr>
          <p:cNvPr id="4" name="Content Placeholder 3">
            <a:extLst>
              <a:ext uri="{FF2B5EF4-FFF2-40B4-BE49-F238E27FC236}">
                <a16:creationId xmlns:a16="http://schemas.microsoft.com/office/drawing/2014/main" id="{D5171FBD-08BC-7C60-C73B-3817C098B43B}"/>
              </a:ext>
            </a:extLst>
          </p:cNvPr>
          <p:cNvGraphicFramePr>
            <a:graphicFrameLocks noGrp="1"/>
          </p:cNvGraphicFramePr>
          <p:nvPr>
            <p:ph idx="1"/>
            <p:extLst>
              <p:ext uri="{D42A27DB-BD31-4B8C-83A1-F6EECF244321}">
                <p14:modId xmlns:p14="http://schemas.microsoft.com/office/powerpoint/2010/main" val="942367880"/>
              </p:ext>
            </p:extLst>
          </p:nvPr>
        </p:nvGraphicFramePr>
        <p:xfrm>
          <a:off x="76199" y="1600200"/>
          <a:ext cx="8991601" cy="4953000"/>
        </p:xfrm>
        <a:graphic>
          <a:graphicData uri="http://schemas.openxmlformats.org/drawingml/2006/table">
            <a:tbl>
              <a:tblPr/>
              <a:tblGrid>
                <a:gridCol w="2209801">
                  <a:extLst>
                    <a:ext uri="{9D8B030D-6E8A-4147-A177-3AD203B41FA5}">
                      <a16:colId xmlns:a16="http://schemas.microsoft.com/office/drawing/2014/main" val="145909512"/>
                    </a:ext>
                  </a:extLst>
                </a:gridCol>
                <a:gridCol w="3650796">
                  <a:extLst>
                    <a:ext uri="{9D8B030D-6E8A-4147-A177-3AD203B41FA5}">
                      <a16:colId xmlns:a16="http://schemas.microsoft.com/office/drawing/2014/main" val="3327886792"/>
                    </a:ext>
                  </a:extLst>
                </a:gridCol>
                <a:gridCol w="3131004">
                  <a:extLst>
                    <a:ext uri="{9D8B030D-6E8A-4147-A177-3AD203B41FA5}">
                      <a16:colId xmlns:a16="http://schemas.microsoft.com/office/drawing/2014/main" val="441864048"/>
                    </a:ext>
                  </a:extLst>
                </a:gridCol>
              </a:tblGrid>
              <a:tr h="825500">
                <a:tc>
                  <a:txBody>
                    <a:bodyPr/>
                    <a:lstStyle/>
                    <a:p>
                      <a:pPr marL="0" marR="0">
                        <a:spcAft>
                          <a:spcPts val="800"/>
                        </a:spcAft>
                        <a:buNone/>
                      </a:pPr>
                      <a:r>
                        <a:rPr lang="en-US" sz="2000" b="1" dirty="0">
                          <a:effectLst/>
                          <a:latin typeface="Times New Roman" panose="02020603050405020304" pitchFamily="18" charset="0"/>
                          <a:cs typeface="Times New Roman" panose="02020603050405020304" pitchFamily="18" charset="0"/>
                        </a:rPr>
                        <a:t>Property Type</a:t>
                      </a:r>
                      <a:endParaRPr lang="en-US" sz="2000" dirty="0">
                        <a:effectLst/>
                        <a:latin typeface="Times New Roman" panose="02020603050405020304" pitchFamily="18" charset="0"/>
                        <a:cs typeface="Times New Roman" panose="02020603050405020304" pitchFamily="18" charset="0"/>
                      </a:endParaRPr>
                    </a:p>
                  </a:txBody>
                  <a:tcPr marL="9525" marR="9525" marT="9525" marB="9525"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marL="0" marR="0">
                        <a:spcAft>
                          <a:spcPts val="800"/>
                        </a:spcAft>
                        <a:buNone/>
                      </a:pPr>
                      <a:r>
                        <a:rPr lang="en-US" sz="2000" b="1">
                          <a:effectLst/>
                          <a:latin typeface="Times New Roman" panose="02020603050405020304" pitchFamily="18" charset="0"/>
                          <a:cs typeface="Times New Roman" panose="02020603050405020304" pitchFamily="18" charset="0"/>
                        </a:rPr>
                        <a:t>Description</a:t>
                      </a:r>
                      <a:endParaRPr lang="en-US" sz="2000">
                        <a:effectLst/>
                        <a:latin typeface="Times New Roman" panose="02020603050405020304" pitchFamily="18" charset="0"/>
                        <a:cs typeface="Times New Roman" panose="02020603050405020304" pitchFamily="18" charset="0"/>
                      </a:endParaRPr>
                    </a:p>
                  </a:txBody>
                  <a:tcPr marL="9525" marR="9525" marT="9525" marB="9525"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marL="0" marR="0">
                        <a:spcAft>
                          <a:spcPts val="800"/>
                        </a:spcAft>
                        <a:buNone/>
                      </a:pPr>
                      <a:r>
                        <a:rPr lang="en-US" sz="2000" b="1">
                          <a:effectLst/>
                          <a:latin typeface="Times New Roman" panose="02020603050405020304" pitchFamily="18" charset="0"/>
                          <a:cs typeface="Times New Roman" panose="02020603050405020304" pitchFamily="18" charset="0"/>
                        </a:rPr>
                        <a:t>Legal Characteristics</a:t>
                      </a:r>
                      <a:endParaRPr lang="en-US" sz="2000">
                        <a:effectLst/>
                        <a:latin typeface="Times New Roman" panose="02020603050405020304" pitchFamily="18" charset="0"/>
                        <a:cs typeface="Times New Roman" panose="02020603050405020304" pitchFamily="18" charset="0"/>
                      </a:endParaRPr>
                    </a:p>
                  </a:txBody>
                  <a:tcPr marL="9525" marR="9525" marT="9525" marB="9525"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228665917"/>
                  </a:ext>
                </a:extLst>
              </a:tr>
              <a:tr h="825500">
                <a:tc>
                  <a:txBody>
                    <a:bodyPr/>
                    <a:lstStyle/>
                    <a:p>
                      <a:pPr marL="0" marR="0">
                        <a:spcAft>
                          <a:spcPts val="800"/>
                        </a:spcAft>
                        <a:buNone/>
                      </a:pPr>
                      <a:r>
                        <a:rPr lang="en-US" sz="2000" b="1" dirty="0">
                          <a:effectLst/>
                          <a:latin typeface="Times New Roman" panose="02020603050405020304" pitchFamily="18" charset="0"/>
                          <a:cs typeface="Times New Roman" panose="02020603050405020304" pitchFamily="18" charset="0"/>
                        </a:rPr>
                        <a:t>Private Property</a:t>
                      </a:r>
                      <a:endParaRPr lang="en-US" sz="2000" dirty="0">
                        <a:effectLst/>
                        <a:latin typeface="Times New Roman" panose="02020603050405020304" pitchFamily="18" charset="0"/>
                        <a:cs typeface="Times New Roman" panose="02020603050405020304" pitchFamily="18" charset="0"/>
                      </a:endParaRPr>
                    </a:p>
                  </a:txBody>
                  <a:tcPr marL="9525" marR="9525" marT="9525" marB="9525"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marL="0" marR="0">
                        <a:spcAft>
                          <a:spcPts val="800"/>
                        </a:spcAft>
                        <a:buNone/>
                      </a:pPr>
                      <a:r>
                        <a:rPr lang="en-US" sz="2000" dirty="0">
                          <a:effectLst/>
                          <a:latin typeface="Times New Roman" panose="02020603050405020304" pitchFamily="18" charset="0"/>
                          <a:cs typeface="Times New Roman" panose="02020603050405020304" pitchFamily="18" charset="0"/>
                        </a:rPr>
                        <a:t>Individually owned property</a:t>
                      </a:r>
                    </a:p>
                  </a:txBody>
                  <a:tcPr marL="9525" marR="9525" marT="9525" marB="9525"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marL="0" marR="0">
                        <a:spcAft>
                          <a:spcPts val="800"/>
                        </a:spcAft>
                        <a:buNone/>
                      </a:pPr>
                      <a:r>
                        <a:rPr lang="en-US" sz="2000">
                          <a:effectLst/>
                          <a:latin typeface="Times New Roman" panose="02020603050405020304" pitchFamily="18" charset="0"/>
                          <a:cs typeface="Times New Roman" panose="02020603050405020304" pitchFamily="18" charset="0"/>
                        </a:rPr>
                        <a:t>Full ownership rights, transferable</a:t>
                      </a:r>
                    </a:p>
                  </a:txBody>
                  <a:tcPr marL="9525" marR="9525" marT="9525" marB="9525"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2235750336"/>
                  </a:ext>
                </a:extLst>
              </a:tr>
              <a:tr h="825500">
                <a:tc>
                  <a:txBody>
                    <a:bodyPr/>
                    <a:lstStyle/>
                    <a:p>
                      <a:pPr marL="0" marR="0">
                        <a:spcAft>
                          <a:spcPts val="800"/>
                        </a:spcAft>
                        <a:buNone/>
                      </a:pPr>
                      <a:r>
                        <a:rPr lang="en-US" sz="2000" b="1">
                          <a:effectLst/>
                          <a:latin typeface="Times New Roman" panose="02020603050405020304" pitchFamily="18" charset="0"/>
                          <a:cs typeface="Times New Roman" panose="02020603050405020304" pitchFamily="18" charset="0"/>
                        </a:rPr>
                        <a:t>Joint Property</a:t>
                      </a:r>
                      <a:endParaRPr lang="en-US" sz="2000">
                        <a:effectLst/>
                        <a:latin typeface="Times New Roman" panose="02020603050405020304" pitchFamily="18" charset="0"/>
                        <a:cs typeface="Times New Roman" panose="02020603050405020304" pitchFamily="18" charset="0"/>
                      </a:endParaRPr>
                    </a:p>
                  </a:txBody>
                  <a:tcPr marL="9525" marR="9525" marT="9525" marB="9525"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marL="0" marR="0">
                        <a:spcAft>
                          <a:spcPts val="800"/>
                        </a:spcAft>
                        <a:buNone/>
                      </a:pPr>
                      <a:r>
                        <a:rPr lang="en-US" sz="2000" dirty="0">
                          <a:effectLst/>
                          <a:latin typeface="Times New Roman" panose="02020603050405020304" pitchFamily="18" charset="0"/>
                          <a:cs typeface="Times New Roman" panose="02020603050405020304" pitchFamily="18" charset="0"/>
                        </a:rPr>
                        <a:t>Co-owned by multiple parties</a:t>
                      </a:r>
                    </a:p>
                  </a:txBody>
                  <a:tcPr marL="9525" marR="9525" marT="9525" marB="9525"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marL="0" marR="0">
                        <a:spcAft>
                          <a:spcPts val="800"/>
                        </a:spcAft>
                        <a:buNone/>
                      </a:pPr>
                      <a:r>
                        <a:rPr lang="en-US" sz="2000">
                          <a:effectLst/>
                          <a:latin typeface="Times New Roman" panose="02020603050405020304" pitchFamily="18" charset="0"/>
                          <a:cs typeface="Times New Roman" panose="02020603050405020304" pitchFamily="18" charset="0"/>
                        </a:rPr>
                        <a:t>Shared ownership, partition rights</a:t>
                      </a:r>
                    </a:p>
                  </a:txBody>
                  <a:tcPr marL="9525" marR="9525" marT="9525" marB="9525"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216149448"/>
                  </a:ext>
                </a:extLst>
              </a:tr>
              <a:tr h="825500">
                <a:tc>
                  <a:txBody>
                    <a:bodyPr/>
                    <a:lstStyle/>
                    <a:p>
                      <a:pPr marL="0" marR="0">
                        <a:spcAft>
                          <a:spcPts val="800"/>
                        </a:spcAft>
                        <a:buNone/>
                      </a:pPr>
                      <a:r>
                        <a:rPr lang="en-US" sz="2000" b="1">
                          <a:effectLst/>
                          <a:latin typeface="Times New Roman" panose="02020603050405020304" pitchFamily="18" charset="0"/>
                          <a:cs typeface="Times New Roman" panose="02020603050405020304" pitchFamily="18" charset="0"/>
                        </a:rPr>
                        <a:t>Community Property</a:t>
                      </a:r>
                      <a:endParaRPr lang="en-US" sz="2000">
                        <a:effectLst/>
                        <a:latin typeface="Times New Roman" panose="02020603050405020304" pitchFamily="18" charset="0"/>
                        <a:cs typeface="Times New Roman" panose="02020603050405020304" pitchFamily="18" charset="0"/>
                      </a:endParaRPr>
                    </a:p>
                  </a:txBody>
                  <a:tcPr marL="9525" marR="9525" marT="9525" marB="9525"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marL="0" marR="0">
                        <a:spcAft>
                          <a:spcPts val="800"/>
                        </a:spcAft>
                        <a:buNone/>
                      </a:pPr>
                      <a:r>
                        <a:rPr lang="en-US" sz="2000" dirty="0">
                          <a:effectLst/>
                          <a:latin typeface="Times New Roman" panose="02020603050405020304" pitchFamily="18" charset="0"/>
                          <a:cs typeface="Times New Roman" panose="02020603050405020304" pitchFamily="18" charset="0"/>
                        </a:rPr>
                        <a:t>Collectively owned by community</a:t>
                      </a:r>
                    </a:p>
                  </a:txBody>
                  <a:tcPr marL="9525" marR="9525" marT="9525" marB="9525"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marL="0" marR="0">
                        <a:spcAft>
                          <a:spcPts val="800"/>
                        </a:spcAft>
                        <a:buNone/>
                      </a:pPr>
                      <a:r>
                        <a:rPr lang="en-US" sz="2000">
                          <a:effectLst/>
                          <a:latin typeface="Times New Roman" panose="02020603050405020304" pitchFamily="18" charset="0"/>
                          <a:cs typeface="Times New Roman" panose="02020603050405020304" pitchFamily="18" charset="0"/>
                        </a:rPr>
                        <a:t>Community management, restricted transfer</a:t>
                      </a:r>
                    </a:p>
                  </a:txBody>
                  <a:tcPr marL="9525" marR="9525" marT="9525" marB="9525"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1608140511"/>
                  </a:ext>
                </a:extLst>
              </a:tr>
              <a:tr h="825500">
                <a:tc>
                  <a:txBody>
                    <a:bodyPr/>
                    <a:lstStyle/>
                    <a:p>
                      <a:pPr marL="0" marR="0">
                        <a:spcAft>
                          <a:spcPts val="800"/>
                        </a:spcAft>
                        <a:buNone/>
                      </a:pPr>
                      <a:r>
                        <a:rPr lang="en-US" sz="2000" b="1">
                          <a:effectLst/>
                          <a:latin typeface="Times New Roman" panose="02020603050405020304" pitchFamily="18" charset="0"/>
                          <a:cs typeface="Times New Roman" panose="02020603050405020304" pitchFamily="18" charset="0"/>
                        </a:rPr>
                        <a:t>Public Property</a:t>
                      </a:r>
                      <a:endParaRPr lang="en-US" sz="2000">
                        <a:effectLst/>
                        <a:latin typeface="Times New Roman" panose="02020603050405020304" pitchFamily="18" charset="0"/>
                        <a:cs typeface="Times New Roman" panose="02020603050405020304" pitchFamily="18" charset="0"/>
                      </a:endParaRPr>
                    </a:p>
                  </a:txBody>
                  <a:tcPr marL="9525" marR="9525" marT="9525" marB="9525"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marL="0" marR="0">
                        <a:spcAft>
                          <a:spcPts val="800"/>
                        </a:spcAft>
                        <a:buNone/>
                      </a:pPr>
                      <a:r>
                        <a:rPr lang="en-US" sz="2000" dirty="0">
                          <a:effectLst/>
                          <a:latin typeface="Times New Roman" panose="02020603050405020304" pitchFamily="18" charset="0"/>
                          <a:cs typeface="Times New Roman" panose="02020603050405020304" pitchFamily="18" charset="0"/>
                        </a:rPr>
                        <a:t>Government-owned property</a:t>
                      </a:r>
                    </a:p>
                  </a:txBody>
                  <a:tcPr marL="9525" marR="9525" marT="9525" marB="9525"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marL="0" marR="0">
                        <a:spcAft>
                          <a:spcPts val="800"/>
                        </a:spcAft>
                        <a:buNone/>
                      </a:pPr>
                      <a:r>
                        <a:rPr lang="en-US" sz="2000">
                          <a:effectLst/>
                          <a:latin typeface="Times New Roman" panose="02020603050405020304" pitchFamily="18" charset="0"/>
                          <a:cs typeface="Times New Roman" panose="02020603050405020304" pitchFamily="18" charset="0"/>
                        </a:rPr>
                        <a:t>Public use, government administration</a:t>
                      </a:r>
                    </a:p>
                  </a:txBody>
                  <a:tcPr marL="9525" marR="9525" marT="9525" marB="9525"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3222238682"/>
                  </a:ext>
                </a:extLst>
              </a:tr>
              <a:tr h="825500">
                <a:tc>
                  <a:txBody>
                    <a:bodyPr/>
                    <a:lstStyle/>
                    <a:p>
                      <a:pPr marL="0" marR="0">
                        <a:spcAft>
                          <a:spcPts val="800"/>
                        </a:spcAft>
                        <a:buNone/>
                      </a:pPr>
                      <a:r>
                        <a:rPr lang="en-US" sz="2000" b="1" dirty="0">
                          <a:effectLst/>
                          <a:latin typeface="Times New Roman" panose="02020603050405020304" pitchFamily="18" charset="0"/>
                          <a:cs typeface="Times New Roman" panose="02020603050405020304" pitchFamily="18" charset="0"/>
                        </a:rPr>
                        <a:t>Government Property</a:t>
                      </a:r>
                      <a:endParaRPr lang="en-US" sz="2000" dirty="0">
                        <a:effectLst/>
                        <a:latin typeface="Times New Roman" panose="02020603050405020304" pitchFamily="18" charset="0"/>
                        <a:cs typeface="Times New Roman" panose="02020603050405020304" pitchFamily="18" charset="0"/>
                      </a:endParaRPr>
                    </a:p>
                  </a:txBody>
                  <a:tcPr marL="9525" marR="9525" marT="9525" marB="9525"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marL="0" marR="0">
                        <a:spcAft>
                          <a:spcPts val="800"/>
                        </a:spcAft>
                        <a:buNone/>
                      </a:pPr>
                      <a:r>
                        <a:rPr lang="en-US" sz="2000" dirty="0">
                          <a:effectLst/>
                          <a:latin typeface="Times New Roman" panose="02020603050405020304" pitchFamily="18" charset="0"/>
                          <a:cs typeface="Times New Roman" panose="02020603050405020304" pitchFamily="18" charset="0"/>
                        </a:rPr>
                        <a:t>State-owned land and assets</a:t>
                      </a:r>
                    </a:p>
                  </a:txBody>
                  <a:tcPr marL="9525" marR="9525" marT="9525" marB="9525"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marL="0" marR="0">
                        <a:spcAft>
                          <a:spcPts val="800"/>
                        </a:spcAft>
                        <a:buNone/>
                      </a:pPr>
                      <a:r>
                        <a:rPr lang="en-US" sz="2000" dirty="0">
                          <a:effectLst/>
                          <a:latin typeface="Times New Roman" panose="02020603050405020304" pitchFamily="18" charset="0"/>
                          <a:cs typeface="Times New Roman" panose="02020603050405020304" pitchFamily="18" charset="0"/>
                        </a:rPr>
                        <a:t>Official use, strict transfer restrictions</a:t>
                      </a:r>
                    </a:p>
                  </a:txBody>
                  <a:tcPr marL="9525" marR="9525" marT="9525" marB="9525"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2404725439"/>
                  </a:ext>
                </a:extLst>
              </a:tr>
            </a:tbl>
          </a:graphicData>
        </a:graphic>
      </p:graphicFrame>
    </p:spTree>
    <p:extLst>
      <p:ext uri="{BB962C8B-B14F-4D97-AF65-F5344CB8AC3E}">
        <p14:creationId xmlns:p14="http://schemas.microsoft.com/office/powerpoint/2010/main" val="360108637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7B78FD-56B1-8C45-D242-AFD94B14306B}"/>
              </a:ext>
            </a:extLst>
          </p:cNvPr>
          <p:cNvSpPr>
            <a:spLocks noGrp="1"/>
          </p:cNvSpPr>
          <p:nvPr>
            <p:ph type="title"/>
          </p:nvPr>
        </p:nvSpPr>
        <p:spPr/>
        <p:txBody>
          <a:bodyPr/>
          <a:lstStyle/>
          <a:p>
            <a:r>
              <a:rPr lang="en-US" dirty="0"/>
              <a:t>Land Law</a:t>
            </a:r>
          </a:p>
        </p:txBody>
      </p:sp>
      <p:sp>
        <p:nvSpPr>
          <p:cNvPr id="3" name="Title 1">
            <a:extLst>
              <a:ext uri="{FF2B5EF4-FFF2-40B4-BE49-F238E27FC236}">
                <a16:creationId xmlns:a16="http://schemas.microsoft.com/office/drawing/2014/main" id="{B0A765B8-D5E9-9AA6-ADDC-2278134D680E}"/>
              </a:ext>
            </a:extLst>
          </p:cNvPr>
          <p:cNvSpPr txBox="1">
            <a:spLocks/>
          </p:cNvSpPr>
          <p:nvPr/>
        </p:nvSpPr>
        <p:spPr>
          <a:xfrm>
            <a:off x="609600" y="2286000"/>
            <a:ext cx="8229600" cy="990600"/>
          </a:xfrm>
          <a:prstGeom prst="rect">
            <a:avLst/>
          </a:prstGeom>
        </p:spPr>
        <p:txBody>
          <a:bodyPr vert="horz" lIns="91440" tIns="45720" rIns="91440" bIns="45720" rtlCol="0" anchor="ctr">
            <a:normAutofit/>
          </a:bodyPr>
          <a:lstStyle>
            <a:lvl1pPr algn="l" defTabSz="914400" rtl="0" eaLnBrk="1" latinLnBrk="0" hangingPunct="1">
              <a:spcBef>
                <a:spcPct val="0"/>
              </a:spcBef>
              <a:buNone/>
              <a:defRPr sz="4000" kern="1200" spc="-100" baseline="0">
                <a:solidFill>
                  <a:schemeClr val="tx2"/>
                </a:solidFill>
                <a:latin typeface="+mj-lt"/>
                <a:ea typeface="+mj-ea"/>
                <a:cs typeface="+mj-cs"/>
              </a:defRPr>
            </a:lvl1pPr>
          </a:lstStyle>
          <a:p>
            <a:r>
              <a:rPr lang="en-US" b="1" spc="0" dirty="0">
                <a:ln w="22225">
                  <a:solidFill>
                    <a:schemeClr val="accent2"/>
                  </a:solidFill>
                  <a:prstDash val="solid"/>
                </a:ln>
                <a:solidFill>
                  <a:schemeClr val="accent2">
                    <a:lumMod val="40000"/>
                    <a:lumOff val="60000"/>
                  </a:schemeClr>
                </a:solidFill>
              </a:rPr>
              <a:t>Discussion……?????</a:t>
            </a:r>
          </a:p>
        </p:txBody>
      </p:sp>
    </p:spTree>
    <p:extLst>
      <p:ext uri="{BB962C8B-B14F-4D97-AF65-F5344CB8AC3E}">
        <p14:creationId xmlns:p14="http://schemas.microsoft.com/office/powerpoint/2010/main" val="241207229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3C72EA-7A01-7257-4D3A-01944C369CF9}"/>
              </a:ext>
            </a:extLst>
          </p:cNvPr>
          <p:cNvSpPr>
            <a:spLocks noGrp="1"/>
          </p:cNvSpPr>
          <p:nvPr>
            <p:ph type="title"/>
          </p:nvPr>
        </p:nvSpPr>
        <p:spPr>
          <a:xfrm>
            <a:off x="457200" y="76200"/>
            <a:ext cx="8229600" cy="990600"/>
          </a:xfrm>
        </p:spPr>
        <p:txBody>
          <a:bodyPr/>
          <a:lstStyle/>
          <a:p>
            <a:r>
              <a:rPr lang="en-US" dirty="0">
                <a:latin typeface="Times New Roman" panose="02020603050405020304" pitchFamily="18" charset="0"/>
                <a:cs typeface="Times New Roman" panose="02020603050405020304" pitchFamily="18" charset="0"/>
              </a:rPr>
              <a:t>Land Law</a:t>
            </a:r>
          </a:p>
        </p:txBody>
      </p:sp>
      <p:sp>
        <p:nvSpPr>
          <p:cNvPr id="3" name="Content Placeholder 2">
            <a:extLst>
              <a:ext uri="{FF2B5EF4-FFF2-40B4-BE49-F238E27FC236}">
                <a16:creationId xmlns:a16="http://schemas.microsoft.com/office/drawing/2014/main" id="{36488053-D881-27E7-049D-4336EF380ABB}"/>
              </a:ext>
            </a:extLst>
          </p:cNvPr>
          <p:cNvSpPr>
            <a:spLocks noGrp="1"/>
          </p:cNvSpPr>
          <p:nvPr>
            <p:ph idx="1"/>
          </p:nvPr>
        </p:nvSpPr>
        <p:spPr>
          <a:xfrm>
            <a:off x="152400" y="838200"/>
            <a:ext cx="8915400" cy="5867400"/>
          </a:xfrm>
        </p:spPr>
        <p:txBody>
          <a:bodyPr>
            <a:noAutofit/>
          </a:bodyPr>
          <a:lstStyle/>
          <a:p>
            <a:pPr marL="182563" indent="-182563" algn="just">
              <a:lnSpc>
                <a:spcPct val="150000"/>
              </a:lnSpc>
            </a:pPr>
            <a:r>
              <a:rPr lang="en-US" dirty="0">
                <a:latin typeface="Times New Roman" panose="02020603050405020304" pitchFamily="18" charset="0"/>
                <a:cs typeface="Times New Roman" panose="02020603050405020304" pitchFamily="18" charset="0"/>
              </a:rPr>
              <a:t>Land Law focuses upon the uses and supply of land. It looks to facilitate how an owner of land may use it or moderate how others do so; this relationship can develop into ‘interests’ in the land. </a:t>
            </a:r>
          </a:p>
          <a:p>
            <a:pPr marL="182563" indent="-182563" algn="just">
              <a:lnSpc>
                <a:spcPct val="150000"/>
              </a:lnSpc>
            </a:pPr>
            <a:r>
              <a:rPr lang="en-US" dirty="0">
                <a:latin typeface="Times New Roman" panose="02020603050405020304" pitchFamily="18" charset="0"/>
                <a:cs typeface="Times New Roman" panose="02020603050405020304" pitchFamily="18" charset="0"/>
              </a:rPr>
              <a:t>Land law will examine the different interests that a person may have in land and how the law seeks to resolve conflicts through statute, common law and equity.</a:t>
            </a:r>
          </a:p>
          <a:p>
            <a:pPr algn="just">
              <a:lnSpc>
                <a:spcPct val="150000"/>
              </a:lnSpc>
            </a:pPr>
            <a:r>
              <a:rPr lang="en-US" dirty="0">
                <a:latin typeface="Times New Roman" panose="02020603050405020304" pitchFamily="18" charset="0"/>
                <a:cs typeface="Times New Roman" panose="02020603050405020304" pitchFamily="18" charset="0"/>
              </a:rPr>
              <a:t>Land law impacts upon many facets of our day-to-day living, it determines: the difference between what is property and what is land; who owns property in the land; who may have access to land; your rights to land as a tenant, and; what you can do with your land. </a:t>
            </a:r>
          </a:p>
        </p:txBody>
      </p:sp>
    </p:spTree>
    <p:extLst>
      <p:ext uri="{BB962C8B-B14F-4D97-AF65-F5344CB8AC3E}">
        <p14:creationId xmlns:p14="http://schemas.microsoft.com/office/powerpoint/2010/main" val="312257245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80818552-9931-C66B-38E4-02ECBBA0EDAE}"/>
              </a:ext>
            </a:extLst>
          </p:cNvPr>
          <p:cNvSpPr>
            <a:spLocks noGrp="1"/>
          </p:cNvSpPr>
          <p:nvPr>
            <p:ph idx="1"/>
          </p:nvPr>
        </p:nvSpPr>
        <p:spPr>
          <a:xfrm>
            <a:off x="76200" y="685800"/>
            <a:ext cx="8839200" cy="5410200"/>
          </a:xfrm>
        </p:spPr>
        <p:txBody>
          <a:bodyPr/>
          <a:lstStyle/>
          <a:p>
            <a:pPr marL="0" indent="0">
              <a:buNone/>
            </a:pPr>
            <a:r>
              <a:rPr lang="en-US" dirty="0">
                <a:solidFill>
                  <a:srgbClr val="FF0000"/>
                </a:solidFill>
                <a:latin typeface="Times New Roman" panose="02020603050405020304" pitchFamily="18" charset="0"/>
                <a:cs typeface="Times New Roman" panose="02020603050405020304" pitchFamily="18" charset="0"/>
              </a:rPr>
              <a:t>Land Law…</a:t>
            </a:r>
          </a:p>
          <a:p>
            <a:pPr marL="0" indent="0">
              <a:buNone/>
            </a:pPr>
            <a:endParaRPr lang="en-US" dirty="0">
              <a:latin typeface="Times New Roman" panose="02020603050405020304" pitchFamily="18" charset="0"/>
              <a:cs typeface="Times New Roman" panose="02020603050405020304" pitchFamily="18" charset="0"/>
            </a:endParaRPr>
          </a:p>
          <a:p>
            <a:pPr algn="just"/>
            <a:r>
              <a:rPr lang="en-US" dirty="0">
                <a:latin typeface="Times New Roman" panose="02020603050405020304" pitchFamily="18" charset="0"/>
                <a:cs typeface="Times New Roman" panose="02020603050405020304" pitchFamily="18" charset="0"/>
              </a:rPr>
              <a:t>Land law is unusual in that you can own it outright but still be limited in how you can use it. There are many reasons for this such as agreements reached by a previous owner or because you failed to notice how the land was used when you purchased it. As such, land law is heavily governed by how your </a:t>
            </a:r>
            <a:r>
              <a:rPr lang="en-US" dirty="0" err="1">
                <a:latin typeface="Times New Roman" panose="02020603050405020304" pitchFamily="18" charset="0"/>
                <a:cs typeface="Times New Roman" panose="02020603050405020304" pitchFamily="18" charset="0"/>
              </a:rPr>
              <a:t>neighbours</a:t>
            </a:r>
            <a:r>
              <a:rPr lang="en-US" dirty="0">
                <a:latin typeface="Times New Roman" panose="02020603050405020304" pitchFamily="18" charset="0"/>
                <a:cs typeface="Times New Roman" panose="02020603050405020304" pitchFamily="18" charset="0"/>
              </a:rPr>
              <a:t> interact with land and what you could have been expected to know.</a:t>
            </a:r>
          </a:p>
          <a:p>
            <a:pPr marL="0" indent="0">
              <a:buNone/>
            </a:pPr>
            <a:endParaRPr lang="en-US" dirty="0"/>
          </a:p>
        </p:txBody>
      </p:sp>
    </p:spTree>
    <p:extLst>
      <p:ext uri="{BB962C8B-B14F-4D97-AF65-F5344CB8AC3E}">
        <p14:creationId xmlns:p14="http://schemas.microsoft.com/office/powerpoint/2010/main" val="170422801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028615-6A2A-6517-6728-1A5ABBEB0260}"/>
              </a:ext>
            </a:extLst>
          </p:cNvPr>
          <p:cNvSpPr>
            <a:spLocks noGrp="1"/>
          </p:cNvSpPr>
          <p:nvPr>
            <p:ph type="title"/>
          </p:nvPr>
        </p:nvSpPr>
        <p:spPr>
          <a:xfrm>
            <a:off x="342900" y="133350"/>
            <a:ext cx="8458200" cy="1447800"/>
          </a:xfrm>
        </p:spPr>
        <p:txBody>
          <a:bodyPr>
            <a:normAutofit/>
          </a:bodyPr>
          <a:lstStyle/>
          <a:p>
            <a:pPr algn="ctr"/>
            <a:r>
              <a:rPr lang="en-US" sz="3600" dirty="0">
                <a:latin typeface="Times New Roman" panose="02020603050405020304" pitchFamily="18" charset="0"/>
                <a:cs typeface="Times New Roman" panose="02020603050405020304" pitchFamily="18" charset="0"/>
              </a:rPr>
              <a:t>LAND RELATED POLICIES AND LAWS IN NEPAL</a:t>
            </a:r>
          </a:p>
        </p:txBody>
      </p:sp>
      <p:sp>
        <p:nvSpPr>
          <p:cNvPr id="3" name="Content Placeholder 2">
            <a:extLst>
              <a:ext uri="{FF2B5EF4-FFF2-40B4-BE49-F238E27FC236}">
                <a16:creationId xmlns:a16="http://schemas.microsoft.com/office/drawing/2014/main" id="{BF734369-4353-825E-7605-BB15A2491032}"/>
              </a:ext>
            </a:extLst>
          </p:cNvPr>
          <p:cNvSpPr>
            <a:spLocks noGrp="1"/>
          </p:cNvSpPr>
          <p:nvPr>
            <p:ph idx="1"/>
          </p:nvPr>
        </p:nvSpPr>
        <p:spPr>
          <a:xfrm>
            <a:off x="76200" y="1905000"/>
            <a:ext cx="9067800" cy="4953000"/>
          </a:xfrm>
        </p:spPr>
        <p:txBody>
          <a:bodyPr>
            <a:normAutofit/>
          </a:bodyPr>
          <a:lstStyle/>
          <a:p>
            <a:pPr marL="0" indent="0">
              <a:lnSpc>
                <a:spcPct val="150000"/>
              </a:lnSpc>
              <a:buNone/>
            </a:pPr>
            <a:r>
              <a:rPr lang="en-US" sz="2800" b="1" u="sng" dirty="0">
                <a:solidFill>
                  <a:srgbClr val="FF0000"/>
                </a:solidFill>
                <a:latin typeface="Times New Roman" panose="02020603050405020304" pitchFamily="18" charset="0"/>
                <a:cs typeface="Times New Roman" panose="02020603050405020304" pitchFamily="18" charset="0"/>
              </a:rPr>
              <a:t>The Constitution of Nepal, 2015</a:t>
            </a:r>
          </a:p>
          <a:p>
            <a:pPr algn="just">
              <a:lnSpc>
                <a:spcPct val="150000"/>
              </a:lnSpc>
            </a:pPr>
            <a:r>
              <a:rPr lang="en-US" dirty="0">
                <a:latin typeface="Times New Roman" panose="02020603050405020304" pitchFamily="18" charset="0"/>
                <a:cs typeface="Times New Roman" panose="02020603050405020304" pitchFamily="18" charset="0"/>
              </a:rPr>
              <a:t>Article 51 has the mention of “policies of the state” under it “policies relating to agriculture and land reforms” are specifically written. </a:t>
            </a:r>
          </a:p>
          <a:p>
            <a:pPr algn="just">
              <a:lnSpc>
                <a:spcPct val="150000"/>
              </a:lnSpc>
            </a:pPr>
            <a:r>
              <a:rPr lang="en-US" dirty="0">
                <a:latin typeface="Times New Roman" panose="02020603050405020304" pitchFamily="18" charset="0"/>
                <a:cs typeface="Times New Roman" panose="02020603050405020304" pitchFamily="18" charset="0"/>
              </a:rPr>
              <a:t>The major provisions comprise as follows:</a:t>
            </a:r>
          </a:p>
          <a:p>
            <a:pPr marL="0" indent="0" algn="just">
              <a:lnSpc>
                <a:spcPct val="150000"/>
              </a:lnSpc>
              <a:buNone/>
            </a:pPr>
            <a:r>
              <a:rPr lang="en-US" dirty="0">
                <a:latin typeface="Times New Roman" panose="02020603050405020304" pitchFamily="18" charset="0"/>
                <a:cs typeface="Times New Roman" panose="02020603050405020304" pitchFamily="18" charset="0"/>
              </a:rPr>
              <a:t>(</a:t>
            </a:r>
            <a:r>
              <a:rPr lang="en-US" dirty="0" err="1">
                <a:latin typeface="Times New Roman" panose="02020603050405020304" pitchFamily="18" charset="0"/>
                <a:cs typeface="Times New Roman" panose="02020603050405020304" pitchFamily="18" charset="0"/>
              </a:rPr>
              <a:t>i</a:t>
            </a:r>
            <a:r>
              <a:rPr lang="en-US" dirty="0">
                <a:latin typeface="Times New Roman" panose="02020603050405020304" pitchFamily="18" charset="0"/>
                <a:cs typeface="Times New Roman" panose="02020603050405020304" pitchFamily="18" charset="0"/>
              </a:rPr>
              <a:t>) to implement scientific land reforms having regard to the interests of the peasants by ending the existing dual ownership in the lands; </a:t>
            </a:r>
          </a:p>
          <a:p>
            <a:pPr marL="0" indent="0" algn="just">
              <a:lnSpc>
                <a:spcPct val="150000"/>
              </a:lnSpc>
              <a:buNone/>
            </a:pPr>
            <a:r>
              <a:rPr lang="en-US" dirty="0">
                <a:latin typeface="Times New Roman" panose="02020603050405020304" pitchFamily="18" charset="0"/>
                <a:cs typeface="Times New Roman" panose="02020603050405020304" pitchFamily="18" charset="0"/>
              </a:rPr>
              <a:t>(ii) to enhance product and productivity through land consolidation by disincentivizing the absentee landlordism(</a:t>
            </a:r>
            <a:r>
              <a:rPr lang="ne-NP" dirty="0">
                <a:latin typeface="Times New Roman" panose="02020603050405020304" pitchFamily="18" charset="0"/>
                <a:cs typeface="Times New Roman" panose="02020603050405020304" pitchFamily="18" charset="0"/>
              </a:rPr>
              <a:t>जमिन्दारवाद)</a:t>
            </a:r>
            <a:r>
              <a:rPr lang="en-US" dirty="0">
                <a:latin typeface="Times New Roman" panose="02020603050405020304" pitchFamily="18" charset="0"/>
                <a:cs typeface="Times New Roman" panose="02020603050405020304" pitchFamily="18" charset="0"/>
              </a:rPr>
              <a:t>; </a:t>
            </a:r>
          </a:p>
        </p:txBody>
      </p:sp>
      <p:sp>
        <p:nvSpPr>
          <p:cNvPr id="4" name="Title 1">
            <a:extLst>
              <a:ext uri="{FF2B5EF4-FFF2-40B4-BE49-F238E27FC236}">
                <a16:creationId xmlns:a16="http://schemas.microsoft.com/office/drawing/2014/main" id="{6A0F7A9C-BD00-F28D-EFFC-24B954EF02D9}"/>
              </a:ext>
            </a:extLst>
          </p:cNvPr>
          <p:cNvSpPr txBox="1">
            <a:spLocks/>
          </p:cNvSpPr>
          <p:nvPr/>
        </p:nvSpPr>
        <p:spPr>
          <a:xfrm>
            <a:off x="437508" y="1066800"/>
            <a:ext cx="7086600" cy="800100"/>
          </a:xfrm>
          <a:prstGeom prst="rect">
            <a:avLst/>
          </a:prstGeom>
        </p:spPr>
        <p:txBody>
          <a:bodyPr vert="horz" lIns="91440" tIns="45720" rIns="91440" bIns="45720" rtlCol="0" anchor="ctr">
            <a:normAutofit fontScale="52500" lnSpcReduction="20000"/>
          </a:bodyPr>
          <a:lstStyle>
            <a:lvl1pPr algn="l" defTabSz="914400" rtl="0" eaLnBrk="1" latinLnBrk="0" hangingPunct="1">
              <a:spcBef>
                <a:spcPct val="0"/>
              </a:spcBef>
              <a:buNone/>
              <a:defRPr sz="4000" kern="1200" spc="-100" baseline="0">
                <a:solidFill>
                  <a:schemeClr val="tx2"/>
                </a:solidFill>
                <a:latin typeface="+mj-lt"/>
                <a:ea typeface="+mj-ea"/>
                <a:cs typeface="+mj-cs"/>
              </a:defRPr>
            </a:lvl1pPr>
          </a:lstStyle>
          <a:p>
            <a:br>
              <a:rPr lang="en-US" dirty="0">
                <a:latin typeface="Times New Roman" panose="02020603050405020304" pitchFamily="18" charset="0"/>
                <a:cs typeface="Times New Roman" panose="02020603050405020304" pitchFamily="18" charset="0"/>
              </a:rPr>
            </a:br>
            <a:r>
              <a:rPr lang="en-US" sz="6000" dirty="0">
                <a:latin typeface="Times New Roman" panose="02020603050405020304" pitchFamily="18" charset="0"/>
                <a:cs typeface="Times New Roman" panose="02020603050405020304" pitchFamily="18" charset="0"/>
              </a:rPr>
              <a:t>Policies</a:t>
            </a:r>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99880915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2C59CA1-6FB6-C353-9E43-21F0B4986F5A}"/>
              </a:ext>
            </a:extLst>
          </p:cNvPr>
          <p:cNvSpPr>
            <a:spLocks noGrp="1"/>
          </p:cNvSpPr>
          <p:nvPr>
            <p:ph idx="1"/>
          </p:nvPr>
        </p:nvSpPr>
        <p:spPr>
          <a:xfrm>
            <a:off x="228600" y="457200"/>
            <a:ext cx="8839200" cy="6324600"/>
          </a:xfrm>
        </p:spPr>
        <p:txBody>
          <a:bodyPr>
            <a:normAutofit lnSpcReduction="10000"/>
          </a:bodyPr>
          <a:lstStyle/>
          <a:p>
            <a:pPr marL="0" indent="0" algn="just">
              <a:lnSpc>
                <a:spcPct val="150000"/>
              </a:lnSpc>
              <a:buNone/>
            </a:pPr>
            <a:r>
              <a:rPr lang="en-US" sz="2600" b="1" u="sng" dirty="0">
                <a:solidFill>
                  <a:srgbClr val="FF0000"/>
                </a:solidFill>
                <a:latin typeface="Times New Roman" panose="02020603050405020304" pitchFamily="18" charset="0"/>
                <a:cs typeface="Times New Roman" panose="02020603050405020304" pitchFamily="18" charset="0"/>
              </a:rPr>
              <a:t>The Constitution of Nepal, 2015</a:t>
            </a:r>
            <a:r>
              <a:rPr lang="en-US" sz="2600" b="1" dirty="0">
                <a:solidFill>
                  <a:srgbClr val="FF0000"/>
                </a:solidFill>
                <a:latin typeface="Times New Roman" panose="02020603050405020304" pitchFamily="18" charset="0"/>
                <a:cs typeface="Times New Roman" panose="02020603050405020304" pitchFamily="18" charset="0"/>
              </a:rPr>
              <a:t>…….</a:t>
            </a:r>
          </a:p>
          <a:p>
            <a:pPr marL="0" indent="0" algn="just">
              <a:lnSpc>
                <a:spcPct val="150000"/>
              </a:lnSpc>
              <a:buNone/>
            </a:pPr>
            <a:r>
              <a:rPr lang="en-US" dirty="0">
                <a:latin typeface="Times New Roman" panose="02020603050405020304" pitchFamily="18" charset="0"/>
                <a:cs typeface="Times New Roman" panose="02020603050405020304" pitchFamily="18" charset="0"/>
              </a:rPr>
              <a:t>(iii) to make land management and commercialization, industrialization, diversification, and modernization of agriculture by pursuing land use policies to augment agricultural product and productivity, while protecting and promoting the rights and interests of the peasants; </a:t>
            </a:r>
          </a:p>
          <a:p>
            <a:pPr marL="0" indent="0" algn="just">
              <a:lnSpc>
                <a:spcPct val="150000"/>
              </a:lnSpc>
              <a:buNone/>
            </a:pPr>
            <a:r>
              <a:rPr lang="en-US" dirty="0">
                <a:latin typeface="Times New Roman" panose="02020603050405020304" pitchFamily="18" charset="0"/>
                <a:cs typeface="Times New Roman" panose="02020603050405020304" pitchFamily="18" charset="0"/>
              </a:rPr>
              <a:t>(iv) to make proper use of lands, while regulating and managing lands on the basis of, inter alia, productivity, nature of lands and ecological balance, and </a:t>
            </a:r>
          </a:p>
          <a:p>
            <a:pPr marL="0" indent="0" algn="just">
              <a:lnSpc>
                <a:spcPct val="150000"/>
              </a:lnSpc>
              <a:buNone/>
            </a:pPr>
            <a:r>
              <a:rPr lang="en-US" dirty="0">
                <a:latin typeface="Times New Roman" panose="02020603050405020304" pitchFamily="18" charset="0"/>
                <a:cs typeface="Times New Roman" panose="02020603050405020304" pitchFamily="18" charset="0"/>
              </a:rPr>
              <a:t>(v) to provide for the farmers’ access to agricultural inputs, </a:t>
            </a:r>
            <a:r>
              <a:rPr lang="en-US" dirty="0" err="1">
                <a:latin typeface="Times New Roman" panose="02020603050405020304" pitchFamily="18" charset="0"/>
                <a:cs typeface="Times New Roman" panose="02020603050405020304" pitchFamily="18" charset="0"/>
              </a:rPr>
              <a:t>agro</a:t>
            </a:r>
            <a:r>
              <a:rPr lang="en-US" dirty="0">
                <a:latin typeface="Times New Roman" panose="02020603050405020304" pitchFamily="18" charset="0"/>
                <a:cs typeface="Times New Roman" panose="02020603050405020304" pitchFamily="18" charset="0"/>
              </a:rPr>
              <a:t>-products, at fair price and markets</a:t>
            </a:r>
          </a:p>
          <a:p>
            <a:pPr marL="0" indent="0">
              <a:buNone/>
            </a:pPr>
            <a:endParaRPr lang="en-US" dirty="0"/>
          </a:p>
        </p:txBody>
      </p:sp>
    </p:spTree>
    <p:extLst>
      <p:ext uri="{BB962C8B-B14F-4D97-AF65-F5344CB8AC3E}">
        <p14:creationId xmlns:p14="http://schemas.microsoft.com/office/powerpoint/2010/main" val="17475871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2805C09-0AA6-C398-0F44-D033DB8F8D8A}"/>
              </a:ext>
            </a:extLst>
          </p:cNvPr>
          <p:cNvSpPr>
            <a:spLocks noGrp="1"/>
          </p:cNvSpPr>
          <p:nvPr>
            <p:ph idx="1"/>
          </p:nvPr>
        </p:nvSpPr>
        <p:spPr>
          <a:xfrm>
            <a:off x="76200" y="381000"/>
            <a:ext cx="8991600" cy="6400800"/>
          </a:xfrm>
        </p:spPr>
        <p:txBody>
          <a:bodyPr>
            <a:normAutofit fontScale="92500" lnSpcReduction="10000"/>
          </a:bodyPr>
          <a:lstStyle/>
          <a:p>
            <a:pPr marL="0" indent="0">
              <a:buNone/>
            </a:pPr>
            <a:r>
              <a:rPr lang="en-US" sz="2800" b="1" dirty="0">
                <a:solidFill>
                  <a:srgbClr val="FF0000"/>
                </a:solidFill>
                <a:latin typeface="Times New Roman" panose="02020603050405020304" pitchFamily="18" charset="0"/>
                <a:cs typeface="Times New Roman" panose="02020603050405020304" pitchFamily="18" charset="0"/>
              </a:rPr>
              <a:t>Land Use Policy, 2015</a:t>
            </a:r>
          </a:p>
          <a:p>
            <a:pPr algn="just">
              <a:lnSpc>
                <a:spcPct val="150000"/>
              </a:lnSpc>
            </a:pPr>
            <a:r>
              <a:rPr lang="en-US" dirty="0">
                <a:latin typeface="Times New Roman" panose="02020603050405020304" pitchFamily="18" charset="0"/>
                <a:cs typeface="Times New Roman" panose="02020603050405020304" pitchFamily="18" charset="0"/>
              </a:rPr>
              <a:t>Land use policy is a document formulated to guide the conservation of limited land and land resource of the nation for its conservation, optimum utilization, and effective management .</a:t>
            </a:r>
          </a:p>
          <a:p>
            <a:pPr algn="just">
              <a:lnSpc>
                <a:spcPct val="150000"/>
              </a:lnSpc>
            </a:pPr>
            <a:r>
              <a:rPr lang="en-US" dirty="0">
                <a:latin typeface="Times New Roman" panose="02020603050405020304" pitchFamily="18" charset="0"/>
                <a:cs typeface="Times New Roman" panose="02020603050405020304" pitchFamily="18" charset="0"/>
              </a:rPr>
              <a:t>This policy has been premised on the ideology for achieving sustainable social, economic, and environmental development and prosperity through the optimum utilization of available land and land resource and this is indeed a long-term vision. </a:t>
            </a:r>
          </a:p>
          <a:p>
            <a:pPr algn="just">
              <a:lnSpc>
                <a:spcPct val="150000"/>
              </a:lnSpc>
            </a:pPr>
            <a:r>
              <a:rPr lang="en-US" dirty="0">
                <a:latin typeface="Times New Roman" panose="02020603050405020304" pitchFamily="18" charset="0"/>
                <a:cs typeface="Times New Roman" panose="02020603050405020304" pitchFamily="18" charset="0"/>
              </a:rPr>
              <a:t>Characteristically, its significant policy provision comprises a “land use zoning” which has 10 categories of land use such as agricultural zone, residential zone, commercial zone, industrial zone, mine and mineral zone, forest zone, river, lake, and pond zone, public use zone, cultural and archaeological zone, other zones designated as per need. </a:t>
            </a:r>
          </a:p>
          <a:p>
            <a:pPr algn="just"/>
            <a:endParaRPr lang="en-US" dirty="0">
              <a:latin typeface="Times New Roman" panose="02020603050405020304" pitchFamily="18" charset="0"/>
              <a:cs typeface="Times New Roman" panose="02020603050405020304" pitchFamily="18" charset="0"/>
            </a:endParaRPr>
          </a:p>
          <a:p>
            <a:pPr algn="just"/>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74486287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0DE7D93B-E81D-94DC-3403-9F03CC291F84}"/>
              </a:ext>
            </a:extLst>
          </p:cNvPr>
          <p:cNvSpPr>
            <a:spLocks noGrp="1"/>
          </p:cNvSpPr>
          <p:nvPr>
            <p:ph idx="1"/>
          </p:nvPr>
        </p:nvSpPr>
        <p:spPr>
          <a:xfrm>
            <a:off x="76200" y="533400"/>
            <a:ext cx="8991600" cy="6248400"/>
          </a:xfrm>
        </p:spPr>
        <p:txBody>
          <a:bodyPr>
            <a:normAutofit/>
          </a:bodyPr>
          <a:lstStyle/>
          <a:p>
            <a:pPr marL="0" indent="0">
              <a:buNone/>
            </a:pPr>
            <a:r>
              <a:rPr lang="en-US" b="1" dirty="0">
                <a:solidFill>
                  <a:srgbClr val="FF0000"/>
                </a:solidFill>
                <a:latin typeface="Times New Roman" panose="02020603050405020304" pitchFamily="18" charset="0"/>
                <a:cs typeface="Times New Roman" panose="02020603050405020304" pitchFamily="18" charset="0"/>
              </a:rPr>
              <a:t>Land Use Policy, 2015…….</a:t>
            </a:r>
          </a:p>
          <a:p>
            <a:pPr algn="just">
              <a:lnSpc>
                <a:spcPct val="150000"/>
              </a:lnSpc>
            </a:pPr>
            <a:r>
              <a:rPr lang="en-US" dirty="0">
                <a:latin typeface="Times New Roman" panose="02020603050405020304" pitchFamily="18" charset="0"/>
                <a:cs typeface="Times New Roman" panose="02020603050405020304" pitchFamily="18" charset="0"/>
              </a:rPr>
              <a:t>This policy provisions emphasize:</a:t>
            </a:r>
          </a:p>
          <a:p>
            <a:pPr marL="0" indent="0" algn="just">
              <a:lnSpc>
                <a:spcPct val="150000"/>
              </a:lnSpc>
              <a:buNone/>
            </a:pP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i</a:t>
            </a:r>
            <a:r>
              <a:rPr lang="en-US" dirty="0">
                <a:latin typeface="Times New Roman" panose="02020603050405020304" pitchFamily="18" charset="0"/>
                <a:cs typeface="Times New Roman" panose="02020603050405020304" pitchFamily="18" charset="0"/>
              </a:rPr>
              <a:t>) formulation of federal, provincial, and local level land use plans and their implementation; </a:t>
            </a:r>
          </a:p>
          <a:p>
            <a:pPr marL="0" indent="0" algn="just">
              <a:lnSpc>
                <a:spcPct val="150000"/>
              </a:lnSpc>
              <a:buNone/>
            </a:pPr>
            <a:r>
              <a:rPr lang="en-US" dirty="0">
                <a:latin typeface="Times New Roman" panose="02020603050405020304" pitchFamily="18" charset="0"/>
                <a:cs typeface="Times New Roman" panose="02020603050405020304" pitchFamily="18" charset="0"/>
              </a:rPr>
              <a:t>(ii) preparation and implementation of physical infrastructural development projects in consonance with governance level-specific land use plan, and </a:t>
            </a:r>
          </a:p>
          <a:p>
            <a:pPr marL="0" indent="0" algn="just">
              <a:lnSpc>
                <a:spcPct val="150000"/>
              </a:lnSpc>
              <a:buNone/>
            </a:pPr>
            <a:r>
              <a:rPr lang="en-US" dirty="0">
                <a:latin typeface="Times New Roman" panose="02020603050405020304" pitchFamily="18" charset="0"/>
                <a:cs typeface="Times New Roman" panose="02020603050405020304" pitchFamily="18" charset="0"/>
              </a:rPr>
              <a:t>(iii) ensuring the optimum use of agricultural land and its conservation by discouraging the use of agricultural land for the non-agricultural purpose, the culture of “keeping the agricultural land fallow”, and uncontrolled fragmentation of such agricultural land. </a:t>
            </a:r>
          </a:p>
        </p:txBody>
      </p:sp>
    </p:spTree>
    <p:extLst>
      <p:ext uri="{BB962C8B-B14F-4D97-AF65-F5344CB8AC3E}">
        <p14:creationId xmlns:p14="http://schemas.microsoft.com/office/powerpoint/2010/main" val="47027569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493D15F-6B33-EB0F-1814-6AABCB93CEA9}"/>
              </a:ext>
            </a:extLst>
          </p:cNvPr>
          <p:cNvSpPr>
            <a:spLocks noGrp="1"/>
          </p:cNvSpPr>
          <p:nvPr>
            <p:ph idx="1"/>
          </p:nvPr>
        </p:nvSpPr>
        <p:spPr>
          <a:xfrm>
            <a:off x="76200" y="381000"/>
            <a:ext cx="9067800" cy="6477000"/>
          </a:xfrm>
        </p:spPr>
        <p:txBody>
          <a:bodyPr>
            <a:normAutofit fontScale="32500" lnSpcReduction="20000"/>
          </a:bodyPr>
          <a:lstStyle/>
          <a:p>
            <a:pPr marL="0" indent="0">
              <a:buNone/>
            </a:pPr>
            <a:r>
              <a:rPr lang="en-US" sz="7000" b="1" dirty="0">
                <a:solidFill>
                  <a:srgbClr val="FF0000"/>
                </a:solidFill>
                <a:latin typeface="Times New Roman" panose="02020603050405020304" pitchFamily="18" charset="0"/>
                <a:cs typeface="Times New Roman" panose="02020603050405020304" pitchFamily="18" charset="0"/>
              </a:rPr>
              <a:t>National Land Policy, 2019</a:t>
            </a:r>
          </a:p>
          <a:p>
            <a:pPr algn="just">
              <a:lnSpc>
                <a:spcPct val="170000"/>
              </a:lnSpc>
            </a:pPr>
            <a:r>
              <a:rPr lang="en-US" sz="7400" dirty="0">
                <a:latin typeface="Times New Roman" panose="02020603050405020304" pitchFamily="18" charset="0"/>
                <a:cs typeface="Times New Roman" panose="02020603050405020304" pitchFamily="18" charset="0"/>
              </a:rPr>
              <a:t>National Land Policy, 2019 is an instrumental for the</a:t>
            </a:r>
            <a:r>
              <a:rPr lang="ne-NP" sz="7400" dirty="0">
                <a:latin typeface="Times New Roman" panose="02020603050405020304" pitchFamily="18" charset="0"/>
                <a:cs typeface="Times New Roman" panose="02020603050405020304" pitchFamily="18" charset="0"/>
              </a:rPr>
              <a:t>;</a:t>
            </a:r>
            <a:r>
              <a:rPr lang="en-US" sz="7400" dirty="0">
                <a:latin typeface="Times New Roman" panose="02020603050405020304" pitchFamily="18" charset="0"/>
                <a:cs typeface="Times New Roman" panose="02020603050405020304" pitchFamily="18" charset="0"/>
              </a:rPr>
              <a:t> </a:t>
            </a:r>
            <a:endParaRPr lang="ne-NP" sz="7400" dirty="0">
              <a:latin typeface="Times New Roman" panose="02020603050405020304" pitchFamily="18" charset="0"/>
              <a:cs typeface="Times New Roman" panose="02020603050405020304" pitchFamily="18" charset="0"/>
            </a:endParaRPr>
          </a:p>
          <a:p>
            <a:pPr algn="just">
              <a:lnSpc>
                <a:spcPct val="170000"/>
              </a:lnSpc>
              <a:buFont typeface="Wingdings" panose="05000000000000000000" pitchFamily="2" charset="2"/>
              <a:buChar char="ü"/>
            </a:pPr>
            <a:r>
              <a:rPr lang="en-US" sz="7400" dirty="0">
                <a:latin typeface="Times New Roman" panose="02020603050405020304" pitchFamily="18" charset="0"/>
                <a:cs typeface="Times New Roman" panose="02020603050405020304" pitchFamily="18" charset="0"/>
              </a:rPr>
              <a:t>security of land rights and ownership</a:t>
            </a:r>
            <a:endParaRPr lang="ne-NP" sz="7400" dirty="0">
              <a:latin typeface="Times New Roman" panose="02020603050405020304" pitchFamily="18" charset="0"/>
              <a:cs typeface="Times New Roman" panose="02020603050405020304" pitchFamily="18" charset="0"/>
            </a:endParaRPr>
          </a:p>
          <a:p>
            <a:pPr algn="just">
              <a:lnSpc>
                <a:spcPct val="170000"/>
              </a:lnSpc>
              <a:buFont typeface="Wingdings" panose="05000000000000000000" pitchFamily="2" charset="2"/>
              <a:buChar char="ü"/>
            </a:pPr>
            <a:r>
              <a:rPr lang="en-US" sz="7400" dirty="0">
                <a:latin typeface="Times New Roman" panose="02020603050405020304" pitchFamily="18" charset="0"/>
                <a:cs typeface="Times New Roman" panose="02020603050405020304" pitchFamily="18" charset="0"/>
              </a:rPr>
              <a:t>safe and systematic settlement for all citizens</a:t>
            </a:r>
            <a:endParaRPr lang="ne-NP" sz="7400" dirty="0">
              <a:latin typeface="Times New Roman" panose="02020603050405020304" pitchFamily="18" charset="0"/>
              <a:cs typeface="Times New Roman" panose="02020603050405020304" pitchFamily="18" charset="0"/>
            </a:endParaRPr>
          </a:p>
          <a:p>
            <a:pPr algn="just">
              <a:lnSpc>
                <a:spcPct val="170000"/>
              </a:lnSpc>
              <a:buFont typeface="Wingdings" panose="05000000000000000000" pitchFamily="2" charset="2"/>
              <a:buChar char="ü"/>
            </a:pPr>
            <a:r>
              <a:rPr lang="en-US" sz="7400" dirty="0">
                <a:latin typeface="Times New Roman" panose="02020603050405020304" pitchFamily="18" charset="0"/>
                <a:cs typeface="Times New Roman" panose="02020603050405020304" pitchFamily="18" charset="0"/>
              </a:rPr>
              <a:t>peasants’ easy access to land</a:t>
            </a:r>
            <a:endParaRPr lang="ne-NP" sz="7400" dirty="0">
              <a:latin typeface="Times New Roman" panose="02020603050405020304" pitchFamily="18" charset="0"/>
              <a:cs typeface="Times New Roman" panose="02020603050405020304" pitchFamily="18" charset="0"/>
            </a:endParaRPr>
          </a:p>
          <a:p>
            <a:pPr algn="just">
              <a:lnSpc>
                <a:spcPct val="170000"/>
              </a:lnSpc>
              <a:buFont typeface="Wingdings" panose="05000000000000000000" pitchFamily="2" charset="2"/>
              <a:buChar char="ü"/>
            </a:pPr>
            <a:r>
              <a:rPr lang="en-US" sz="7400" dirty="0">
                <a:latin typeface="Times New Roman" panose="02020603050405020304" pitchFamily="18" charset="0"/>
                <a:cs typeface="Times New Roman" panose="02020603050405020304" pitchFamily="18" charset="0"/>
              </a:rPr>
              <a:t>sustainable development of infrastructures</a:t>
            </a:r>
            <a:endParaRPr lang="ne-NP" sz="7400" dirty="0">
              <a:latin typeface="Times New Roman" panose="02020603050405020304" pitchFamily="18" charset="0"/>
              <a:cs typeface="Times New Roman" panose="02020603050405020304" pitchFamily="18" charset="0"/>
            </a:endParaRPr>
          </a:p>
          <a:p>
            <a:pPr algn="just">
              <a:lnSpc>
                <a:spcPct val="170000"/>
              </a:lnSpc>
              <a:buFont typeface="Wingdings" panose="05000000000000000000" pitchFamily="2" charset="2"/>
              <a:buChar char="ü"/>
            </a:pPr>
            <a:r>
              <a:rPr lang="en-US" sz="7400" dirty="0">
                <a:latin typeface="Times New Roman" panose="02020603050405020304" pitchFamily="18" charset="0"/>
                <a:cs typeface="Times New Roman" panose="02020603050405020304" pitchFamily="18" charset="0"/>
              </a:rPr>
              <a:t>systematic land markets </a:t>
            </a:r>
            <a:endParaRPr lang="ne-NP" sz="7400" dirty="0">
              <a:latin typeface="Times New Roman" panose="02020603050405020304" pitchFamily="18" charset="0"/>
              <a:cs typeface="Times New Roman" panose="02020603050405020304" pitchFamily="18" charset="0"/>
            </a:endParaRPr>
          </a:p>
          <a:p>
            <a:pPr algn="just">
              <a:lnSpc>
                <a:spcPct val="170000"/>
              </a:lnSpc>
              <a:buFont typeface="Wingdings" panose="05000000000000000000" pitchFamily="2" charset="2"/>
              <a:buChar char="ü"/>
            </a:pPr>
            <a:r>
              <a:rPr lang="en-US" sz="7400" dirty="0">
                <a:latin typeface="Times New Roman" panose="02020603050405020304" pitchFamily="18" charset="0"/>
                <a:cs typeface="Times New Roman" panose="02020603050405020304" pitchFamily="18" charset="0"/>
              </a:rPr>
              <a:t>ensuring food rights </a:t>
            </a:r>
            <a:endParaRPr lang="ne-NP" sz="7400" dirty="0">
              <a:latin typeface="Times New Roman" panose="02020603050405020304" pitchFamily="18" charset="0"/>
              <a:cs typeface="Times New Roman" panose="02020603050405020304" pitchFamily="18" charset="0"/>
            </a:endParaRPr>
          </a:p>
          <a:p>
            <a:pPr algn="just">
              <a:lnSpc>
                <a:spcPct val="170000"/>
              </a:lnSpc>
              <a:buFont typeface="Wingdings" panose="05000000000000000000" pitchFamily="2" charset="2"/>
              <a:buChar char="ü"/>
            </a:pPr>
            <a:r>
              <a:rPr lang="en-US" sz="7400" dirty="0">
                <a:latin typeface="Times New Roman" panose="02020603050405020304" pitchFamily="18" charset="0"/>
                <a:cs typeface="Times New Roman" panose="02020603050405020304" pitchFamily="18" charset="0"/>
              </a:rPr>
              <a:t>environmental protection</a:t>
            </a:r>
            <a:endParaRPr lang="ne-NP" sz="7400" dirty="0">
              <a:latin typeface="Times New Roman" panose="02020603050405020304" pitchFamily="18" charset="0"/>
              <a:cs typeface="Times New Roman" panose="02020603050405020304" pitchFamily="18" charset="0"/>
            </a:endParaRPr>
          </a:p>
          <a:p>
            <a:pPr algn="just">
              <a:lnSpc>
                <a:spcPct val="170000"/>
              </a:lnSpc>
              <a:buFont typeface="Wingdings" panose="05000000000000000000" pitchFamily="2" charset="2"/>
              <a:buChar char="ü"/>
            </a:pPr>
            <a:r>
              <a:rPr lang="en-US" sz="7400" dirty="0">
                <a:latin typeface="Times New Roman" panose="02020603050405020304" pitchFamily="18" charset="0"/>
                <a:cs typeface="Times New Roman" panose="02020603050405020304" pitchFamily="18" charset="0"/>
              </a:rPr>
              <a:t>mitigation of the adverse effects induced by climate change</a:t>
            </a:r>
            <a:endParaRPr lang="ne-NP" sz="7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74463038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6734526-D1D5-F951-9FB8-587D72249AA2}"/>
              </a:ext>
            </a:extLst>
          </p:cNvPr>
          <p:cNvSpPr>
            <a:spLocks noGrp="1"/>
          </p:cNvSpPr>
          <p:nvPr>
            <p:ph idx="1"/>
          </p:nvPr>
        </p:nvSpPr>
        <p:spPr>
          <a:xfrm>
            <a:off x="76200" y="228600"/>
            <a:ext cx="8991600" cy="6477000"/>
          </a:xfrm>
        </p:spPr>
        <p:txBody>
          <a:bodyPr>
            <a:normAutofit fontScale="92500" lnSpcReduction="10000"/>
          </a:bodyPr>
          <a:lstStyle/>
          <a:p>
            <a:pPr marL="0" indent="0" algn="just">
              <a:lnSpc>
                <a:spcPct val="170000"/>
              </a:lnSpc>
              <a:buNone/>
            </a:pPr>
            <a:r>
              <a:rPr lang="en-US" sz="2800" b="1" dirty="0">
                <a:solidFill>
                  <a:srgbClr val="FF0000"/>
                </a:solidFill>
                <a:latin typeface="Times New Roman" panose="02020603050405020304" pitchFamily="18" charset="0"/>
                <a:cs typeface="Times New Roman" panose="02020603050405020304" pitchFamily="18" charset="0"/>
              </a:rPr>
              <a:t>National Land Policy, 2019……</a:t>
            </a:r>
            <a:endParaRPr lang="ne-NP" sz="2800" dirty="0">
              <a:latin typeface="Times New Roman" panose="02020603050405020304" pitchFamily="18" charset="0"/>
              <a:cs typeface="Times New Roman" panose="02020603050405020304" pitchFamily="18" charset="0"/>
            </a:endParaRPr>
          </a:p>
          <a:p>
            <a:pPr algn="just">
              <a:lnSpc>
                <a:spcPct val="160000"/>
              </a:lnSpc>
              <a:buFont typeface="Wingdings" panose="05000000000000000000" pitchFamily="2" charset="2"/>
              <a:buChar char="ü"/>
            </a:pPr>
            <a:r>
              <a:rPr lang="en-US" sz="2800" dirty="0">
                <a:latin typeface="Times New Roman" panose="02020603050405020304" pitchFamily="18" charset="0"/>
                <a:cs typeface="Times New Roman" panose="02020603050405020304" pitchFamily="18" charset="0"/>
              </a:rPr>
              <a:t>gender equality</a:t>
            </a:r>
            <a:endParaRPr lang="ne-NP" sz="2800" dirty="0">
              <a:latin typeface="Times New Roman" panose="02020603050405020304" pitchFamily="18" charset="0"/>
              <a:cs typeface="Times New Roman" panose="02020603050405020304" pitchFamily="18" charset="0"/>
            </a:endParaRPr>
          </a:p>
          <a:p>
            <a:pPr algn="just">
              <a:lnSpc>
                <a:spcPct val="160000"/>
              </a:lnSpc>
              <a:buFont typeface="Wingdings" panose="05000000000000000000" pitchFamily="2" charset="2"/>
              <a:buChar char="ü"/>
            </a:pPr>
            <a:r>
              <a:rPr lang="en-US" sz="2800" dirty="0">
                <a:latin typeface="Times New Roman" panose="02020603050405020304" pitchFamily="18" charset="0"/>
                <a:cs typeface="Times New Roman" panose="02020603050405020304" pitchFamily="18" charset="0"/>
              </a:rPr>
              <a:t>sustainable permanent solutions of all land-related issues.</a:t>
            </a:r>
            <a:endParaRPr lang="en-US" sz="2600" dirty="0">
              <a:latin typeface="Times New Roman" panose="02020603050405020304" pitchFamily="18" charset="0"/>
              <a:cs typeface="Times New Roman" panose="02020603050405020304" pitchFamily="18" charset="0"/>
            </a:endParaRPr>
          </a:p>
          <a:p>
            <a:pPr algn="just">
              <a:lnSpc>
                <a:spcPct val="120000"/>
              </a:lnSpc>
            </a:pPr>
            <a:r>
              <a:rPr lang="en-US" sz="2600" dirty="0">
                <a:latin typeface="Times New Roman" panose="02020603050405020304" pitchFamily="18" charset="0"/>
                <a:cs typeface="Times New Roman" panose="02020603050405020304" pitchFamily="18" charset="0"/>
              </a:rPr>
              <a:t>This policy include: </a:t>
            </a:r>
          </a:p>
          <a:p>
            <a:pPr marL="0" indent="0" algn="just">
              <a:lnSpc>
                <a:spcPct val="170000"/>
              </a:lnSpc>
              <a:buNone/>
            </a:pPr>
            <a:r>
              <a:rPr lang="en-US" sz="2600" dirty="0">
                <a:latin typeface="Times New Roman" panose="02020603050405020304" pitchFamily="18" charset="0"/>
                <a:cs typeface="Times New Roman" panose="02020603050405020304" pitchFamily="18" charset="0"/>
              </a:rPr>
              <a:t>(</a:t>
            </a:r>
            <a:r>
              <a:rPr lang="en-US" sz="2600" dirty="0" err="1">
                <a:latin typeface="Times New Roman" panose="02020603050405020304" pitchFamily="18" charset="0"/>
                <a:cs typeface="Times New Roman" panose="02020603050405020304" pitchFamily="18" charset="0"/>
              </a:rPr>
              <a:t>i</a:t>
            </a:r>
            <a:r>
              <a:rPr lang="en-US" sz="2600" dirty="0">
                <a:latin typeface="Times New Roman" panose="02020603050405020304" pitchFamily="18" charset="0"/>
                <a:cs typeface="Times New Roman" panose="02020603050405020304" pitchFamily="18" charset="0"/>
              </a:rPr>
              <a:t>) maintaining uniformity in the sectoral policies by formulating the main land policy; </a:t>
            </a:r>
          </a:p>
          <a:p>
            <a:pPr marL="0" indent="0" algn="just">
              <a:lnSpc>
                <a:spcPct val="170000"/>
              </a:lnSpc>
              <a:buNone/>
            </a:pPr>
            <a:r>
              <a:rPr lang="en-US" sz="2600" dirty="0">
                <a:latin typeface="Times New Roman" panose="02020603050405020304" pitchFamily="18" charset="0"/>
                <a:cs typeface="Times New Roman" panose="02020603050405020304" pitchFamily="18" charset="0"/>
              </a:rPr>
              <a:t>(ii) addressing the issues of land tenure, ownership, rights, access and use in an integrated way;</a:t>
            </a:r>
          </a:p>
          <a:p>
            <a:pPr marL="0" indent="0" algn="just">
              <a:lnSpc>
                <a:spcPct val="170000"/>
              </a:lnSpc>
              <a:buNone/>
            </a:pPr>
            <a:r>
              <a:rPr lang="en-US" sz="2600" dirty="0">
                <a:latin typeface="Times New Roman" panose="02020603050405020304" pitchFamily="18" charset="0"/>
                <a:cs typeface="Times New Roman" panose="02020603050405020304" pitchFamily="18" charset="0"/>
              </a:rPr>
              <a:t>(iii) addressing the land-related issues raised by different sections of society and sectors; </a:t>
            </a:r>
          </a:p>
          <a:p>
            <a:pPr marL="0" indent="0">
              <a:buNone/>
            </a:pPr>
            <a:endParaRPr lang="en-US" dirty="0"/>
          </a:p>
        </p:txBody>
      </p:sp>
    </p:spTree>
    <p:extLst>
      <p:ext uri="{BB962C8B-B14F-4D97-AF65-F5344CB8AC3E}">
        <p14:creationId xmlns:p14="http://schemas.microsoft.com/office/powerpoint/2010/main" val="409330976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1B9031D-D533-9B97-1BF7-0E57DCFC656C}"/>
              </a:ext>
            </a:extLst>
          </p:cNvPr>
          <p:cNvSpPr>
            <a:spLocks noGrp="1"/>
          </p:cNvSpPr>
          <p:nvPr>
            <p:ph idx="1"/>
          </p:nvPr>
        </p:nvSpPr>
        <p:spPr>
          <a:xfrm>
            <a:off x="76200" y="533400"/>
            <a:ext cx="8915400" cy="6172200"/>
          </a:xfrm>
        </p:spPr>
        <p:txBody>
          <a:bodyPr>
            <a:normAutofit fontScale="85000" lnSpcReduction="10000"/>
          </a:bodyPr>
          <a:lstStyle/>
          <a:p>
            <a:pPr marL="0" indent="0" algn="just">
              <a:buNone/>
            </a:pPr>
            <a:r>
              <a:rPr lang="en-US" sz="2600" b="1" dirty="0">
                <a:solidFill>
                  <a:srgbClr val="FF0000"/>
                </a:solidFill>
                <a:latin typeface="Times New Roman" panose="02020603050405020304" pitchFamily="18" charset="0"/>
                <a:cs typeface="Times New Roman" panose="02020603050405020304" pitchFamily="18" charset="0"/>
              </a:rPr>
              <a:t>National Land Policy, 2019……</a:t>
            </a:r>
          </a:p>
          <a:p>
            <a:pPr marL="0" indent="0" algn="just">
              <a:buNone/>
            </a:pPr>
            <a:endParaRPr lang="en-US" dirty="0">
              <a:latin typeface="Times New Roman" panose="02020603050405020304" pitchFamily="18" charset="0"/>
              <a:cs typeface="Times New Roman" panose="02020603050405020304" pitchFamily="18" charset="0"/>
            </a:endParaRPr>
          </a:p>
          <a:p>
            <a:pPr marL="0" indent="0" algn="just">
              <a:lnSpc>
                <a:spcPct val="160000"/>
              </a:lnSpc>
              <a:buNone/>
            </a:pPr>
            <a:r>
              <a:rPr lang="en-US" sz="2600" dirty="0">
                <a:latin typeface="Times New Roman" panose="02020603050405020304" pitchFamily="18" charset="0"/>
                <a:cs typeface="Times New Roman" panose="02020603050405020304" pitchFamily="18" charset="0"/>
              </a:rPr>
              <a:t>(iv) distributing the benefits equitably derived from land and land resource;</a:t>
            </a:r>
          </a:p>
          <a:p>
            <a:pPr marL="0" indent="0" algn="just">
              <a:lnSpc>
                <a:spcPct val="160000"/>
              </a:lnSpc>
              <a:buNone/>
            </a:pPr>
            <a:r>
              <a:rPr lang="en-US" sz="2600" dirty="0">
                <a:latin typeface="Times New Roman" panose="02020603050405020304" pitchFamily="18" charset="0"/>
                <a:cs typeface="Times New Roman" panose="02020603050405020304" pitchFamily="18" charset="0"/>
              </a:rPr>
              <a:t>(v) implementing the constitutional arrangements and recommendations of High Level Land Reform Commissions (HLLRCs);</a:t>
            </a:r>
          </a:p>
          <a:p>
            <a:pPr marL="0" indent="0" algn="just">
              <a:lnSpc>
                <a:spcPct val="160000"/>
              </a:lnSpc>
              <a:buNone/>
            </a:pPr>
            <a:r>
              <a:rPr lang="en-US" sz="2600" dirty="0">
                <a:latin typeface="Times New Roman" panose="02020603050405020304" pitchFamily="18" charset="0"/>
                <a:cs typeface="Times New Roman" panose="02020603050405020304" pitchFamily="18" charset="0"/>
              </a:rPr>
              <a:t>(vi) bringing land related international treaties, agreements, and commitments into the implementation of which Nepal has been a signatory; </a:t>
            </a:r>
          </a:p>
          <a:p>
            <a:pPr marL="0" indent="0" algn="just">
              <a:lnSpc>
                <a:spcPct val="160000"/>
              </a:lnSpc>
              <a:buNone/>
            </a:pPr>
            <a:r>
              <a:rPr lang="en-US" sz="2600" dirty="0">
                <a:latin typeface="Times New Roman" panose="02020603050405020304" pitchFamily="18" charset="0"/>
                <a:cs typeface="Times New Roman" panose="02020603050405020304" pitchFamily="18" charset="0"/>
              </a:rPr>
              <a:t>(vii) contributing to country’s economic prosperity and bringing improvements in the living standard of Nepal through land’s productive use ;</a:t>
            </a:r>
          </a:p>
          <a:p>
            <a:pPr marL="0" indent="0" algn="just">
              <a:lnSpc>
                <a:spcPct val="160000"/>
              </a:lnSpc>
              <a:buNone/>
            </a:pPr>
            <a:r>
              <a:rPr lang="en-US" sz="2600" dirty="0">
                <a:latin typeface="Times New Roman" panose="02020603050405020304" pitchFamily="18" charset="0"/>
                <a:cs typeface="Times New Roman" panose="02020603050405020304" pitchFamily="18" charset="0"/>
              </a:rPr>
              <a:t>(viii) making optimum use of governmental and public land by controlling its encroachment and excessive exploitation, and </a:t>
            </a:r>
          </a:p>
          <a:p>
            <a:pPr marL="0" indent="0" algn="just">
              <a:lnSpc>
                <a:spcPct val="160000"/>
              </a:lnSpc>
              <a:buNone/>
            </a:pPr>
            <a:r>
              <a:rPr lang="en-US" sz="2600" dirty="0">
                <a:latin typeface="Times New Roman" panose="02020603050405020304" pitchFamily="18" charset="0"/>
                <a:cs typeface="Times New Roman" panose="02020603050405020304" pitchFamily="18" charset="0"/>
              </a:rPr>
              <a:t>(ix) maintaining good governance in land.</a:t>
            </a:r>
          </a:p>
          <a:p>
            <a:pPr marL="0" indent="0">
              <a:buNone/>
            </a:pPr>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85945800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89824EEB-6A26-25E2-8F20-4D4BD4A38D7E}"/>
              </a:ext>
            </a:extLst>
          </p:cNvPr>
          <p:cNvSpPr>
            <a:spLocks noGrp="1"/>
          </p:cNvSpPr>
          <p:nvPr>
            <p:ph idx="1"/>
          </p:nvPr>
        </p:nvSpPr>
        <p:spPr>
          <a:xfrm>
            <a:off x="76200" y="381000"/>
            <a:ext cx="9067800" cy="6477000"/>
          </a:xfrm>
        </p:spPr>
        <p:txBody>
          <a:bodyPr>
            <a:normAutofit lnSpcReduction="10000"/>
          </a:bodyPr>
          <a:lstStyle/>
          <a:p>
            <a:pPr marL="0" indent="0">
              <a:buNone/>
            </a:pPr>
            <a:r>
              <a:rPr lang="en-US" sz="3300" b="1" dirty="0">
                <a:solidFill>
                  <a:srgbClr val="FF0000"/>
                </a:solidFill>
                <a:latin typeface="Times New Roman" panose="02020603050405020304" pitchFamily="18" charset="0"/>
                <a:cs typeface="Times New Roman" panose="02020603050405020304" pitchFamily="18" charset="0"/>
              </a:rPr>
              <a:t>National </a:t>
            </a:r>
            <a:r>
              <a:rPr lang="en-US" sz="3300" b="1" dirty="0" err="1">
                <a:solidFill>
                  <a:srgbClr val="FF0000"/>
                </a:solidFill>
                <a:latin typeface="Times New Roman" panose="02020603050405020304" pitchFamily="18" charset="0"/>
                <a:cs typeface="Times New Roman" panose="02020603050405020304" pitchFamily="18" charset="0"/>
              </a:rPr>
              <a:t>Agro</a:t>
            </a:r>
            <a:r>
              <a:rPr lang="en-US" sz="3300" b="1" dirty="0">
                <a:solidFill>
                  <a:srgbClr val="FF0000"/>
                </a:solidFill>
                <a:latin typeface="Times New Roman" panose="02020603050405020304" pitchFamily="18" charset="0"/>
                <a:cs typeface="Times New Roman" panose="02020603050405020304" pitchFamily="18" charset="0"/>
              </a:rPr>
              <a:t>-forestry Policy, 2019</a:t>
            </a:r>
          </a:p>
          <a:p>
            <a:pPr algn="just">
              <a:lnSpc>
                <a:spcPct val="110000"/>
              </a:lnSpc>
            </a:pPr>
            <a:r>
              <a:rPr lang="en-US" dirty="0" err="1">
                <a:latin typeface="Times New Roman" panose="02020603050405020304" pitchFamily="18" charset="0"/>
                <a:cs typeface="Times New Roman" panose="02020603050405020304" pitchFamily="18" charset="0"/>
              </a:rPr>
              <a:t>Agro</a:t>
            </a:r>
            <a:r>
              <a:rPr lang="en-US" dirty="0">
                <a:latin typeface="Times New Roman" panose="02020603050405020304" pitchFamily="18" charset="0"/>
                <a:cs typeface="Times New Roman" panose="02020603050405020304" pitchFamily="18" charset="0"/>
              </a:rPr>
              <a:t>-forestry is the integrated system of practice of agriculture, livestock-raising, and forest-related activities in one unit of land and each of these activities has an important contribution to the national economy of Nepal.</a:t>
            </a:r>
          </a:p>
          <a:p>
            <a:pPr algn="just">
              <a:lnSpc>
                <a:spcPct val="110000"/>
              </a:lnSpc>
            </a:pPr>
            <a:r>
              <a:rPr lang="en-US" dirty="0">
                <a:latin typeface="Times New Roman" panose="02020603050405020304" pitchFamily="18" charset="0"/>
                <a:cs typeface="Times New Roman" panose="02020603050405020304" pitchFamily="18" charset="0"/>
              </a:rPr>
              <a:t>The vision of the policy is to “contribute to national prosperity through the development, extension, and commercialization of </a:t>
            </a:r>
            <a:r>
              <a:rPr lang="en-US" dirty="0" err="1">
                <a:latin typeface="Times New Roman" panose="02020603050405020304" pitchFamily="18" charset="0"/>
                <a:cs typeface="Times New Roman" panose="02020603050405020304" pitchFamily="18" charset="0"/>
              </a:rPr>
              <a:t>agro</a:t>
            </a:r>
            <a:r>
              <a:rPr lang="en-US" dirty="0">
                <a:latin typeface="Times New Roman" panose="02020603050405020304" pitchFamily="18" charset="0"/>
                <a:cs typeface="Times New Roman" panose="02020603050405020304" pitchFamily="18" charset="0"/>
              </a:rPr>
              <a:t>-forestry system”.</a:t>
            </a:r>
          </a:p>
          <a:p>
            <a:pPr algn="just">
              <a:lnSpc>
                <a:spcPct val="110000"/>
              </a:lnSpc>
            </a:pPr>
            <a:r>
              <a:rPr lang="en-US" dirty="0">
                <a:latin typeface="Times New Roman" panose="02020603050405020304" pitchFamily="18" charset="0"/>
                <a:cs typeface="Times New Roman" panose="02020603050405020304" pitchFamily="18" charset="0"/>
              </a:rPr>
              <a:t> Its objectives comprise as follows:</a:t>
            </a:r>
          </a:p>
          <a:p>
            <a:pPr marL="0" indent="0" algn="just">
              <a:lnSpc>
                <a:spcPct val="110000"/>
              </a:lnSpc>
              <a:buNone/>
            </a:pP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i</a:t>
            </a:r>
            <a:r>
              <a:rPr lang="en-US" dirty="0">
                <a:latin typeface="Times New Roman" panose="02020603050405020304" pitchFamily="18" charset="0"/>
                <a:cs typeface="Times New Roman" panose="02020603050405020304" pitchFamily="18" charset="0"/>
              </a:rPr>
              <a:t>) to augment the production of agriculture, livestock, and forest-related products by enhancing the productivity of land and using it multi-purposely;</a:t>
            </a:r>
          </a:p>
          <a:p>
            <a:pPr marL="0" indent="0" algn="just">
              <a:lnSpc>
                <a:spcPct val="110000"/>
              </a:lnSpc>
              <a:buNone/>
            </a:pPr>
            <a:r>
              <a:rPr lang="en-US" dirty="0">
                <a:latin typeface="Times New Roman" panose="02020603050405020304" pitchFamily="18" charset="0"/>
                <a:cs typeface="Times New Roman" panose="02020603050405020304" pitchFamily="18" charset="0"/>
              </a:rPr>
              <a:t> (ii) to reduce population pressure on land and conserve environmental and biological biodiversity, maintain soil quality and develop climate friendly environmental system;</a:t>
            </a:r>
          </a:p>
          <a:p>
            <a:pPr marL="0" indent="0" algn="just">
              <a:lnSpc>
                <a:spcPct val="110000"/>
              </a:lnSpc>
              <a:buNone/>
            </a:pPr>
            <a:r>
              <a:rPr lang="en-US" dirty="0">
                <a:latin typeface="Times New Roman" panose="02020603050405020304" pitchFamily="18" charset="0"/>
                <a:cs typeface="Times New Roman" panose="02020603050405020304" pitchFamily="18" charset="0"/>
              </a:rPr>
              <a:t> </a:t>
            </a:r>
          </a:p>
        </p:txBody>
      </p:sp>
    </p:spTree>
    <p:extLst>
      <p:ext uri="{BB962C8B-B14F-4D97-AF65-F5344CB8AC3E}">
        <p14:creationId xmlns:p14="http://schemas.microsoft.com/office/powerpoint/2010/main" val="78199645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8D063F8-D933-D9CD-87FB-A1CEA60310C5}"/>
              </a:ext>
            </a:extLst>
          </p:cNvPr>
          <p:cNvSpPr>
            <a:spLocks noGrp="1"/>
          </p:cNvSpPr>
          <p:nvPr>
            <p:ph idx="1"/>
          </p:nvPr>
        </p:nvSpPr>
        <p:spPr>
          <a:xfrm>
            <a:off x="76200" y="381000"/>
            <a:ext cx="8991600" cy="6477000"/>
          </a:xfrm>
        </p:spPr>
        <p:txBody>
          <a:bodyPr>
            <a:normAutofit/>
          </a:bodyPr>
          <a:lstStyle/>
          <a:p>
            <a:pPr marL="0" indent="0">
              <a:buNone/>
            </a:pPr>
            <a:r>
              <a:rPr lang="en-US" b="1" dirty="0">
                <a:solidFill>
                  <a:srgbClr val="FF0000"/>
                </a:solidFill>
                <a:latin typeface="Times New Roman" panose="02020603050405020304" pitchFamily="18" charset="0"/>
                <a:cs typeface="Times New Roman" panose="02020603050405020304" pitchFamily="18" charset="0"/>
              </a:rPr>
              <a:t>National </a:t>
            </a:r>
            <a:r>
              <a:rPr lang="en-US" b="1" dirty="0" err="1">
                <a:solidFill>
                  <a:srgbClr val="FF0000"/>
                </a:solidFill>
                <a:latin typeface="Times New Roman" panose="02020603050405020304" pitchFamily="18" charset="0"/>
                <a:cs typeface="Times New Roman" panose="02020603050405020304" pitchFamily="18" charset="0"/>
              </a:rPr>
              <a:t>Agro</a:t>
            </a:r>
            <a:r>
              <a:rPr lang="en-US" b="1" dirty="0">
                <a:solidFill>
                  <a:srgbClr val="FF0000"/>
                </a:solidFill>
                <a:latin typeface="Times New Roman" panose="02020603050405020304" pitchFamily="18" charset="0"/>
                <a:cs typeface="Times New Roman" panose="02020603050405020304" pitchFamily="18" charset="0"/>
              </a:rPr>
              <a:t>-forestry Policy, 2019…….</a:t>
            </a:r>
          </a:p>
          <a:p>
            <a:pPr marL="0" indent="0">
              <a:buNone/>
            </a:pPr>
            <a:endParaRPr lang="en-US" dirty="0">
              <a:latin typeface="Times New Roman" panose="02020603050405020304" pitchFamily="18" charset="0"/>
              <a:cs typeface="Times New Roman" panose="02020603050405020304" pitchFamily="18" charset="0"/>
            </a:endParaRPr>
          </a:p>
          <a:p>
            <a:pPr marL="0" indent="0" algn="just">
              <a:buNone/>
            </a:pPr>
            <a:r>
              <a:rPr lang="en-US" dirty="0">
                <a:latin typeface="Times New Roman" panose="02020603050405020304" pitchFamily="18" charset="0"/>
                <a:cs typeface="Times New Roman" panose="02020603050405020304" pitchFamily="18" charset="0"/>
              </a:rPr>
              <a:t>(iii) to ensure food security of local communities by creating opportunities for livelihood, employment and income generation through the intensive promotion of </a:t>
            </a:r>
            <a:r>
              <a:rPr lang="en-US" dirty="0" err="1">
                <a:latin typeface="Times New Roman" panose="02020603050405020304" pitchFamily="18" charset="0"/>
                <a:cs typeface="Times New Roman" panose="02020603050405020304" pitchFamily="18" charset="0"/>
              </a:rPr>
              <a:t>agro</a:t>
            </a:r>
            <a:r>
              <a:rPr lang="en-US" dirty="0">
                <a:latin typeface="Times New Roman" panose="02020603050405020304" pitchFamily="18" charset="0"/>
                <a:cs typeface="Times New Roman" panose="02020603050405020304" pitchFamily="18" charset="0"/>
              </a:rPr>
              <a:t> forestry; </a:t>
            </a:r>
          </a:p>
          <a:p>
            <a:pPr marL="0" indent="0" algn="just">
              <a:buNone/>
            </a:pPr>
            <a:r>
              <a:rPr lang="en-US" dirty="0">
                <a:latin typeface="Times New Roman" panose="02020603050405020304" pitchFamily="18" charset="0"/>
                <a:cs typeface="Times New Roman" panose="02020603050405020304" pitchFamily="18" charset="0"/>
              </a:rPr>
              <a:t>(iv) to contribute to the economy through commercialization by creating investment opportunities in </a:t>
            </a:r>
            <a:r>
              <a:rPr lang="en-US" dirty="0" err="1">
                <a:latin typeface="Times New Roman" panose="02020603050405020304" pitchFamily="18" charset="0"/>
                <a:cs typeface="Times New Roman" panose="02020603050405020304" pitchFamily="18" charset="0"/>
              </a:rPr>
              <a:t>agro</a:t>
            </a:r>
            <a:r>
              <a:rPr lang="en-US" dirty="0">
                <a:latin typeface="Times New Roman" panose="02020603050405020304" pitchFamily="18" charset="0"/>
                <a:cs typeface="Times New Roman" panose="02020603050405020304" pitchFamily="18" charset="0"/>
              </a:rPr>
              <a:t>-forestry, and </a:t>
            </a:r>
          </a:p>
          <a:p>
            <a:pPr marL="0" indent="0" algn="just">
              <a:buNone/>
            </a:pPr>
            <a:r>
              <a:rPr lang="en-US" dirty="0">
                <a:latin typeface="Times New Roman" panose="02020603050405020304" pitchFamily="18" charset="0"/>
                <a:cs typeface="Times New Roman" panose="02020603050405020304" pitchFamily="18" charset="0"/>
              </a:rPr>
              <a:t>(v) to promote the study, research and capacity in </a:t>
            </a:r>
            <a:r>
              <a:rPr lang="en-US" dirty="0" err="1">
                <a:latin typeface="Times New Roman" panose="02020603050405020304" pitchFamily="18" charset="0"/>
                <a:cs typeface="Times New Roman" panose="02020603050405020304" pitchFamily="18" charset="0"/>
              </a:rPr>
              <a:t>agro</a:t>
            </a:r>
            <a:r>
              <a:rPr lang="en-US" dirty="0">
                <a:latin typeface="Times New Roman" panose="02020603050405020304" pitchFamily="18" charset="0"/>
                <a:cs typeface="Times New Roman" panose="02020603050405020304" pitchFamily="18" charset="0"/>
              </a:rPr>
              <a:t>-forestry subject.</a:t>
            </a:r>
          </a:p>
          <a:p>
            <a:pPr marL="0" indent="0" algn="just">
              <a:buNone/>
            </a:pPr>
            <a:endParaRPr lang="en-US" dirty="0">
              <a:latin typeface="Times New Roman" panose="02020603050405020304" pitchFamily="18" charset="0"/>
              <a:cs typeface="Times New Roman" panose="02020603050405020304" pitchFamily="18" charset="0"/>
            </a:endParaRPr>
          </a:p>
          <a:p>
            <a:pPr algn="just"/>
            <a:r>
              <a:rPr lang="en-US" dirty="0">
                <a:latin typeface="Times New Roman" panose="02020603050405020304" pitchFamily="18" charset="0"/>
                <a:cs typeface="Times New Roman" panose="02020603050405020304" pitchFamily="18" charset="0"/>
              </a:rPr>
              <a:t>For accomplishing the vision and objectives of the policy, a host of policies and strategies have been devised as follows:</a:t>
            </a:r>
          </a:p>
          <a:p>
            <a:pPr marL="0" indent="0" algn="just">
              <a:buNone/>
            </a:pP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i</a:t>
            </a:r>
            <a:r>
              <a:rPr lang="en-US" dirty="0">
                <a:latin typeface="Times New Roman" panose="02020603050405020304" pitchFamily="18" charset="0"/>
                <a:cs typeface="Times New Roman" panose="02020603050405020304" pitchFamily="18" charset="0"/>
              </a:rPr>
              <a:t>) prioritization and encouragement of commercial and collective farming of </a:t>
            </a:r>
            <a:r>
              <a:rPr lang="en-US" dirty="0" err="1">
                <a:latin typeface="Times New Roman" panose="02020603050405020304" pitchFamily="18" charset="0"/>
                <a:cs typeface="Times New Roman" panose="02020603050405020304" pitchFamily="18" charset="0"/>
              </a:rPr>
              <a:t>agro</a:t>
            </a:r>
            <a:r>
              <a:rPr lang="en-US" dirty="0">
                <a:latin typeface="Times New Roman" panose="02020603050405020304" pitchFamily="18" charset="0"/>
                <a:cs typeface="Times New Roman" panose="02020603050405020304" pitchFamily="18" charset="0"/>
              </a:rPr>
              <a:t>-forestry system; </a:t>
            </a:r>
          </a:p>
          <a:p>
            <a:pPr marL="0" indent="0" algn="just">
              <a:buNone/>
            </a:pPr>
            <a:r>
              <a:rPr lang="en-US" dirty="0">
                <a:latin typeface="Times New Roman" panose="02020603050405020304" pitchFamily="18" charset="0"/>
                <a:cs typeface="Times New Roman" panose="02020603050405020304" pitchFamily="18" charset="0"/>
              </a:rPr>
              <a:t>(ii) simplification of </a:t>
            </a:r>
            <a:r>
              <a:rPr lang="en-US" dirty="0" err="1">
                <a:latin typeface="Times New Roman" panose="02020603050405020304" pitchFamily="18" charset="0"/>
                <a:cs typeface="Times New Roman" panose="02020603050405020304" pitchFamily="18" charset="0"/>
              </a:rPr>
              <a:t>agro</a:t>
            </a:r>
            <a:r>
              <a:rPr lang="en-US" dirty="0">
                <a:latin typeface="Times New Roman" panose="02020603050405020304" pitchFamily="18" charset="0"/>
                <a:cs typeface="Times New Roman" panose="02020603050405020304" pitchFamily="18" charset="0"/>
              </a:rPr>
              <a:t>-forestry research, value-chain and peasants’ access to markets; </a:t>
            </a:r>
          </a:p>
        </p:txBody>
      </p:sp>
    </p:spTree>
    <p:extLst>
      <p:ext uri="{BB962C8B-B14F-4D97-AF65-F5344CB8AC3E}">
        <p14:creationId xmlns:p14="http://schemas.microsoft.com/office/powerpoint/2010/main" val="137566166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373E96E-4C0E-7C3C-87B3-E6557177705E}"/>
              </a:ext>
            </a:extLst>
          </p:cNvPr>
          <p:cNvSpPr>
            <a:spLocks noGrp="1"/>
          </p:cNvSpPr>
          <p:nvPr>
            <p:ph idx="1"/>
          </p:nvPr>
        </p:nvSpPr>
        <p:spPr>
          <a:xfrm>
            <a:off x="228600" y="381000"/>
            <a:ext cx="8686800" cy="6096000"/>
          </a:xfrm>
        </p:spPr>
        <p:txBody>
          <a:bodyPr>
            <a:normAutofit/>
          </a:bodyPr>
          <a:lstStyle/>
          <a:p>
            <a:pPr marL="0" indent="0">
              <a:buNone/>
            </a:pPr>
            <a:r>
              <a:rPr lang="en-US" b="1" dirty="0">
                <a:solidFill>
                  <a:srgbClr val="FF0000"/>
                </a:solidFill>
                <a:latin typeface="Times New Roman" panose="02020603050405020304" pitchFamily="18" charset="0"/>
                <a:cs typeface="Times New Roman" panose="02020603050405020304" pitchFamily="18" charset="0"/>
              </a:rPr>
              <a:t>National </a:t>
            </a:r>
            <a:r>
              <a:rPr lang="en-US" b="1" dirty="0" err="1">
                <a:solidFill>
                  <a:srgbClr val="FF0000"/>
                </a:solidFill>
                <a:latin typeface="Times New Roman" panose="02020603050405020304" pitchFamily="18" charset="0"/>
                <a:cs typeface="Times New Roman" panose="02020603050405020304" pitchFamily="18" charset="0"/>
              </a:rPr>
              <a:t>Agro</a:t>
            </a:r>
            <a:r>
              <a:rPr lang="en-US" b="1" dirty="0">
                <a:solidFill>
                  <a:srgbClr val="FF0000"/>
                </a:solidFill>
                <a:latin typeface="Times New Roman" panose="02020603050405020304" pitchFamily="18" charset="0"/>
                <a:cs typeface="Times New Roman" panose="02020603050405020304" pitchFamily="18" charset="0"/>
              </a:rPr>
              <a:t>-forestry Policy, 2019…….</a:t>
            </a:r>
          </a:p>
          <a:p>
            <a:pPr marL="0" indent="0">
              <a:buNone/>
            </a:pPr>
            <a:endParaRPr lang="en-US" dirty="0"/>
          </a:p>
          <a:p>
            <a:pPr marL="0" indent="0" algn="just">
              <a:buNone/>
            </a:pPr>
            <a:r>
              <a:rPr lang="en-US" dirty="0">
                <a:latin typeface="Times New Roman" panose="02020603050405020304" pitchFamily="18" charset="0"/>
                <a:cs typeface="Times New Roman" panose="02020603050405020304" pitchFamily="18" charset="0"/>
              </a:rPr>
              <a:t>(iii) management of enterprise and market based on </a:t>
            </a:r>
            <a:r>
              <a:rPr lang="en-US" dirty="0" err="1">
                <a:latin typeface="Times New Roman" panose="02020603050405020304" pitchFamily="18" charset="0"/>
                <a:cs typeface="Times New Roman" panose="02020603050405020304" pitchFamily="18" charset="0"/>
              </a:rPr>
              <a:t>agro</a:t>
            </a:r>
            <a:r>
              <a:rPr lang="en-US" dirty="0">
                <a:latin typeface="Times New Roman" panose="02020603050405020304" pitchFamily="18" charset="0"/>
                <a:cs typeface="Times New Roman" panose="02020603050405020304" pitchFamily="18" charset="0"/>
              </a:rPr>
              <a:t>-forestry products; </a:t>
            </a:r>
          </a:p>
          <a:p>
            <a:pPr marL="0" indent="0" algn="just">
              <a:buNone/>
            </a:pPr>
            <a:r>
              <a:rPr lang="en-US" dirty="0">
                <a:latin typeface="Times New Roman" panose="02020603050405020304" pitchFamily="18" charset="0"/>
                <a:cs typeface="Times New Roman" panose="02020603050405020304" pitchFamily="18" charset="0"/>
              </a:rPr>
              <a:t>(iv) provisioning of financial incentives to </a:t>
            </a:r>
            <a:r>
              <a:rPr lang="en-US" dirty="0" err="1">
                <a:latin typeface="Times New Roman" panose="02020603050405020304" pitchFamily="18" charset="0"/>
                <a:cs typeface="Times New Roman" panose="02020603050405020304" pitchFamily="18" charset="0"/>
              </a:rPr>
              <a:t>agro</a:t>
            </a:r>
            <a:r>
              <a:rPr lang="en-US" dirty="0">
                <a:latin typeface="Times New Roman" panose="02020603050405020304" pitchFamily="18" charset="0"/>
                <a:cs typeface="Times New Roman" panose="02020603050405020304" pitchFamily="18" charset="0"/>
              </a:rPr>
              <a:t>-forestry sector; </a:t>
            </a:r>
          </a:p>
          <a:p>
            <a:pPr marL="0" indent="0" algn="just">
              <a:buNone/>
            </a:pPr>
            <a:r>
              <a:rPr lang="en-US" dirty="0">
                <a:latin typeface="Times New Roman" panose="02020603050405020304" pitchFamily="18" charset="0"/>
                <a:cs typeface="Times New Roman" panose="02020603050405020304" pitchFamily="18" charset="0"/>
              </a:rPr>
              <a:t>(v) prioritization of </a:t>
            </a:r>
            <a:r>
              <a:rPr lang="en-US" dirty="0" err="1">
                <a:latin typeface="Times New Roman" panose="02020603050405020304" pitchFamily="18" charset="0"/>
                <a:cs typeface="Times New Roman" panose="02020603050405020304" pitchFamily="18" charset="0"/>
              </a:rPr>
              <a:t>agro</a:t>
            </a:r>
            <a:r>
              <a:rPr lang="en-US" dirty="0">
                <a:latin typeface="Times New Roman" panose="02020603050405020304" pitchFamily="18" charset="0"/>
                <a:cs typeface="Times New Roman" panose="02020603050405020304" pitchFamily="18" charset="0"/>
              </a:rPr>
              <a:t>-forestry system in fallow, abandoned and marginal lands; </a:t>
            </a:r>
          </a:p>
          <a:p>
            <a:pPr marL="0" indent="0" algn="just">
              <a:buNone/>
            </a:pPr>
            <a:r>
              <a:rPr lang="en-US" dirty="0">
                <a:latin typeface="Times New Roman" panose="02020603050405020304" pitchFamily="18" charset="0"/>
                <a:cs typeface="Times New Roman" panose="02020603050405020304" pitchFamily="18" charset="0"/>
              </a:rPr>
              <a:t>(vi) development and promotion of location-specific </a:t>
            </a:r>
            <a:r>
              <a:rPr lang="en-US" dirty="0" err="1">
                <a:latin typeface="Times New Roman" panose="02020603050405020304" pitchFamily="18" charset="0"/>
                <a:cs typeface="Times New Roman" panose="02020603050405020304" pitchFamily="18" charset="0"/>
              </a:rPr>
              <a:t>agro</a:t>
            </a:r>
            <a:r>
              <a:rPr lang="en-US" dirty="0">
                <a:latin typeface="Times New Roman" panose="02020603050405020304" pitchFamily="18" charset="0"/>
                <a:cs typeface="Times New Roman" panose="02020603050405020304" pitchFamily="18" charset="0"/>
              </a:rPr>
              <a:t>-forestry models based on appropriateness; </a:t>
            </a:r>
          </a:p>
          <a:p>
            <a:pPr marL="0" indent="0" algn="just">
              <a:buNone/>
            </a:pPr>
            <a:r>
              <a:rPr lang="en-US" dirty="0">
                <a:latin typeface="Times New Roman" panose="02020603050405020304" pitchFamily="18" charset="0"/>
                <a:cs typeface="Times New Roman" panose="02020603050405020304" pitchFamily="18" charset="0"/>
              </a:rPr>
              <a:t>(vii) prioritization of study, research, publicity and capacity-building of </a:t>
            </a:r>
            <a:r>
              <a:rPr lang="en-US" dirty="0" err="1">
                <a:latin typeface="Times New Roman" panose="02020603050405020304" pitchFamily="18" charset="0"/>
                <a:cs typeface="Times New Roman" panose="02020603050405020304" pitchFamily="18" charset="0"/>
              </a:rPr>
              <a:t>agro</a:t>
            </a:r>
            <a:r>
              <a:rPr lang="en-US" dirty="0">
                <a:latin typeface="Times New Roman" panose="02020603050405020304" pitchFamily="18" charset="0"/>
                <a:cs typeface="Times New Roman" panose="02020603050405020304" pitchFamily="18" charset="0"/>
              </a:rPr>
              <a:t>-forestry system, and </a:t>
            </a:r>
          </a:p>
          <a:p>
            <a:pPr marL="0" indent="0" algn="just">
              <a:buNone/>
            </a:pPr>
            <a:r>
              <a:rPr lang="en-US" dirty="0">
                <a:latin typeface="Times New Roman" panose="02020603050405020304" pitchFamily="18" charset="0"/>
                <a:cs typeface="Times New Roman" panose="02020603050405020304" pitchFamily="18" charset="0"/>
              </a:rPr>
              <a:t>(viii) development of a system for the planning, coordination of budget and program, and monitoring and evaluation of </a:t>
            </a:r>
            <a:r>
              <a:rPr lang="en-US" dirty="0" err="1">
                <a:latin typeface="Times New Roman" panose="02020603050405020304" pitchFamily="18" charset="0"/>
                <a:cs typeface="Times New Roman" panose="02020603050405020304" pitchFamily="18" charset="0"/>
              </a:rPr>
              <a:t>agro</a:t>
            </a:r>
            <a:r>
              <a:rPr lang="en-US" dirty="0">
                <a:latin typeface="Times New Roman" panose="02020603050405020304" pitchFamily="18" charset="0"/>
                <a:cs typeface="Times New Roman" panose="02020603050405020304" pitchFamily="18" charset="0"/>
              </a:rPr>
              <a:t>-forestry at three levels of federal, provincial and local levels.</a:t>
            </a:r>
          </a:p>
          <a:p>
            <a:pPr marL="0" indent="0">
              <a:buNone/>
            </a:pPr>
            <a:endParaRPr lang="en-US" dirty="0"/>
          </a:p>
        </p:txBody>
      </p:sp>
    </p:spTree>
    <p:extLst>
      <p:ext uri="{BB962C8B-B14F-4D97-AF65-F5344CB8AC3E}">
        <p14:creationId xmlns:p14="http://schemas.microsoft.com/office/powerpoint/2010/main" val="316631767"/>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C3D72F-E52E-DA39-D340-360629643330}"/>
              </a:ext>
            </a:extLst>
          </p:cNvPr>
          <p:cNvSpPr>
            <a:spLocks noGrp="1"/>
          </p:cNvSpPr>
          <p:nvPr>
            <p:ph type="title"/>
          </p:nvPr>
        </p:nvSpPr>
        <p:spPr>
          <a:xfrm>
            <a:off x="152400" y="76200"/>
            <a:ext cx="8229600" cy="990600"/>
          </a:xfrm>
        </p:spPr>
        <p:txBody>
          <a:bodyPr/>
          <a:lstStyle/>
          <a:p>
            <a:r>
              <a:rPr lang="en-US" dirty="0">
                <a:latin typeface="Times New Roman" panose="02020603050405020304" pitchFamily="18" charset="0"/>
                <a:cs typeface="Times New Roman" panose="02020603050405020304" pitchFamily="18" charset="0"/>
              </a:rPr>
              <a:t>Acts</a:t>
            </a:r>
          </a:p>
        </p:txBody>
      </p:sp>
      <p:sp>
        <p:nvSpPr>
          <p:cNvPr id="3" name="Content Placeholder 2">
            <a:extLst>
              <a:ext uri="{FF2B5EF4-FFF2-40B4-BE49-F238E27FC236}">
                <a16:creationId xmlns:a16="http://schemas.microsoft.com/office/drawing/2014/main" id="{0B7E70D3-1F4F-67D3-5C6A-7EEB0718E1DC}"/>
              </a:ext>
            </a:extLst>
          </p:cNvPr>
          <p:cNvSpPr>
            <a:spLocks noGrp="1"/>
          </p:cNvSpPr>
          <p:nvPr>
            <p:ph idx="1"/>
          </p:nvPr>
        </p:nvSpPr>
        <p:spPr>
          <a:xfrm>
            <a:off x="152400" y="1066800"/>
            <a:ext cx="8991600" cy="5410200"/>
          </a:xfrm>
        </p:spPr>
        <p:txBody>
          <a:bodyPr>
            <a:normAutofit lnSpcReduction="10000"/>
          </a:bodyPr>
          <a:lstStyle/>
          <a:p>
            <a:pPr marL="0" indent="0" algn="just">
              <a:buNone/>
            </a:pPr>
            <a:r>
              <a:rPr lang="en-US" sz="2800" dirty="0">
                <a:solidFill>
                  <a:srgbClr val="FF0000"/>
                </a:solidFill>
                <a:latin typeface="Times New Roman" panose="02020603050405020304" pitchFamily="18" charset="0"/>
                <a:cs typeface="Times New Roman" panose="02020603050405020304" pitchFamily="18" charset="0"/>
              </a:rPr>
              <a:t>Birta Abolition Act, 1959</a:t>
            </a:r>
          </a:p>
          <a:p>
            <a:pPr algn="just"/>
            <a:r>
              <a:rPr lang="en-US" dirty="0">
                <a:latin typeface="Times New Roman" panose="02020603050405020304" pitchFamily="18" charset="0"/>
                <a:cs typeface="Times New Roman" panose="02020603050405020304" pitchFamily="18" charset="0"/>
              </a:rPr>
              <a:t>This Birta Abolition Act (1959) had been enacted for collecting land revenue from Birta (tax-free land). More specifically, the preamble of the Act states that it was desirable to abolish the feudal system that nurtured a system of land tenure to use land without paying land revenue to the state.</a:t>
            </a:r>
          </a:p>
          <a:p>
            <a:pPr algn="just"/>
            <a:r>
              <a:rPr lang="en-US" dirty="0">
                <a:latin typeface="Times New Roman" panose="02020603050405020304" pitchFamily="18" charset="0"/>
                <a:cs typeface="Times New Roman" panose="02020603050405020304" pitchFamily="18" charset="0"/>
              </a:rPr>
              <a:t>The Birta land was categorized into A and B. A category of Birta land included “the land under which the Birta-holder could collect the revenues as per the agreed contract system or lands used for collection of revenues as specified by the then revenue figure norms regardless of the obligation of payment of some portion of collected revenue or non-payment to the state and uninhabited public land and forest”. B category of Birta lands included all other Birta lands which are exclusive of category A. </a:t>
            </a:r>
          </a:p>
        </p:txBody>
      </p:sp>
    </p:spTree>
    <p:extLst>
      <p:ext uri="{BB962C8B-B14F-4D97-AF65-F5344CB8AC3E}">
        <p14:creationId xmlns:p14="http://schemas.microsoft.com/office/powerpoint/2010/main" val="3150318134"/>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5DB14B5-E6E7-76E2-2641-2E8F7A7D6F09}"/>
              </a:ext>
            </a:extLst>
          </p:cNvPr>
          <p:cNvSpPr>
            <a:spLocks noGrp="1"/>
          </p:cNvSpPr>
          <p:nvPr>
            <p:ph idx="1"/>
          </p:nvPr>
        </p:nvSpPr>
        <p:spPr>
          <a:xfrm>
            <a:off x="76200" y="457200"/>
            <a:ext cx="8991600" cy="6248400"/>
          </a:xfrm>
        </p:spPr>
        <p:txBody>
          <a:bodyPr>
            <a:normAutofit lnSpcReduction="10000"/>
          </a:bodyPr>
          <a:lstStyle/>
          <a:p>
            <a:pPr marL="0" indent="0" algn="just">
              <a:buNone/>
            </a:pPr>
            <a:r>
              <a:rPr lang="en-US" sz="2800" dirty="0">
                <a:solidFill>
                  <a:srgbClr val="FF0000"/>
                </a:solidFill>
                <a:latin typeface="Times New Roman" panose="02020603050405020304" pitchFamily="18" charset="0"/>
                <a:cs typeface="Times New Roman" panose="02020603050405020304" pitchFamily="18" charset="0"/>
              </a:rPr>
              <a:t>Birta Abolition Act, 1959…….</a:t>
            </a:r>
          </a:p>
          <a:p>
            <a:pPr marL="0" indent="0" algn="just">
              <a:lnSpc>
                <a:spcPct val="150000"/>
              </a:lnSpc>
              <a:buNone/>
            </a:pPr>
            <a:r>
              <a:rPr lang="en-US" dirty="0">
                <a:latin typeface="Times New Roman" panose="02020603050405020304" pitchFamily="18" charset="0"/>
                <a:cs typeface="Times New Roman" panose="02020603050405020304" pitchFamily="18" charset="0"/>
              </a:rPr>
              <a:t>Characteristically, some of the salient provisions of the Act comprise: </a:t>
            </a:r>
          </a:p>
          <a:p>
            <a:pPr marL="0" indent="0" algn="just">
              <a:lnSpc>
                <a:spcPct val="150000"/>
              </a:lnSpc>
              <a:buNone/>
            </a:pPr>
            <a:r>
              <a:rPr lang="en-US" dirty="0">
                <a:latin typeface="Times New Roman" panose="02020603050405020304" pitchFamily="18" charset="0"/>
                <a:cs typeface="Times New Roman" panose="02020603050405020304" pitchFamily="18" charset="0"/>
              </a:rPr>
              <a:t>(</a:t>
            </a:r>
            <a:r>
              <a:rPr lang="en-US" dirty="0" err="1">
                <a:latin typeface="Times New Roman" panose="02020603050405020304" pitchFamily="18" charset="0"/>
                <a:cs typeface="Times New Roman" panose="02020603050405020304" pitchFamily="18" charset="0"/>
              </a:rPr>
              <a:t>i</a:t>
            </a:r>
            <a:r>
              <a:rPr lang="en-US" dirty="0">
                <a:latin typeface="Times New Roman" panose="02020603050405020304" pitchFamily="18" charset="0"/>
                <a:cs typeface="Times New Roman" panose="02020603050405020304" pitchFamily="18" charset="0"/>
              </a:rPr>
              <a:t>) abolition of all types of Birta lands on the very first day of the implementation of this Act; </a:t>
            </a:r>
          </a:p>
          <a:p>
            <a:pPr marL="0" indent="0" algn="just">
              <a:lnSpc>
                <a:spcPct val="150000"/>
              </a:lnSpc>
              <a:buNone/>
            </a:pPr>
            <a:r>
              <a:rPr lang="en-US" dirty="0">
                <a:latin typeface="Times New Roman" panose="02020603050405020304" pitchFamily="18" charset="0"/>
                <a:cs typeface="Times New Roman" panose="02020603050405020304" pitchFamily="18" charset="0"/>
              </a:rPr>
              <a:t>(ii) conversion of all Birta lands into Raikar (state-owned land) by transferring its ownership to Nepal government; </a:t>
            </a:r>
          </a:p>
          <a:p>
            <a:pPr marL="0" indent="0" algn="just">
              <a:lnSpc>
                <a:spcPct val="150000"/>
              </a:lnSpc>
              <a:buNone/>
            </a:pPr>
            <a:r>
              <a:rPr lang="en-US" dirty="0">
                <a:latin typeface="Times New Roman" panose="02020603050405020304" pitchFamily="18" charset="0"/>
                <a:cs typeface="Times New Roman" panose="02020603050405020304" pitchFamily="18" charset="0"/>
              </a:rPr>
              <a:t>(iii) automatic annulment of all entitlements and rights of Birta-holders pertaining to their land ownership;</a:t>
            </a:r>
          </a:p>
          <a:p>
            <a:pPr marL="0" indent="0" algn="just">
              <a:lnSpc>
                <a:spcPct val="150000"/>
              </a:lnSpc>
              <a:buNone/>
            </a:pPr>
            <a:r>
              <a:rPr lang="en-US" dirty="0">
                <a:latin typeface="Times New Roman" panose="02020603050405020304" pitchFamily="18" charset="0"/>
                <a:cs typeface="Times New Roman" panose="02020603050405020304" pitchFamily="18" charset="0"/>
              </a:rPr>
              <a:t>(iv) annulment of all acts and other official documents or any other written letters which ensured the land ownership entitlements and rights to any person;</a:t>
            </a:r>
          </a:p>
        </p:txBody>
      </p:sp>
    </p:spTree>
    <p:extLst>
      <p:ext uri="{BB962C8B-B14F-4D97-AF65-F5344CB8AC3E}">
        <p14:creationId xmlns:p14="http://schemas.microsoft.com/office/powerpoint/2010/main" val="3181883498"/>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83CEC395-4B74-7782-7DA3-35245EEEF44B}"/>
              </a:ext>
            </a:extLst>
          </p:cNvPr>
          <p:cNvSpPr>
            <a:spLocks noGrp="1"/>
          </p:cNvSpPr>
          <p:nvPr>
            <p:ph idx="1"/>
          </p:nvPr>
        </p:nvSpPr>
        <p:spPr>
          <a:xfrm>
            <a:off x="152400" y="457200"/>
            <a:ext cx="8915400" cy="6400800"/>
          </a:xfrm>
        </p:spPr>
        <p:txBody>
          <a:bodyPr>
            <a:normAutofit fontScale="92500" lnSpcReduction="20000"/>
          </a:bodyPr>
          <a:lstStyle/>
          <a:p>
            <a:pPr marL="0" indent="0" algn="just">
              <a:buNone/>
            </a:pPr>
            <a:r>
              <a:rPr lang="en-US" dirty="0">
                <a:solidFill>
                  <a:srgbClr val="FF0000"/>
                </a:solidFill>
                <a:latin typeface="Times New Roman" panose="02020603050405020304" pitchFamily="18" charset="0"/>
                <a:cs typeface="Times New Roman" panose="02020603050405020304" pitchFamily="18" charset="0"/>
              </a:rPr>
              <a:t>Birta Abolition Act, 1959…….</a:t>
            </a:r>
          </a:p>
          <a:p>
            <a:pPr marL="0" indent="0" algn="just">
              <a:lnSpc>
                <a:spcPct val="150000"/>
              </a:lnSpc>
              <a:buNone/>
            </a:pPr>
            <a:r>
              <a:rPr lang="en-US" dirty="0">
                <a:latin typeface="Times New Roman" panose="02020603050405020304" pitchFamily="18" charset="0"/>
                <a:cs typeface="Times New Roman" panose="02020603050405020304" pitchFamily="18" charset="0"/>
              </a:rPr>
              <a:t>(</a:t>
            </a:r>
            <a:r>
              <a:rPr lang="en-US" sz="2600" dirty="0">
                <a:latin typeface="Times New Roman" panose="02020603050405020304" pitchFamily="18" charset="0"/>
                <a:cs typeface="Times New Roman" panose="02020603050405020304" pitchFamily="18" charset="0"/>
              </a:rPr>
              <a:t>v) registration of A category Birta land into the names of the sitting tenants</a:t>
            </a:r>
          </a:p>
          <a:p>
            <a:pPr marL="0" indent="0" algn="just">
              <a:lnSpc>
                <a:spcPct val="150000"/>
              </a:lnSpc>
              <a:buNone/>
            </a:pPr>
            <a:r>
              <a:rPr lang="en-US" sz="2600" dirty="0">
                <a:latin typeface="Times New Roman" panose="02020603050405020304" pitchFamily="18" charset="0"/>
                <a:cs typeface="Times New Roman" panose="02020603050405020304" pitchFamily="18" charset="0"/>
              </a:rPr>
              <a:t>(vi) registration of all B categories of Birta lands into the names of Birta-holders provision of registering of B category of Birta lands in the name of tillers who can apply at land or land revenue offices with all necessary evidences within the time-frame specified by the government</a:t>
            </a:r>
          </a:p>
          <a:p>
            <a:pPr marL="0" indent="0" algn="just">
              <a:lnSpc>
                <a:spcPct val="150000"/>
              </a:lnSpc>
              <a:buNone/>
            </a:pPr>
            <a:r>
              <a:rPr lang="en-US" sz="2600" dirty="0">
                <a:latin typeface="Times New Roman" panose="02020603050405020304" pitchFamily="18" charset="0"/>
                <a:cs typeface="Times New Roman" panose="02020603050405020304" pitchFamily="18" charset="0"/>
              </a:rPr>
              <a:t>(vii) arrangement of compensations to the A category Birta-holders by the Nepal government, and</a:t>
            </a:r>
          </a:p>
          <a:p>
            <a:pPr marL="0" indent="0" algn="just">
              <a:lnSpc>
                <a:spcPct val="150000"/>
              </a:lnSpc>
              <a:buNone/>
            </a:pPr>
            <a:r>
              <a:rPr lang="en-US" sz="2600" dirty="0">
                <a:latin typeface="Times New Roman" panose="02020603050405020304" pitchFamily="18" charset="0"/>
                <a:cs typeface="Times New Roman" panose="02020603050405020304" pitchFamily="18" charset="0"/>
              </a:rPr>
              <a:t>(viii) special arrangement for the registration of Birta lands not registered in the name of any person by converting it into Raikar until June-July 1992 which could benefit sitting tenants.</a:t>
            </a:r>
          </a:p>
          <a:p>
            <a:pPr marL="0" indent="0">
              <a:buNone/>
            </a:pPr>
            <a:endParaRPr lang="en-US" dirty="0"/>
          </a:p>
        </p:txBody>
      </p:sp>
    </p:spTree>
    <p:extLst>
      <p:ext uri="{BB962C8B-B14F-4D97-AF65-F5344CB8AC3E}">
        <p14:creationId xmlns:p14="http://schemas.microsoft.com/office/powerpoint/2010/main" val="2954288954"/>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2AB7B5-9004-FA75-0909-4BF10FEB0514}"/>
              </a:ext>
            </a:extLst>
          </p:cNvPr>
          <p:cNvSpPr>
            <a:spLocks noGrp="1"/>
          </p:cNvSpPr>
          <p:nvPr>
            <p:ph type="title"/>
          </p:nvPr>
        </p:nvSpPr>
        <p:spPr>
          <a:xfrm>
            <a:off x="76200" y="264560"/>
            <a:ext cx="8991600" cy="1066800"/>
          </a:xfrm>
        </p:spPr>
        <p:txBody>
          <a:bodyPr>
            <a:normAutofit/>
          </a:bodyPr>
          <a:lstStyle/>
          <a:p>
            <a:r>
              <a:rPr lang="en-US" sz="3600" dirty="0">
                <a:latin typeface="Times New Roman" panose="02020603050405020304" pitchFamily="18" charset="0"/>
                <a:cs typeface="Times New Roman" panose="02020603050405020304" pitchFamily="18" charset="0"/>
              </a:rPr>
              <a:t>Land (Survey and Measurement) Act, 1963</a:t>
            </a:r>
          </a:p>
        </p:txBody>
      </p:sp>
      <p:sp>
        <p:nvSpPr>
          <p:cNvPr id="3" name="Content Placeholder 2">
            <a:extLst>
              <a:ext uri="{FF2B5EF4-FFF2-40B4-BE49-F238E27FC236}">
                <a16:creationId xmlns:a16="http://schemas.microsoft.com/office/drawing/2014/main" id="{5D8A6C59-2954-9297-5AD7-DBC844A395B6}"/>
              </a:ext>
            </a:extLst>
          </p:cNvPr>
          <p:cNvSpPr>
            <a:spLocks noGrp="1"/>
          </p:cNvSpPr>
          <p:nvPr>
            <p:ph idx="1"/>
          </p:nvPr>
        </p:nvSpPr>
        <p:spPr>
          <a:xfrm>
            <a:off x="76200" y="1295400"/>
            <a:ext cx="8991600" cy="5562600"/>
          </a:xfrm>
        </p:spPr>
        <p:txBody>
          <a:bodyPr>
            <a:normAutofit fontScale="92500" lnSpcReduction="10000"/>
          </a:bodyPr>
          <a:lstStyle/>
          <a:p>
            <a:pPr algn="just">
              <a:lnSpc>
                <a:spcPct val="150000"/>
              </a:lnSpc>
            </a:pPr>
            <a:r>
              <a:rPr lang="en-US" dirty="0">
                <a:latin typeface="Times New Roman" panose="02020603050405020304" pitchFamily="18" charset="0"/>
                <a:cs typeface="Times New Roman" panose="02020603050405020304" pitchFamily="18" charset="0"/>
              </a:rPr>
              <a:t>It was enacted and implemented for maintaining relations of people belonging to different classes and castes/ethnicities and conducting the cadastral survey for maintaining the facility of the citizenry and specifying the types or categories of land.</a:t>
            </a:r>
          </a:p>
          <a:p>
            <a:pPr algn="just">
              <a:lnSpc>
                <a:spcPct val="150000"/>
              </a:lnSpc>
            </a:pPr>
            <a:r>
              <a:rPr lang="en-US" dirty="0">
                <a:latin typeface="Times New Roman" panose="02020603050405020304" pitchFamily="18" charset="0"/>
                <a:cs typeface="Times New Roman" panose="02020603050405020304" pitchFamily="18" charset="0"/>
              </a:rPr>
              <a:t>This Act has offered some important definitions which are useful for researchers, government officials, policy-makers, and advocacy activists. These comprise “land”, “cadastral survey”, “landlord”, “tenant”, “governmental land”, “public land”, and “community land”. The term “land” meant “all types of land including the land with houses, gardens, trees, factories, ponds, lakes, etc.” The term “cadastral survey” has been broadly defined.</a:t>
            </a:r>
          </a:p>
          <a:p>
            <a:pPr algn="just"/>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589860117"/>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7C7369D-2033-9DD9-21C7-D3BD712F8080}"/>
              </a:ext>
            </a:extLst>
          </p:cNvPr>
          <p:cNvSpPr>
            <a:spLocks noGrp="1"/>
          </p:cNvSpPr>
          <p:nvPr>
            <p:ph idx="1"/>
          </p:nvPr>
        </p:nvSpPr>
        <p:spPr>
          <a:xfrm>
            <a:off x="152400" y="457200"/>
            <a:ext cx="8839200" cy="6400800"/>
          </a:xfrm>
        </p:spPr>
        <p:txBody>
          <a:bodyPr>
            <a:normAutofit/>
          </a:bodyPr>
          <a:lstStyle/>
          <a:p>
            <a:pPr marL="0" indent="0" algn="just">
              <a:buNone/>
            </a:pPr>
            <a:r>
              <a:rPr lang="en-US" sz="4500" dirty="0">
                <a:solidFill>
                  <a:srgbClr val="FF0000"/>
                </a:solidFill>
                <a:latin typeface="Times New Roman" panose="02020603050405020304" pitchFamily="18" charset="0"/>
                <a:cs typeface="Times New Roman" panose="02020603050405020304" pitchFamily="18" charset="0"/>
              </a:rPr>
              <a:t>Land (Survey and Measurement) Act, 1963…….</a:t>
            </a:r>
          </a:p>
          <a:p>
            <a:pPr marL="0" indent="0" algn="just">
              <a:buNone/>
            </a:pPr>
            <a:endParaRPr lang="en-US" dirty="0">
              <a:latin typeface="Times New Roman" panose="02020603050405020304" pitchFamily="18" charset="0"/>
              <a:cs typeface="Times New Roman" panose="02020603050405020304" pitchFamily="18" charset="0"/>
            </a:endParaRPr>
          </a:p>
          <a:p>
            <a:pPr marL="0" indent="0" algn="just">
              <a:buNone/>
            </a:pPr>
            <a:r>
              <a:rPr lang="en-US" dirty="0">
                <a:latin typeface="Times New Roman" panose="02020603050405020304" pitchFamily="18" charset="0"/>
                <a:cs typeface="Times New Roman" panose="02020603050405020304" pitchFamily="18" charset="0"/>
              </a:rPr>
              <a:t>Some of the salient legal provisions of this Act comprise: </a:t>
            </a:r>
          </a:p>
          <a:p>
            <a:pPr marL="514350" indent="-514350" algn="just">
              <a:buAutoNum type="romanLcParenBoth"/>
            </a:pPr>
            <a:r>
              <a:rPr lang="en-US" dirty="0">
                <a:latin typeface="Times New Roman" panose="02020603050405020304" pitchFamily="18" charset="0"/>
                <a:cs typeface="Times New Roman" panose="02020603050405020304" pitchFamily="18" charset="0"/>
              </a:rPr>
              <a:t>the authority/power of implementing cadastral survey is vested with the government of Nepal which can issue order for initiating it in the entire country or any specific area; </a:t>
            </a:r>
          </a:p>
          <a:p>
            <a:pPr marL="514350" indent="-514350" algn="just">
              <a:buAutoNum type="romanLcParenBoth"/>
            </a:pPr>
            <a:r>
              <a:rPr lang="en-US" dirty="0">
                <a:latin typeface="Times New Roman" panose="02020603050405020304" pitchFamily="18" charset="0"/>
                <a:cs typeface="Times New Roman" panose="02020603050405020304" pitchFamily="18" charset="0"/>
              </a:rPr>
              <a:t>commencement of cadastral survey-related works in an area by issuing notification to landlords, tenants, peasants of the adjoining lands, traditional local land revenue collection functionaries, local government units at least 15 days prior to the onset of survey;</a:t>
            </a:r>
          </a:p>
          <a:p>
            <a:pPr marL="514350" indent="-514350" algn="just">
              <a:buAutoNum type="romanLcParenBoth"/>
            </a:pPr>
            <a:r>
              <a:rPr lang="en-US" dirty="0">
                <a:latin typeface="Times New Roman" panose="02020603050405020304" pitchFamily="18" charset="0"/>
                <a:cs typeface="Times New Roman" panose="02020603050405020304" pitchFamily="18" charset="0"/>
              </a:rPr>
              <a:t>registration of the land through survey in the area land record book and the subsequent distribution of certificates of land ownership among owners</a:t>
            </a:r>
          </a:p>
        </p:txBody>
      </p:sp>
    </p:spTree>
    <p:extLst>
      <p:ext uri="{BB962C8B-B14F-4D97-AF65-F5344CB8AC3E}">
        <p14:creationId xmlns:p14="http://schemas.microsoft.com/office/powerpoint/2010/main" val="2544197472"/>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0AE3242A-95EF-45DD-26F0-3862DEF28F41}"/>
              </a:ext>
            </a:extLst>
          </p:cNvPr>
          <p:cNvSpPr>
            <a:spLocks noGrp="1"/>
          </p:cNvSpPr>
          <p:nvPr>
            <p:ph idx="1"/>
          </p:nvPr>
        </p:nvSpPr>
        <p:spPr>
          <a:xfrm>
            <a:off x="76200" y="381000"/>
            <a:ext cx="8991600" cy="6324600"/>
          </a:xfrm>
        </p:spPr>
        <p:txBody>
          <a:bodyPr vert="horz" lIns="91440" tIns="45720" rIns="91440" bIns="45720" rtlCol="0">
            <a:normAutofit fontScale="25000" lnSpcReduction="20000"/>
          </a:bodyPr>
          <a:lstStyle/>
          <a:p>
            <a:pPr marL="0" indent="0" algn="just">
              <a:buNone/>
            </a:pPr>
            <a:r>
              <a:rPr lang="en-US" sz="9600" dirty="0">
                <a:solidFill>
                  <a:srgbClr val="FF0000"/>
                </a:solidFill>
                <a:latin typeface="Times New Roman" panose="02020603050405020304" pitchFamily="18" charset="0"/>
                <a:cs typeface="Times New Roman" panose="02020603050405020304" pitchFamily="18" charset="0"/>
              </a:rPr>
              <a:t>Land (Survey and Measurement) Act, 1963…….</a:t>
            </a:r>
          </a:p>
          <a:p>
            <a:pPr marL="0" indent="0" algn="just">
              <a:lnSpc>
                <a:spcPct val="170000"/>
              </a:lnSpc>
              <a:buNone/>
            </a:pPr>
            <a:r>
              <a:rPr lang="en-US" sz="9600" dirty="0">
                <a:latin typeface="Times New Roman" panose="02020603050405020304" pitchFamily="18" charset="0"/>
                <a:cs typeface="Times New Roman" panose="02020603050405020304" pitchFamily="18" charset="0"/>
              </a:rPr>
              <a:t>(iv) mention of the evidentiary details of tenancy rights in the area land record book in the case of the tenanted land;</a:t>
            </a:r>
          </a:p>
          <a:p>
            <a:pPr marL="0" indent="0" algn="just">
              <a:lnSpc>
                <a:spcPct val="170000"/>
              </a:lnSpc>
              <a:buNone/>
            </a:pPr>
            <a:r>
              <a:rPr lang="en-US" sz="9600" dirty="0">
                <a:latin typeface="Times New Roman" panose="02020603050405020304" pitchFamily="18" charset="0"/>
                <a:cs typeface="Times New Roman" panose="02020603050405020304" pitchFamily="18" charset="0"/>
              </a:rPr>
              <a:t>(v) legal arrangement for conducting survey of the lands not covered during the comprehensive cadastral survey time in a particular area</a:t>
            </a:r>
          </a:p>
          <a:p>
            <a:pPr marL="0" indent="0" algn="just">
              <a:lnSpc>
                <a:spcPct val="170000"/>
              </a:lnSpc>
              <a:buNone/>
            </a:pPr>
            <a:r>
              <a:rPr lang="en-US" sz="9600" dirty="0">
                <a:latin typeface="Times New Roman" panose="02020603050405020304" pitchFamily="18" charset="0"/>
                <a:cs typeface="Times New Roman" panose="02020603050405020304" pitchFamily="18" charset="0"/>
              </a:rPr>
              <a:t>(vi) registration of land utilized/reclaimed/settled by anyone through encroachment as originally specified category of land; </a:t>
            </a:r>
            <a:endParaRPr lang="en-US" sz="9600" dirty="0">
              <a:solidFill>
                <a:srgbClr val="FF0000"/>
              </a:solidFill>
              <a:latin typeface="Times New Roman" panose="02020603050405020304" pitchFamily="18" charset="0"/>
              <a:cs typeface="Times New Roman" panose="02020603050405020304" pitchFamily="18" charset="0"/>
            </a:endParaRPr>
          </a:p>
          <a:p>
            <a:pPr marL="0" indent="0" algn="just">
              <a:lnSpc>
                <a:spcPct val="170000"/>
              </a:lnSpc>
              <a:buNone/>
            </a:pPr>
            <a:r>
              <a:rPr lang="en-US" sz="9600" dirty="0">
                <a:latin typeface="Times New Roman" panose="02020603050405020304" pitchFamily="18" charset="0"/>
                <a:cs typeface="Times New Roman" panose="02020603050405020304" pitchFamily="18" charset="0"/>
              </a:rPr>
              <a:t>(vii) specification of the legal obligation of the land owners to pay land revenue/s to the land revenue office/s as the area of landholding</a:t>
            </a:r>
            <a:endParaRPr lang="ne-NP" sz="9600" dirty="0">
              <a:latin typeface="Times New Roman" panose="02020603050405020304" pitchFamily="18" charset="0"/>
              <a:cs typeface="Times New Roman" panose="02020603050405020304" pitchFamily="18" charset="0"/>
            </a:endParaRPr>
          </a:p>
          <a:p>
            <a:pPr marL="0" indent="0" algn="just">
              <a:lnSpc>
                <a:spcPct val="170000"/>
              </a:lnSpc>
              <a:buNone/>
            </a:pPr>
            <a:r>
              <a:rPr lang="en-US" sz="9600" dirty="0">
                <a:latin typeface="Times New Roman" panose="02020603050405020304" pitchFamily="18" charset="0"/>
                <a:cs typeface="Times New Roman" panose="02020603050405020304" pitchFamily="18" charset="0"/>
              </a:rPr>
              <a:t>(viii) land classification during the time of cadastral survey as per the specified criteria; </a:t>
            </a:r>
          </a:p>
          <a:p>
            <a:pPr marL="0" indent="0" algn="just">
              <a:lnSpc>
                <a:spcPct val="170000"/>
              </a:lnSpc>
              <a:buNone/>
            </a:pPr>
            <a:endParaRPr lang="en-US" sz="9600" dirty="0">
              <a:latin typeface="Times New Roman" panose="02020603050405020304" pitchFamily="18" charset="0"/>
              <a:cs typeface="Times New Roman" panose="02020603050405020304" pitchFamily="18" charset="0"/>
            </a:endParaRPr>
          </a:p>
          <a:p>
            <a:pPr marL="0" indent="0" algn="just">
              <a:buNone/>
            </a:pPr>
            <a:endParaRPr lang="en-US" sz="4500" dirty="0">
              <a:solidFill>
                <a:srgbClr val="FF000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019379731"/>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9E66715-5EF5-400B-B4B7-1E1B49664298}"/>
              </a:ext>
            </a:extLst>
          </p:cNvPr>
          <p:cNvSpPr>
            <a:spLocks noGrp="1"/>
          </p:cNvSpPr>
          <p:nvPr>
            <p:ph idx="1"/>
          </p:nvPr>
        </p:nvSpPr>
        <p:spPr>
          <a:xfrm>
            <a:off x="76200" y="457200"/>
            <a:ext cx="8991600" cy="6324600"/>
          </a:xfrm>
        </p:spPr>
        <p:txBody>
          <a:bodyPr>
            <a:normAutofit fontScale="47500" lnSpcReduction="20000"/>
          </a:bodyPr>
          <a:lstStyle/>
          <a:p>
            <a:pPr marL="0" indent="0" algn="just">
              <a:lnSpc>
                <a:spcPct val="170000"/>
              </a:lnSpc>
              <a:buNone/>
            </a:pPr>
            <a:r>
              <a:rPr lang="en-US" sz="4400" dirty="0">
                <a:solidFill>
                  <a:srgbClr val="FF0000"/>
                </a:solidFill>
                <a:latin typeface="Times New Roman" panose="02020603050405020304" pitchFamily="18" charset="0"/>
                <a:cs typeface="Times New Roman" panose="02020603050405020304" pitchFamily="18" charset="0"/>
              </a:rPr>
              <a:t>Land (Survey and Measurement) Act, 1963…….</a:t>
            </a:r>
          </a:p>
          <a:p>
            <a:pPr marL="0" indent="0" algn="just">
              <a:lnSpc>
                <a:spcPct val="170000"/>
              </a:lnSpc>
              <a:buNone/>
            </a:pPr>
            <a:r>
              <a:rPr lang="en-US" sz="4200" dirty="0">
                <a:latin typeface="Times New Roman" panose="02020603050405020304" pitchFamily="18" charset="0"/>
                <a:cs typeface="Times New Roman" panose="02020603050405020304" pitchFamily="18" charset="0"/>
              </a:rPr>
              <a:t>(ix) constitution of a committee for investigating the non-compliance of this Act or regulation framed under it or correcting the registration of forest boundary, governmental land, public land, community land or trust land by encroaching or resolving any other general problem encountered during the land registration process through mapping; </a:t>
            </a:r>
          </a:p>
          <a:p>
            <a:pPr marL="0" indent="0" algn="just">
              <a:lnSpc>
                <a:spcPct val="170000"/>
              </a:lnSpc>
              <a:buNone/>
            </a:pPr>
            <a:r>
              <a:rPr lang="en-US" sz="4200" dirty="0">
                <a:latin typeface="Times New Roman" panose="02020603050405020304" pitchFamily="18" charset="0"/>
                <a:cs typeface="Times New Roman" panose="02020603050405020304" pitchFamily="18" charset="0"/>
              </a:rPr>
              <a:t>(x) implementation of the cadastral survey by the government of Nepal;</a:t>
            </a:r>
          </a:p>
          <a:p>
            <a:pPr marL="0" indent="0" algn="just">
              <a:lnSpc>
                <a:spcPct val="170000"/>
              </a:lnSpc>
              <a:buNone/>
            </a:pPr>
            <a:r>
              <a:rPr lang="en-US" sz="4200" dirty="0">
                <a:latin typeface="Times New Roman" panose="02020603050405020304" pitchFamily="18" charset="0"/>
                <a:cs typeface="Times New Roman" panose="02020603050405020304" pitchFamily="18" charset="0"/>
              </a:rPr>
              <a:t>(xi) implementation of cadastral survey by the government of Nepal for consolidation or integrated development of private, governmental, public or community land; </a:t>
            </a:r>
          </a:p>
          <a:p>
            <a:pPr marL="0" indent="0" algn="just">
              <a:lnSpc>
                <a:spcPct val="170000"/>
              </a:lnSpc>
              <a:buNone/>
            </a:pPr>
            <a:r>
              <a:rPr lang="en-US" sz="4200">
                <a:latin typeface="Times New Roman" panose="02020603050405020304" pitchFamily="18" charset="0"/>
                <a:cs typeface="Times New Roman" panose="02020603050405020304" pitchFamily="18" charset="0"/>
              </a:rPr>
              <a:t>(xii) </a:t>
            </a:r>
            <a:r>
              <a:rPr lang="en-US" sz="4200" dirty="0">
                <a:latin typeface="Times New Roman" panose="02020603050405020304" pitchFamily="18" charset="0"/>
                <a:cs typeface="Times New Roman" panose="02020603050405020304" pitchFamily="18" charset="0"/>
              </a:rPr>
              <a:t>legal arrangement for the government of Nepal for issuing the license to any person or institution for conducting the cadastral survey by remaining within the provisions of this Act.</a:t>
            </a:r>
            <a:endParaRPr lang="en-US" sz="3400" dirty="0"/>
          </a:p>
        </p:txBody>
      </p:sp>
    </p:spTree>
    <p:extLst>
      <p:ext uri="{BB962C8B-B14F-4D97-AF65-F5344CB8AC3E}">
        <p14:creationId xmlns:p14="http://schemas.microsoft.com/office/powerpoint/2010/main" val="1041530075"/>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B5E891-2376-676F-56C0-D1556692E80B}"/>
              </a:ext>
            </a:extLst>
          </p:cNvPr>
          <p:cNvSpPr>
            <a:spLocks noGrp="1"/>
          </p:cNvSpPr>
          <p:nvPr>
            <p:ph type="title"/>
          </p:nvPr>
        </p:nvSpPr>
        <p:spPr>
          <a:xfrm>
            <a:off x="381000" y="304800"/>
            <a:ext cx="8229600" cy="990600"/>
          </a:xfrm>
        </p:spPr>
        <p:txBody>
          <a:bodyPr>
            <a:normAutofit/>
          </a:bodyPr>
          <a:lstStyle/>
          <a:p>
            <a:r>
              <a:rPr lang="en-US" sz="3600" dirty="0"/>
              <a:t>Act Concerning </a:t>
            </a:r>
            <a:r>
              <a:rPr lang="en-US" sz="3600" dirty="0" err="1"/>
              <a:t>Ukhada</a:t>
            </a:r>
            <a:r>
              <a:rPr lang="en-US" sz="3600" dirty="0"/>
              <a:t>, 1964</a:t>
            </a:r>
          </a:p>
        </p:txBody>
      </p:sp>
      <p:sp>
        <p:nvSpPr>
          <p:cNvPr id="3" name="Content Placeholder 2">
            <a:extLst>
              <a:ext uri="{FF2B5EF4-FFF2-40B4-BE49-F238E27FC236}">
                <a16:creationId xmlns:a16="http://schemas.microsoft.com/office/drawing/2014/main" id="{A1A530BF-C60E-F894-A487-07435094298D}"/>
              </a:ext>
            </a:extLst>
          </p:cNvPr>
          <p:cNvSpPr>
            <a:spLocks noGrp="1"/>
          </p:cNvSpPr>
          <p:nvPr>
            <p:ph idx="1"/>
          </p:nvPr>
        </p:nvSpPr>
        <p:spPr>
          <a:xfrm>
            <a:off x="76200" y="1447800"/>
            <a:ext cx="8839200" cy="5257800"/>
          </a:xfrm>
        </p:spPr>
        <p:txBody>
          <a:bodyPr/>
          <a:lstStyle/>
          <a:p>
            <a:pPr>
              <a:lnSpc>
                <a:spcPct val="150000"/>
              </a:lnSpc>
            </a:pPr>
            <a:r>
              <a:rPr lang="en-US" dirty="0">
                <a:latin typeface="Times New Roman" panose="02020603050405020304" pitchFamily="18" charset="0"/>
                <a:cs typeface="Times New Roman" panose="02020603050405020304" pitchFamily="18" charset="0"/>
              </a:rPr>
              <a:t>This Act Concerning </a:t>
            </a:r>
            <a:r>
              <a:rPr lang="en-US" dirty="0" err="1">
                <a:latin typeface="Times New Roman" panose="02020603050405020304" pitchFamily="18" charset="0"/>
                <a:cs typeface="Times New Roman" panose="02020603050405020304" pitchFamily="18" charset="0"/>
              </a:rPr>
              <a:t>Ukhada</a:t>
            </a:r>
            <a:r>
              <a:rPr lang="en-US" dirty="0">
                <a:latin typeface="Times New Roman" panose="02020603050405020304" pitchFamily="18" charset="0"/>
                <a:cs typeface="Times New Roman" panose="02020603050405020304" pitchFamily="18" charset="0"/>
              </a:rPr>
              <a:t> was enacted and implemented in 1964 which has been amended four times. This was specifically implemented in </a:t>
            </a:r>
            <a:r>
              <a:rPr lang="en-US" dirty="0" err="1">
                <a:latin typeface="Times New Roman" panose="02020603050405020304" pitchFamily="18" charset="0"/>
                <a:cs typeface="Times New Roman" panose="02020603050405020304" pitchFamily="18" charset="0"/>
              </a:rPr>
              <a:t>Nawalparasi</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Rupendehi</a:t>
            </a:r>
            <a:r>
              <a:rPr lang="en-US" dirty="0">
                <a:latin typeface="Times New Roman" panose="02020603050405020304" pitchFamily="18" charset="0"/>
                <a:cs typeface="Times New Roman" panose="02020603050405020304" pitchFamily="18" charset="0"/>
              </a:rPr>
              <a:t>, and Kapilvastu.</a:t>
            </a:r>
          </a:p>
          <a:p>
            <a:pPr>
              <a:lnSpc>
                <a:spcPct val="150000"/>
              </a:lnSpc>
            </a:pPr>
            <a:r>
              <a:rPr lang="en-US" dirty="0">
                <a:latin typeface="Times New Roman" panose="02020603050405020304" pitchFamily="18" charset="0"/>
                <a:cs typeface="Times New Roman" panose="02020603050405020304" pitchFamily="18" charset="0"/>
              </a:rPr>
              <a:t>The term “</a:t>
            </a:r>
            <a:r>
              <a:rPr lang="en-US" dirty="0" err="1">
                <a:latin typeface="Times New Roman" panose="02020603050405020304" pitchFamily="18" charset="0"/>
                <a:cs typeface="Times New Roman" panose="02020603050405020304" pitchFamily="18" charset="0"/>
              </a:rPr>
              <a:t>Ukhada</a:t>
            </a:r>
            <a:r>
              <a:rPr lang="en-US" dirty="0">
                <a:latin typeface="Times New Roman" panose="02020603050405020304" pitchFamily="18" charset="0"/>
                <a:cs typeface="Times New Roman" panose="02020603050405020304" pitchFamily="18" charset="0"/>
              </a:rPr>
              <a:t>” means “the land which is cultivated by the peasant on the stipulation of submitting the </a:t>
            </a:r>
            <a:r>
              <a:rPr lang="en-US" dirty="0" err="1">
                <a:latin typeface="Times New Roman" panose="02020603050405020304" pitchFamily="18" charset="0"/>
                <a:cs typeface="Times New Roman" panose="02020603050405020304" pitchFamily="18" charset="0"/>
              </a:rPr>
              <a:t>Naghat</a:t>
            </a:r>
            <a:r>
              <a:rPr lang="en-US" dirty="0">
                <a:latin typeface="Times New Roman" panose="02020603050405020304" pitchFamily="18" charset="0"/>
                <a:cs typeface="Times New Roman" panose="02020603050405020304" pitchFamily="18" charset="0"/>
              </a:rPr>
              <a:t> Pot (cash ground rent) to the landlord as per mutually agreed upon terms and conditions”. Indeed, this Act was based on the principle of “land to the tillers” (a basis of egalitarianism in the domain of land resource). </a:t>
            </a:r>
          </a:p>
        </p:txBody>
      </p:sp>
    </p:spTree>
    <p:extLst>
      <p:ext uri="{BB962C8B-B14F-4D97-AF65-F5344CB8AC3E}">
        <p14:creationId xmlns:p14="http://schemas.microsoft.com/office/powerpoint/2010/main" val="2663931184"/>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97613B-7B1B-9A3D-BBDC-9CF369656FDE}"/>
              </a:ext>
            </a:extLst>
          </p:cNvPr>
          <p:cNvSpPr>
            <a:spLocks noGrp="1"/>
          </p:cNvSpPr>
          <p:nvPr>
            <p:ph type="title"/>
          </p:nvPr>
        </p:nvSpPr>
        <p:spPr>
          <a:xfrm>
            <a:off x="457200" y="304800"/>
            <a:ext cx="8229600" cy="990600"/>
          </a:xfrm>
        </p:spPr>
        <p:txBody>
          <a:bodyPr>
            <a:noAutofit/>
          </a:bodyPr>
          <a:lstStyle/>
          <a:p>
            <a:r>
              <a:rPr lang="en-US" sz="3200" dirty="0"/>
              <a:t>Land Management (Sale/Distribution) Act of </a:t>
            </a:r>
            <a:r>
              <a:rPr lang="en-US" sz="3200" dirty="0" err="1"/>
              <a:t>Raptidun</a:t>
            </a:r>
            <a:r>
              <a:rPr lang="en-US" sz="3200" dirty="0"/>
              <a:t> Development Sector, 1967</a:t>
            </a:r>
          </a:p>
        </p:txBody>
      </p:sp>
      <p:sp>
        <p:nvSpPr>
          <p:cNvPr id="3" name="Content Placeholder 2">
            <a:extLst>
              <a:ext uri="{FF2B5EF4-FFF2-40B4-BE49-F238E27FC236}">
                <a16:creationId xmlns:a16="http://schemas.microsoft.com/office/drawing/2014/main" id="{DDB2A0E7-2247-F20D-B81A-6BFBC4807307}"/>
              </a:ext>
            </a:extLst>
          </p:cNvPr>
          <p:cNvSpPr>
            <a:spLocks noGrp="1"/>
          </p:cNvSpPr>
          <p:nvPr>
            <p:ph idx="1"/>
          </p:nvPr>
        </p:nvSpPr>
        <p:spPr>
          <a:xfrm>
            <a:off x="152400" y="1295400"/>
            <a:ext cx="8915400" cy="5562600"/>
          </a:xfrm>
        </p:spPr>
        <p:txBody>
          <a:bodyPr>
            <a:normAutofit fontScale="92500" lnSpcReduction="10000"/>
          </a:bodyPr>
          <a:lstStyle/>
          <a:p>
            <a:pPr algn="just">
              <a:lnSpc>
                <a:spcPct val="150000"/>
              </a:lnSpc>
            </a:pPr>
            <a:r>
              <a:rPr lang="en-US" dirty="0"/>
              <a:t>It was revealed that the land was not under the right of those people who were sold and distributed by the government but bizarrely, it was found to be controlled or grabbed by other people (not involved in the entire process). Hence, it was desirable to enact and implement this Act for provisioning the facility to the general people and maintaining their economic interests and equitable sale/distribution of the land of </a:t>
            </a:r>
            <a:r>
              <a:rPr lang="en-US" dirty="0" err="1"/>
              <a:t>Raptidun</a:t>
            </a:r>
            <a:r>
              <a:rPr lang="en-US" dirty="0"/>
              <a:t>. </a:t>
            </a:r>
          </a:p>
          <a:p>
            <a:pPr algn="just">
              <a:lnSpc>
                <a:spcPct val="150000"/>
              </a:lnSpc>
            </a:pPr>
            <a:r>
              <a:rPr lang="en-US" dirty="0"/>
              <a:t>The ideology behind this Act as indicated above the equitable distribution of land to the needy people in the area where there was the cornucopia of forested land awaiting reclamation for human settlement and agricultural purposes.</a:t>
            </a:r>
          </a:p>
        </p:txBody>
      </p:sp>
    </p:spTree>
    <p:extLst>
      <p:ext uri="{BB962C8B-B14F-4D97-AF65-F5344CB8AC3E}">
        <p14:creationId xmlns:p14="http://schemas.microsoft.com/office/powerpoint/2010/main" val="732174697"/>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C42977-951E-0A0C-E916-63286D3EC9F3}"/>
              </a:ext>
            </a:extLst>
          </p:cNvPr>
          <p:cNvSpPr>
            <a:spLocks noGrp="1"/>
          </p:cNvSpPr>
          <p:nvPr>
            <p:ph type="title"/>
          </p:nvPr>
        </p:nvSpPr>
        <p:spPr>
          <a:xfrm>
            <a:off x="76200" y="228600"/>
            <a:ext cx="8229600" cy="990600"/>
          </a:xfrm>
        </p:spPr>
        <p:txBody>
          <a:bodyPr>
            <a:normAutofit/>
          </a:bodyPr>
          <a:lstStyle/>
          <a:p>
            <a:r>
              <a:rPr lang="en-US" sz="3600" dirty="0">
                <a:latin typeface="Times New Roman" panose="02020603050405020304" pitchFamily="18" charset="0"/>
                <a:cs typeface="Times New Roman" panose="02020603050405020304" pitchFamily="18" charset="0"/>
              </a:rPr>
              <a:t>The Lands Act, 1964</a:t>
            </a:r>
          </a:p>
        </p:txBody>
      </p:sp>
      <p:sp>
        <p:nvSpPr>
          <p:cNvPr id="3" name="Content Placeholder 2">
            <a:extLst>
              <a:ext uri="{FF2B5EF4-FFF2-40B4-BE49-F238E27FC236}">
                <a16:creationId xmlns:a16="http://schemas.microsoft.com/office/drawing/2014/main" id="{77413B5A-787F-8B6A-6F34-8BD0C016523C}"/>
              </a:ext>
            </a:extLst>
          </p:cNvPr>
          <p:cNvSpPr>
            <a:spLocks noGrp="1"/>
          </p:cNvSpPr>
          <p:nvPr>
            <p:ph idx="1"/>
          </p:nvPr>
        </p:nvSpPr>
        <p:spPr>
          <a:xfrm>
            <a:off x="76200" y="1066800"/>
            <a:ext cx="8991600" cy="5715000"/>
          </a:xfrm>
        </p:spPr>
        <p:txBody>
          <a:bodyPr>
            <a:normAutofit lnSpcReduction="10000"/>
          </a:bodyPr>
          <a:lstStyle/>
          <a:p>
            <a:pPr algn="just">
              <a:lnSpc>
                <a:spcPct val="150000"/>
              </a:lnSpc>
            </a:pPr>
            <a:r>
              <a:rPr lang="en-US" dirty="0">
                <a:latin typeface="Times New Roman" panose="02020603050405020304" pitchFamily="18" charset="0"/>
                <a:cs typeface="Times New Roman" panose="02020603050405020304" pitchFamily="18" charset="0"/>
              </a:rPr>
              <a:t>The preamble of the Act explicitly shows three interrelated objectives as follows: </a:t>
            </a:r>
          </a:p>
          <a:p>
            <a:pPr marL="0" indent="0" algn="just">
              <a:lnSpc>
                <a:spcPct val="150000"/>
              </a:lnSpc>
              <a:buNone/>
            </a:pPr>
            <a:r>
              <a:rPr lang="en-US" dirty="0">
                <a:latin typeface="Times New Roman" panose="02020603050405020304" pitchFamily="18" charset="0"/>
                <a:cs typeface="Times New Roman" panose="02020603050405020304" pitchFamily="18" charset="0"/>
              </a:rPr>
              <a:t>(</a:t>
            </a:r>
            <a:r>
              <a:rPr lang="en-US" dirty="0" err="1">
                <a:latin typeface="Times New Roman" panose="02020603050405020304" pitchFamily="18" charset="0"/>
                <a:cs typeface="Times New Roman" panose="02020603050405020304" pitchFamily="18" charset="0"/>
              </a:rPr>
              <a:t>i</a:t>
            </a:r>
            <a:r>
              <a:rPr lang="en-US" dirty="0">
                <a:latin typeface="Times New Roman" panose="02020603050405020304" pitchFamily="18" charset="0"/>
                <a:cs typeface="Times New Roman" panose="02020603050405020304" pitchFamily="18" charset="0"/>
              </a:rPr>
              <a:t>) to shift the inactive capital from land and burden of the population to invest in other sectors of the economy to accelerate the pace of economic development of the country;</a:t>
            </a:r>
          </a:p>
          <a:p>
            <a:pPr marL="0" indent="0" algn="just">
              <a:lnSpc>
                <a:spcPct val="150000"/>
              </a:lnSpc>
              <a:buNone/>
            </a:pPr>
            <a:r>
              <a:rPr lang="en-US" dirty="0">
                <a:latin typeface="Times New Roman" panose="02020603050405020304" pitchFamily="18" charset="0"/>
                <a:cs typeface="Times New Roman" panose="02020603050405020304" pitchFamily="18" charset="0"/>
              </a:rPr>
              <a:t>(ii) to bring improvements in the life-standard of actual peasants dependent on land through equitable distribution of agricultural land and making agriculture-related knowledge and means available, and</a:t>
            </a:r>
          </a:p>
          <a:p>
            <a:pPr marL="0" indent="0" algn="just">
              <a:lnSpc>
                <a:spcPct val="150000"/>
              </a:lnSpc>
              <a:buNone/>
            </a:pPr>
            <a:r>
              <a:rPr lang="en-US" dirty="0">
                <a:latin typeface="Times New Roman" panose="02020603050405020304" pitchFamily="18" charset="0"/>
                <a:cs typeface="Times New Roman" panose="02020603050405020304" pitchFamily="18" charset="0"/>
              </a:rPr>
              <a:t>(iii) to maintain the facility to general people and economic welfare by encouraging optimum augmentation in agricultural production.</a:t>
            </a:r>
          </a:p>
        </p:txBody>
      </p:sp>
    </p:spTree>
    <p:extLst>
      <p:ext uri="{BB962C8B-B14F-4D97-AF65-F5344CB8AC3E}">
        <p14:creationId xmlns:p14="http://schemas.microsoft.com/office/powerpoint/2010/main" val="700780739"/>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5DB6C8D-DAF9-3C91-52C3-FFF3EDFA79E4}"/>
              </a:ext>
            </a:extLst>
          </p:cNvPr>
          <p:cNvSpPr>
            <a:spLocks noGrp="1"/>
          </p:cNvSpPr>
          <p:nvPr>
            <p:ph idx="1"/>
          </p:nvPr>
        </p:nvSpPr>
        <p:spPr>
          <a:xfrm>
            <a:off x="76200" y="457200"/>
            <a:ext cx="8991600" cy="6248400"/>
          </a:xfrm>
        </p:spPr>
        <p:txBody>
          <a:bodyPr>
            <a:normAutofit lnSpcReduction="10000"/>
          </a:bodyPr>
          <a:lstStyle/>
          <a:p>
            <a:pPr marL="0" indent="0">
              <a:buNone/>
            </a:pPr>
            <a:r>
              <a:rPr lang="en-US" sz="2800" dirty="0">
                <a:solidFill>
                  <a:srgbClr val="FF0000"/>
                </a:solidFill>
                <a:latin typeface="Times New Roman" panose="02020603050405020304" pitchFamily="18" charset="0"/>
                <a:cs typeface="Times New Roman" panose="02020603050405020304" pitchFamily="18" charset="0"/>
              </a:rPr>
              <a:t>The Lands Act, 1964….</a:t>
            </a:r>
          </a:p>
          <a:p>
            <a:pPr>
              <a:lnSpc>
                <a:spcPct val="150000"/>
              </a:lnSpc>
            </a:pPr>
            <a:r>
              <a:rPr lang="en-US" dirty="0">
                <a:latin typeface="Times New Roman" panose="02020603050405020304" pitchFamily="18" charset="0"/>
                <a:cs typeface="Times New Roman" panose="02020603050405020304" pitchFamily="18" charset="0"/>
              </a:rPr>
              <a:t>The Act seems to have specified two main agenda as follows:</a:t>
            </a:r>
          </a:p>
          <a:p>
            <a:pPr marL="0" indent="0">
              <a:lnSpc>
                <a:spcPct val="150000"/>
              </a:lnSpc>
              <a:buNone/>
            </a:pP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i</a:t>
            </a:r>
            <a:r>
              <a:rPr lang="en-US" dirty="0">
                <a:latin typeface="Times New Roman" panose="02020603050405020304" pitchFamily="18" charset="0"/>
                <a:cs typeface="Times New Roman" panose="02020603050405020304" pitchFamily="18" charset="0"/>
              </a:rPr>
              <a:t>) creation of relatively egalitarian agrarian structure through the imposition of land ceilings and appropriation of land in excess of ceilings for the redistribution, and</a:t>
            </a:r>
          </a:p>
          <a:p>
            <a:pPr marL="0" indent="0">
              <a:lnSpc>
                <a:spcPct val="150000"/>
              </a:lnSpc>
              <a:buNone/>
            </a:pPr>
            <a:r>
              <a:rPr lang="en-US" dirty="0">
                <a:latin typeface="Times New Roman" panose="02020603050405020304" pitchFamily="18" charset="0"/>
                <a:cs typeface="Times New Roman" panose="02020603050405020304" pitchFamily="18" charset="0"/>
              </a:rPr>
              <a:t> (ii) ensuring the land rights to the tenants through the legal provision of “tenancy rights”. </a:t>
            </a:r>
          </a:p>
          <a:p>
            <a:pPr>
              <a:lnSpc>
                <a:spcPct val="150000"/>
              </a:lnSpc>
            </a:pPr>
            <a:r>
              <a:rPr lang="en-US" dirty="0">
                <a:latin typeface="Times New Roman" panose="02020603050405020304" pitchFamily="18" charset="0"/>
                <a:cs typeface="Times New Roman" panose="02020603050405020304" pitchFamily="18" charset="0"/>
              </a:rPr>
              <a:t>The Act provided the relative security of tenancy rights for the first time in the agrarian history of Nepal.</a:t>
            </a:r>
          </a:p>
          <a:p>
            <a:pPr>
              <a:lnSpc>
                <a:spcPct val="150000"/>
              </a:lnSpc>
            </a:pPr>
            <a:r>
              <a:rPr lang="en-US" dirty="0">
                <a:latin typeface="Times New Roman" panose="02020603050405020304" pitchFamily="18" charset="0"/>
                <a:cs typeface="Times New Roman" panose="02020603050405020304" pitchFamily="18" charset="0"/>
              </a:rPr>
              <a:t>The Act also had the provision of regulating the agricultural rents to incentivize the tenants for enhancing production. </a:t>
            </a:r>
          </a:p>
          <a:p>
            <a:endParaRPr lang="en-US" dirty="0"/>
          </a:p>
        </p:txBody>
      </p:sp>
    </p:spTree>
    <p:extLst>
      <p:ext uri="{BB962C8B-B14F-4D97-AF65-F5344CB8AC3E}">
        <p14:creationId xmlns:p14="http://schemas.microsoft.com/office/powerpoint/2010/main" val="1684771899"/>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FC4E81FC-484A-E399-1639-F6A8B967F60A}"/>
              </a:ext>
            </a:extLst>
          </p:cNvPr>
          <p:cNvSpPr>
            <a:spLocks noGrp="1"/>
          </p:cNvSpPr>
          <p:nvPr>
            <p:ph idx="1"/>
          </p:nvPr>
        </p:nvSpPr>
        <p:spPr>
          <a:xfrm>
            <a:off x="152400" y="457200"/>
            <a:ext cx="8915400" cy="6172200"/>
          </a:xfrm>
        </p:spPr>
        <p:txBody>
          <a:bodyPr>
            <a:normAutofit/>
          </a:bodyPr>
          <a:lstStyle/>
          <a:p>
            <a:pPr marL="0" indent="0">
              <a:buNone/>
            </a:pPr>
            <a:r>
              <a:rPr lang="en-US" sz="2800" dirty="0">
                <a:solidFill>
                  <a:srgbClr val="FF0000"/>
                </a:solidFill>
                <a:latin typeface="Times New Roman" panose="02020603050405020304" pitchFamily="18" charset="0"/>
                <a:cs typeface="Times New Roman" panose="02020603050405020304" pitchFamily="18" charset="0"/>
              </a:rPr>
              <a:t>The Lands Act, 1964</a:t>
            </a:r>
          </a:p>
          <a:p>
            <a:pPr>
              <a:lnSpc>
                <a:spcPct val="150000"/>
              </a:lnSpc>
            </a:pPr>
            <a:r>
              <a:rPr lang="en-US" dirty="0">
                <a:latin typeface="Times New Roman" panose="02020603050405020304" pitchFamily="18" charset="0"/>
                <a:cs typeface="Times New Roman" panose="02020603050405020304" pitchFamily="18" charset="0"/>
              </a:rPr>
              <a:t>Scores of other legal provisions seem very relevant and positive to the relatively marginalized peasants/settlers. These comprise the following:</a:t>
            </a:r>
          </a:p>
          <a:p>
            <a:pPr marL="0" indent="0">
              <a:lnSpc>
                <a:spcPct val="150000"/>
              </a:lnSpc>
              <a:buNone/>
            </a:pP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i</a:t>
            </a:r>
            <a:r>
              <a:rPr lang="en-US" dirty="0">
                <a:latin typeface="Times New Roman" panose="02020603050405020304" pitchFamily="18" charset="0"/>
                <a:cs typeface="Times New Roman" panose="02020603050405020304" pitchFamily="18" charset="0"/>
              </a:rPr>
              <a:t>) making the land available to the landless Dalits once as specified within three years and such land right cannot be transferred to anyone until 10 years;</a:t>
            </a:r>
          </a:p>
          <a:p>
            <a:pPr marL="0" indent="0">
              <a:lnSpc>
                <a:spcPct val="150000"/>
              </a:lnSpc>
              <a:buNone/>
            </a:pPr>
            <a:r>
              <a:rPr lang="en-US" dirty="0">
                <a:latin typeface="Times New Roman" panose="02020603050405020304" pitchFamily="18" charset="0"/>
                <a:cs typeface="Times New Roman" panose="02020603050405020304" pitchFamily="18" charset="0"/>
              </a:rPr>
              <a:t> (ii) making lands available to landless squatters and</a:t>
            </a:r>
          </a:p>
          <a:p>
            <a:pPr marL="0" indent="0">
              <a:lnSpc>
                <a:spcPct val="150000"/>
              </a:lnSpc>
              <a:buNone/>
            </a:pPr>
            <a:r>
              <a:rPr lang="en-US" dirty="0">
                <a:latin typeface="Times New Roman" panose="02020603050405020304" pitchFamily="18" charset="0"/>
                <a:cs typeface="Times New Roman" panose="02020603050405020304" pitchFamily="18" charset="0"/>
              </a:rPr>
              <a:t> (iii) managing unsystematic settlers.</a:t>
            </a:r>
          </a:p>
        </p:txBody>
      </p:sp>
    </p:spTree>
    <p:extLst>
      <p:ext uri="{BB962C8B-B14F-4D97-AF65-F5344CB8AC3E}">
        <p14:creationId xmlns:p14="http://schemas.microsoft.com/office/powerpoint/2010/main" val="1427506695"/>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18E7B5-6882-298B-F834-820B8EC4CD27}"/>
              </a:ext>
            </a:extLst>
          </p:cNvPr>
          <p:cNvSpPr>
            <a:spLocks noGrp="1"/>
          </p:cNvSpPr>
          <p:nvPr>
            <p:ph type="title"/>
          </p:nvPr>
        </p:nvSpPr>
        <p:spPr>
          <a:xfrm>
            <a:off x="76200" y="152400"/>
            <a:ext cx="8229600" cy="990600"/>
          </a:xfrm>
        </p:spPr>
        <p:txBody>
          <a:bodyPr>
            <a:normAutofit/>
          </a:bodyPr>
          <a:lstStyle/>
          <a:p>
            <a:r>
              <a:rPr lang="en-US" sz="3600" dirty="0">
                <a:latin typeface="Times New Roman" panose="02020603050405020304" pitchFamily="18" charset="0"/>
                <a:cs typeface="Times New Roman" panose="02020603050405020304" pitchFamily="18" charset="0"/>
              </a:rPr>
              <a:t>Jhora Area Land Act, 1971</a:t>
            </a:r>
          </a:p>
        </p:txBody>
      </p:sp>
      <p:sp>
        <p:nvSpPr>
          <p:cNvPr id="3" name="Content Placeholder 2">
            <a:extLst>
              <a:ext uri="{FF2B5EF4-FFF2-40B4-BE49-F238E27FC236}">
                <a16:creationId xmlns:a16="http://schemas.microsoft.com/office/drawing/2014/main" id="{93645D74-C4DA-DDAC-0917-5CE8F7D20D92}"/>
              </a:ext>
            </a:extLst>
          </p:cNvPr>
          <p:cNvSpPr>
            <a:spLocks noGrp="1"/>
          </p:cNvSpPr>
          <p:nvPr>
            <p:ph idx="1"/>
          </p:nvPr>
        </p:nvSpPr>
        <p:spPr>
          <a:xfrm>
            <a:off x="0" y="990600"/>
            <a:ext cx="9067800" cy="5791200"/>
          </a:xfrm>
        </p:spPr>
        <p:txBody>
          <a:bodyPr>
            <a:normAutofit lnSpcReduction="10000"/>
          </a:bodyPr>
          <a:lstStyle/>
          <a:p>
            <a:pPr algn="just"/>
            <a:r>
              <a:rPr lang="en-US" dirty="0">
                <a:latin typeface="Times New Roman" panose="02020603050405020304" pitchFamily="18" charset="0"/>
                <a:cs typeface="Times New Roman" panose="02020603050405020304" pitchFamily="18" charset="0"/>
              </a:rPr>
              <a:t>Its preamble states that it was desirable to manage the reclaimed forest land of the Jhora area in Morang, </a:t>
            </a:r>
            <a:r>
              <a:rPr lang="en-US" dirty="0" err="1">
                <a:latin typeface="Times New Roman" panose="02020603050405020304" pitchFamily="18" charset="0"/>
                <a:cs typeface="Times New Roman" panose="02020603050405020304" pitchFamily="18" charset="0"/>
              </a:rPr>
              <a:t>Sunsari</a:t>
            </a:r>
            <a:r>
              <a:rPr lang="en-US" dirty="0">
                <a:latin typeface="Times New Roman" panose="02020603050405020304" pitchFamily="18" charset="0"/>
                <a:cs typeface="Times New Roman" panose="02020603050405020304" pitchFamily="18" charset="0"/>
              </a:rPr>
              <a:t>, and </a:t>
            </a:r>
            <a:r>
              <a:rPr lang="en-US" dirty="0" err="1">
                <a:latin typeface="Times New Roman" panose="02020603050405020304" pitchFamily="18" charset="0"/>
                <a:cs typeface="Times New Roman" panose="02020603050405020304" pitchFamily="18" charset="0"/>
              </a:rPr>
              <a:t>Jhapa</a:t>
            </a:r>
            <a:r>
              <a:rPr lang="en-US" dirty="0">
                <a:latin typeface="Times New Roman" panose="02020603050405020304" pitchFamily="18" charset="0"/>
                <a:cs typeface="Times New Roman" panose="02020603050405020304" pitchFamily="18" charset="0"/>
              </a:rPr>
              <a:t> districts for the maintenance of peace and order and economic welfare of the general public as per changing time.</a:t>
            </a:r>
          </a:p>
          <a:p>
            <a:pPr algn="just"/>
            <a:r>
              <a:rPr lang="en-US" dirty="0">
                <a:latin typeface="Times New Roman" panose="02020603050405020304" pitchFamily="18" charset="0"/>
                <a:cs typeface="Times New Roman" panose="02020603050405020304" pitchFamily="18" charset="0"/>
              </a:rPr>
              <a:t> The Act has defined Jhora as, “area under settlement and cultivation through the reclamation of forests as legally mandated”. </a:t>
            </a:r>
          </a:p>
          <a:p>
            <a:pPr algn="just"/>
            <a:r>
              <a:rPr lang="en-US" dirty="0">
                <a:latin typeface="Times New Roman" panose="02020603050405020304" pitchFamily="18" charset="0"/>
                <a:cs typeface="Times New Roman" panose="02020603050405020304" pitchFamily="18" charset="0"/>
              </a:rPr>
              <a:t>It defined landowner as “a person with legally registered land in his/her name or a person with such right for registration (of land)”. The term “Raiti” has been defined as “ a person who has reclaimed land in the Jhora area or a person settling in the same place by cultivating land through the use of the family labor”.</a:t>
            </a:r>
          </a:p>
          <a:p>
            <a:pPr algn="just"/>
            <a:r>
              <a:rPr lang="en-US" dirty="0">
                <a:latin typeface="Times New Roman" panose="02020603050405020304" pitchFamily="18" charset="0"/>
                <a:cs typeface="Times New Roman" panose="02020603050405020304" pitchFamily="18" charset="0"/>
              </a:rPr>
              <a:t>The Act has been inherently geared toward the shift of the growing hill population in the Tarai area for bringing the forest area under reclamation and settlement to augment agricultural production and increase the state’s land revenue.</a:t>
            </a:r>
          </a:p>
        </p:txBody>
      </p:sp>
    </p:spTree>
    <p:extLst>
      <p:ext uri="{BB962C8B-B14F-4D97-AF65-F5344CB8AC3E}">
        <p14:creationId xmlns:p14="http://schemas.microsoft.com/office/powerpoint/2010/main" val="801272415"/>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444A68-35AF-65F7-3865-C028869BF6E3}"/>
              </a:ext>
            </a:extLst>
          </p:cNvPr>
          <p:cNvSpPr>
            <a:spLocks noGrp="1"/>
          </p:cNvSpPr>
          <p:nvPr>
            <p:ph type="title"/>
          </p:nvPr>
        </p:nvSpPr>
        <p:spPr/>
        <p:txBody>
          <a:bodyPr>
            <a:normAutofit fontScale="90000"/>
          </a:bodyPr>
          <a:lstStyle/>
          <a:p>
            <a:r>
              <a:rPr lang="en-US" dirty="0">
                <a:latin typeface="Times New Roman" panose="02020603050405020304" pitchFamily="18" charset="0"/>
                <a:cs typeface="Times New Roman" panose="02020603050405020304" pitchFamily="18" charset="0"/>
              </a:rPr>
              <a:t>National Parks and Wildlife Conservation Act, 1972</a:t>
            </a:r>
          </a:p>
        </p:txBody>
      </p:sp>
      <p:sp>
        <p:nvSpPr>
          <p:cNvPr id="3" name="Content Placeholder 2">
            <a:extLst>
              <a:ext uri="{FF2B5EF4-FFF2-40B4-BE49-F238E27FC236}">
                <a16:creationId xmlns:a16="http://schemas.microsoft.com/office/drawing/2014/main" id="{321B1261-13F8-D389-AA5A-229E9C803ACA}"/>
              </a:ext>
            </a:extLst>
          </p:cNvPr>
          <p:cNvSpPr>
            <a:spLocks noGrp="1"/>
          </p:cNvSpPr>
          <p:nvPr>
            <p:ph idx="1"/>
          </p:nvPr>
        </p:nvSpPr>
        <p:spPr/>
        <p:txBody>
          <a:bodyPr/>
          <a:lstStyle/>
          <a:p>
            <a:pPr algn="just">
              <a:lnSpc>
                <a:spcPct val="150000"/>
              </a:lnSpc>
            </a:pPr>
            <a:r>
              <a:rPr lang="en-US" dirty="0">
                <a:latin typeface="Times New Roman" panose="02020603050405020304" pitchFamily="18" charset="0"/>
                <a:cs typeface="Times New Roman" panose="02020603050405020304" pitchFamily="18" charset="0"/>
              </a:rPr>
              <a:t>National Parks and Wildlife Conservation Act (1972) has been enacted and implemented due to the desirability for maintaining general people’s ethics and facilities through the management of national parks, conservation of wildlife and its habitat, control in hunting and conservation, promotion, development, and proper management as well as utilization of places with special importance from the perspective of natural beauty. </a:t>
            </a:r>
          </a:p>
        </p:txBody>
      </p:sp>
    </p:spTree>
    <p:extLst>
      <p:ext uri="{BB962C8B-B14F-4D97-AF65-F5344CB8AC3E}">
        <p14:creationId xmlns:p14="http://schemas.microsoft.com/office/powerpoint/2010/main" val="1814379719"/>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69F59F-7F98-75E3-FCDE-88D97439ACC5}"/>
              </a:ext>
            </a:extLst>
          </p:cNvPr>
          <p:cNvSpPr>
            <a:spLocks noGrp="1"/>
          </p:cNvSpPr>
          <p:nvPr>
            <p:ph type="title"/>
          </p:nvPr>
        </p:nvSpPr>
        <p:spPr>
          <a:xfrm>
            <a:off x="-76200" y="81337"/>
            <a:ext cx="8229600" cy="990600"/>
          </a:xfrm>
        </p:spPr>
        <p:txBody>
          <a:bodyPr>
            <a:normAutofit/>
          </a:bodyPr>
          <a:lstStyle/>
          <a:p>
            <a:r>
              <a:rPr lang="en-US" sz="3600" dirty="0">
                <a:latin typeface="Times New Roman" panose="02020603050405020304" pitchFamily="18" charset="0"/>
                <a:cs typeface="Times New Roman" panose="02020603050405020304" pitchFamily="18" charset="0"/>
              </a:rPr>
              <a:t>Pastureland Nationalization Act,1974</a:t>
            </a:r>
          </a:p>
        </p:txBody>
      </p:sp>
      <p:sp>
        <p:nvSpPr>
          <p:cNvPr id="3" name="Content Placeholder 2">
            <a:extLst>
              <a:ext uri="{FF2B5EF4-FFF2-40B4-BE49-F238E27FC236}">
                <a16:creationId xmlns:a16="http://schemas.microsoft.com/office/drawing/2014/main" id="{7CCC5B2E-51A0-BCB4-3340-F855C7F38195}"/>
              </a:ext>
            </a:extLst>
          </p:cNvPr>
          <p:cNvSpPr>
            <a:spLocks noGrp="1"/>
          </p:cNvSpPr>
          <p:nvPr>
            <p:ph idx="1"/>
          </p:nvPr>
        </p:nvSpPr>
        <p:spPr>
          <a:xfrm>
            <a:off x="0" y="838200"/>
            <a:ext cx="9067800" cy="5943600"/>
          </a:xfrm>
        </p:spPr>
        <p:txBody>
          <a:bodyPr>
            <a:normAutofit/>
          </a:bodyPr>
          <a:lstStyle/>
          <a:p>
            <a:pPr algn="just"/>
            <a:r>
              <a:rPr lang="en-US" dirty="0">
                <a:latin typeface="Times New Roman" panose="02020603050405020304" pitchFamily="18" charset="0"/>
                <a:cs typeface="Times New Roman" panose="02020603050405020304" pitchFamily="18" charset="0"/>
              </a:rPr>
              <a:t>The preamble of the Act states that it was desirable to nationalize the pastureland for the facility and the economic well-being of the general people. It has defined ‘pastureland’ as “a land used exclusively for grazing of domesticated animals regardless of its official registration or non-registration as a pastureland”. </a:t>
            </a:r>
          </a:p>
          <a:p>
            <a:pPr algn="just"/>
            <a:r>
              <a:rPr lang="en-US" dirty="0">
                <a:latin typeface="Times New Roman" panose="02020603050405020304" pitchFamily="18" charset="0"/>
                <a:cs typeface="Times New Roman" panose="02020603050405020304" pitchFamily="18" charset="0"/>
              </a:rPr>
              <a:t>Some of the salient provisions of the Act comprise the following:</a:t>
            </a:r>
          </a:p>
          <a:p>
            <a:pPr marL="0" indent="0" algn="just">
              <a:buNone/>
            </a:pP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i</a:t>
            </a:r>
            <a:r>
              <a:rPr lang="en-US" dirty="0">
                <a:latin typeface="Times New Roman" panose="02020603050405020304" pitchFamily="18" charset="0"/>
                <a:cs typeface="Times New Roman" panose="02020603050405020304" pitchFamily="18" charset="0"/>
              </a:rPr>
              <a:t>) transfer of the ownership of pastureland in the name of the government on the very day of the onset of nationalization triggering the automatic nullification of the ownership of “</a:t>
            </a:r>
            <a:r>
              <a:rPr lang="en-US" dirty="0" err="1">
                <a:latin typeface="Times New Roman" panose="02020603050405020304" pitchFamily="18" charset="0"/>
                <a:cs typeface="Times New Roman" panose="02020603050405020304" pitchFamily="18" charset="0"/>
              </a:rPr>
              <a:t>Darthawala</a:t>
            </a:r>
            <a:r>
              <a:rPr lang="en-US" dirty="0">
                <a:latin typeface="Times New Roman" panose="02020603050405020304" pitchFamily="18" charset="0"/>
                <a:cs typeface="Times New Roman" panose="02020603050405020304" pitchFamily="18" charset="0"/>
              </a:rPr>
              <a:t>”; </a:t>
            </a:r>
          </a:p>
          <a:p>
            <a:pPr marL="0" indent="0" algn="just">
              <a:buNone/>
            </a:pPr>
            <a:r>
              <a:rPr lang="en-US" dirty="0">
                <a:latin typeface="Times New Roman" panose="02020603050405020304" pitchFamily="18" charset="0"/>
                <a:cs typeface="Times New Roman" panose="02020603050405020304" pitchFamily="18" charset="0"/>
              </a:rPr>
              <a:t>(ii) exemption for retaining the ownership of the pastureland used privately by the “</a:t>
            </a:r>
            <a:r>
              <a:rPr lang="en-US" dirty="0" err="1">
                <a:latin typeface="Times New Roman" panose="02020603050405020304" pitchFamily="18" charset="0"/>
                <a:cs typeface="Times New Roman" panose="02020603050405020304" pitchFamily="18" charset="0"/>
              </a:rPr>
              <a:t>Darthawala</a:t>
            </a:r>
            <a:r>
              <a:rPr lang="en-US" dirty="0">
                <a:latin typeface="Times New Roman" panose="02020603050405020304" pitchFamily="18" charset="0"/>
                <a:cs typeface="Times New Roman" panose="02020603050405020304" pitchFamily="18" charset="0"/>
              </a:rPr>
              <a:t>” for grazing provided it is under the land ceiling specified by the prevailing law of the land; </a:t>
            </a:r>
          </a:p>
          <a:p>
            <a:pPr marL="0" indent="0" algn="just">
              <a:buNone/>
            </a:pPr>
            <a:r>
              <a:rPr lang="en-US" dirty="0">
                <a:latin typeface="Times New Roman" panose="02020603050405020304" pitchFamily="18" charset="0"/>
                <a:cs typeface="Times New Roman" panose="02020603050405020304" pitchFamily="18" charset="0"/>
              </a:rPr>
              <a:t>(iii) exemption for the continuation of the ownership of pastureland used for horticulture, stock-raising, herb cultivation, and tea cultivation; </a:t>
            </a:r>
          </a:p>
        </p:txBody>
      </p:sp>
    </p:spTree>
    <p:extLst>
      <p:ext uri="{BB962C8B-B14F-4D97-AF65-F5344CB8AC3E}">
        <p14:creationId xmlns:p14="http://schemas.microsoft.com/office/powerpoint/2010/main" val="3712984019"/>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55612E34-B584-05D4-33E3-53392FD8AEEB}"/>
              </a:ext>
            </a:extLst>
          </p:cNvPr>
          <p:cNvSpPr>
            <a:spLocks noGrp="1"/>
          </p:cNvSpPr>
          <p:nvPr>
            <p:ph idx="1"/>
          </p:nvPr>
        </p:nvSpPr>
        <p:spPr>
          <a:xfrm>
            <a:off x="0" y="381000"/>
            <a:ext cx="9144000" cy="6477000"/>
          </a:xfrm>
        </p:spPr>
        <p:txBody>
          <a:bodyPr>
            <a:normAutofit lnSpcReduction="10000"/>
          </a:bodyPr>
          <a:lstStyle/>
          <a:p>
            <a:pPr marL="0" indent="0" algn="just">
              <a:buNone/>
            </a:pPr>
            <a:r>
              <a:rPr lang="en-US" sz="2800" dirty="0">
                <a:solidFill>
                  <a:srgbClr val="FF0000"/>
                </a:solidFill>
                <a:latin typeface="Times New Roman" panose="02020603050405020304" pitchFamily="18" charset="0"/>
                <a:cs typeface="Times New Roman" panose="02020603050405020304" pitchFamily="18" charset="0"/>
              </a:rPr>
              <a:t>Pastureland Nationalization Act,1974……</a:t>
            </a:r>
          </a:p>
          <a:p>
            <a:pPr marL="0" indent="0" algn="just">
              <a:lnSpc>
                <a:spcPct val="150000"/>
              </a:lnSpc>
              <a:buNone/>
            </a:pPr>
            <a:r>
              <a:rPr lang="en-US" dirty="0">
                <a:latin typeface="Times New Roman" panose="02020603050405020304" pitchFamily="18" charset="0"/>
                <a:cs typeface="Times New Roman" panose="02020603050405020304" pitchFamily="18" charset="0"/>
              </a:rPr>
              <a:t>(iv) institutional arrangement for the right amount of compensation to be paid by the Nepal government as per the recommendation made by the legally constituted committee </a:t>
            </a:r>
          </a:p>
          <a:p>
            <a:pPr marL="0" indent="0" algn="just">
              <a:lnSpc>
                <a:spcPct val="150000"/>
              </a:lnSpc>
              <a:buNone/>
            </a:pPr>
            <a:r>
              <a:rPr lang="en-US" dirty="0">
                <a:latin typeface="Times New Roman" panose="02020603050405020304" pitchFamily="18" charset="0"/>
                <a:cs typeface="Times New Roman" panose="02020603050405020304" pitchFamily="18" charset="0"/>
              </a:rPr>
              <a:t>(v) legal arrangement made for maintaining a “separate pastureland record book” at land revenue office and handing over it to the local rural municipality for its protection and animal grazing </a:t>
            </a:r>
          </a:p>
          <a:p>
            <a:pPr marL="0" indent="0" algn="just">
              <a:lnSpc>
                <a:spcPct val="150000"/>
              </a:lnSpc>
              <a:buNone/>
            </a:pPr>
            <a:r>
              <a:rPr lang="en-US" dirty="0">
                <a:latin typeface="Times New Roman" panose="02020603050405020304" pitchFamily="18" charset="0"/>
                <a:cs typeface="Times New Roman" panose="02020603050405020304" pitchFamily="18" charset="0"/>
              </a:rPr>
              <a:t>(vi) legal arrangement provided to rural municipality for permitting the grazing of the domesticated animals by imposing “grazing fees” and Rs.1 at the most per smaller animal </a:t>
            </a:r>
          </a:p>
          <a:p>
            <a:pPr marL="0" indent="0" algn="just">
              <a:lnSpc>
                <a:spcPct val="150000"/>
              </a:lnSpc>
              <a:buNone/>
            </a:pPr>
            <a:r>
              <a:rPr lang="en-US" dirty="0">
                <a:latin typeface="Times New Roman" panose="02020603050405020304" pitchFamily="18" charset="0"/>
                <a:cs typeface="Times New Roman" panose="02020603050405020304" pitchFamily="18" charset="0"/>
              </a:rPr>
              <a:t>(vii) institutional arrangement for the deposit of such “grazing fees” in the fund of rural municipality, etc.</a:t>
            </a:r>
            <a:endParaRPr lang="en-US" dirty="0"/>
          </a:p>
        </p:txBody>
      </p:sp>
    </p:spTree>
    <p:extLst>
      <p:ext uri="{BB962C8B-B14F-4D97-AF65-F5344CB8AC3E}">
        <p14:creationId xmlns:p14="http://schemas.microsoft.com/office/powerpoint/2010/main" val="1496801974"/>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765904-B2E5-1624-CF1F-CE9C7CBB9C30}"/>
              </a:ext>
            </a:extLst>
          </p:cNvPr>
          <p:cNvSpPr>
            <a:spLocks noGrp="1"/>
          </p:cNvSpPr>
          <p:nvPr>
            <p:ph type="title"/>
          </p:nvPr>
        </p:nvSpPr>
        <p:spPr>
          <a:xfrm>
            <a:off x="0" y="107879"/>
            <a:ext cx="8229600" cy="990600"/>
          </a:xfrm>
        </p:spPr>
        <p:txBody>
          <a:bodyPr>
            <a:normAutofit/>
          </a:bodyPr>
          <a:lstStyle/>
          <a:p>
            <a:r>
              <a:rPr lang="en-US" sz="3600" dirty="0">
                <a:latin typeface="Times New Roman" panose="02020603050405020304" pitchFamily="18" charset="0"/>
                <a:cs typeface="Times New Roman" panose="02020603050405020304" pitchFamily="18" charset="0"/>
              </a:rPr>
              <a:t>Guthi Corporation Act, 1976</a:t>
            </a:r>
          </a:p>
        </p:txBody>
      </p:sp>
      <p:sp>
        <p:nvSpPr>
          <p:cNvPr id="3" name="Content Placeholder 2">
            <a:extLst>
              <a:ext uri="{FF2B5EF4-FFF2-40B4-BE49-F238E27FC236}">
                <a16:creationId xmlns:a16="http://schemas.microsoft.com/office/drawing/2014/main" id="{427B10F1-BC35-C8D3-E5CC-C78744B192EE}"/>
              </a:ext>
            </a:extLst>
          </p:cNvPr>
          <p:cNvSpPr>
            <a:spLocks noGrp="1"/>
          </p:cNvSpPr>
          <p:nvPr>
            <p:ph idx="1"/>
          </p:nvPr>
        </p:nvSpPr>
        <p:spPr>
          <a:xfrm>
            <a:off x="0" y="914400"/>
            <a:ext cx="9067800" cy="5867400"/>
          </a:xfrm>
        </p:spPr>
        <p:txBody>
          <a:bodyPr>
            <a:normAutofit/>
          </a:bodyPr>
          <a:lstStyle/>
          <a:p>
            <a:pPr algn="just"/>
            <a:r>
              <a:rPr lang="en-US" dirty="0">
                <a:latin typeface="Times New Roman" panose="02020603050405020304" pitchFamily="18" charset="0"/>
                <a:cs typeface="Times New Roman" panose="02020603050405020304" pitchFamily="18" charset="0"/>
              </a:rPr>
              <a:t>According to the </a:t>
            </a:r>
            <a:r>
              <a:rPr lang="en-US" dirty="0" err="1">
                <a:latin typeface="Times New Roman" panose="02020603050405020304" pitchFamily="18" charset="0"/>
                <a:cs typeface="Times New Roman" panose="02020603050405020304" pitchFamily="18" charset="0"/>
              </a:rPr>
              <a:t>Act,”Guthi</a:t>
            </a:r>
            <a:r>
              <a:rPr lang="en-US" dirty="0">
                <a:latin typeface="Times New Roman" panose="02020603050405020304" pitchFamily="18" charset="0"/>
                <a:cs typeface="Times New Roman" panose="02020603050405020304" pitchFamily="18" charset="0"/>
              </a:rPr>
              <a:t>” means and includes a Guthi (trust) endowed by any philanthropist through relinquishment of his or her title to movable or immovable property or any other income yielding property or fund for the operation of any shrine (</a:t>
            </a:r>
            <a:r>
              <a:rPr lang="en-US" dirty="0" err="1">
                <a:latin typeface="Times New Roman" panose="02020603050405020304" pitchFamily="18" charset="0"/>
                <a:cs typeface="Times New Roman" panose="02020603050405020304" pitchFamily="18" charset="0"/>
              </a:rPr>
              <a:t>matha</a:t>
            </a:r>
            <a:r>
              <a:rPr lang="en-US" dirty="0">
                <a:latin typeface="Times New Roman" panose="02020603050405020304" pitchFamily="18" charset="0"/>
                <a:cs typeface="Times New Roman" panose="02020603050405020304" pitchFamily="18" charset="0"/>
              </a:rPr>
              <a:t> ) or festival, worship or feast of any God, Goddess or for the construction, operation or maintenance of any temple, the shrine (</a:t>
            </a:r>
            <a:r>
              <a:rPr lang="en-US" dirty="0" err="1">
                <a:latin typeface="Times New Roman" panose="02020603050405020304" pitchFamily="18" charset="0"/>
                <a:cs typeface="Times New Roman" panose="02020603050405020304" pitchFamily="18" charset="0"/>
              </a:rPr>
              <a:t>devasthal</a:t>
            </a:r>
            <a:r>
              <a:rPr lang="en-US" dirty="0">
                <a:latin typeface="Times New Roman" panose="02020603050405020304" pitchFamily="18" charset="0"/>
                <a:cs typeface="Times New Roman" panose="02020603050405020304" pitchFamily="18" charset="0"/>
              </a:rPr>
              <a:t> ), rest house (</a:t>
            </a:r>
            <a:r>
              <a:rPr lang="en-US" dirty="0" err="1">
                <a:latin typeface="Times New Roman" panose="02020603050405020304" pitchFamily="18" charset="0"/>
                <a:cs typeface="Times New Roman" panose="02020603050405020304" pitchFamily="18" charset="0"/>
              </a:rPr>
              <a:t>dharmashala</a:t>
            </a:r>
            <a:r>
              <a:rPr lang="en-US" dirty="0">
                <a:latin typeface="Times New Roman" panose="02020603050405020304" pitchFamily="18" charset="0"/>
                <a:cs typeface="Times New Roman" panose="02020603050405020304" pitchFamily="18" charset="0"/>
              </a:rPr>
              <a:t>), shelter (</a:t>
            </a:r>
            <a:r>
              <a:rPr lang="en-US" dirty="0" err="1">
                <a:latin typeface="Times New Roman" panose="02020603050405020304" pitchFamily="18" charset="0"/>
                <a:cs typeface="Times New Roman" panose="02020603050405020304" pitchFamily="18" charset="0"/>
              </a:rPr>
              <a:t>pati</a:t>
            </a:r>
            <a:r>
              <a:rPr lang="en-US" dirty="0">
                <a:latin typeface="Times New Roman" panose="02020603050405020304" pitchFamily="18" charset="0"/>
                <a:cs typeface="Times New Roman" panose="02020603050405020304" pitchFamily="18" charset="0"/>
              </a:rPr>
              <a:t>), inn (</a:t>
            </a:r>
            <a:r>
              <a:rPr lang="en-US" dirty="0" err="1">
                <a:latin typeface="Times New Roman" panose="02020603050405020304" pitchFamily="18" charset="0"/>
                <a:cs typeface="Times New Roman" panose="02020603050405020304" pitchFamily="18" charset="0"/>
              </a:rPr>
              <a:t>pauwa</a:t>
            </a:r>
            <a:r>
              <a:rPr lang="en-US" dirty="0">
                <a:latin typeface="Times New Roman" panose="02020603050405020304" pitchFamily="18" charset="0"/>
                <a:cs typeface="Times New Roman" panose="02020603050405020304" pitchFamily="18" charset="0"/>
              </a:rPr>
              <a:t>), well, tank, road, bridge, pasture, garden, forest, library, school, reading hall, dispensary, treatment facility, house, building or institution for any religious or philanthropic purpose.</a:t>
            </a:r>
          </a:p>
          <a:p>
            <a:pPr algn="just"/>
            <a:r>
              <a:rPr lang="en-US" dirty="0">
                <a:latin typeface="Times New Roman" panose="02020603050405020304" pitchFamily="18" charset="0"/>
                <a:cs typeface="Times New Roman" panose="02020603050405020304" pitchFamily="18" charset="0"/>
              </a:rPr>
              <a:t>There are three categories of trusts, namely, </a:t>
            </a:r>
            <a:r>
              <a:rPr lang="en-US" dirty="0" err="1">
                <a:latin typeface="Times New Roman" panose="02020603050405020304" pitchFamily="18" charset="0"/>
                <a:cs typeface="Times New Roman" panose="02020603050405020304" pitchFamily="18" charset="0"/>
              </a:rPr>
              <a:t>Rajguthi</a:t>
            </a:r>
            <a:r>
              <a:rPr lang="en-US" dirty="0">
                <a:latin typeface="Times New Roman" panose="02020603050405020304" pitchFamily="18" charset="0"/>
                <a:cs typeface="Times New Roman" panose="02020603050405020304" pitchFamily="18" charset="0"/>
              </a:rPr>
              <a:t> (state trusts managed and operated by Guthi corporation -government), Chut Guthi (state trusts under private management which are also on inheritable basis) and “personal Guthi” is an individual private trust.</a:t>
            </a:r>
          </a:p>
        </p:txBody>
      </p:sp>
    </p:spTree>
    <p:extLst>
      <p:ext uri="{BB962C8B-B14F-4D97-AF65-F5344CB8AC3E}">
        <p14:creationId xmlns:p14="http://schemas.microsoft.com/office/powerpoint/2010/main" val="4103212620"/>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8404B5CA-1B46-1426-F862-6A51C7B790F6}"/>
              </a:ext>
            </a:extLst>
          </p:cNvPr>
          <p:cNvSpPr>
            <a:spLocks noGrp="1"/>
          </p:cNvSpPr>
          <p:nvPr>
            <p:ph idx="1"/>
          </p:nvPr>
        </p:nvSpPr>
        <p:spPr>
          <a:xfrm>
            <a:off x="228600" y="381000"/>
            <a:ext cx="8686800" cy="6324600"/>
          </a:xfrm>
        </p:spPr>
        <p:txBody>
          <a:bodyPr>
            <a:normAutofit/>
          </a:bodyPr>
          <a:lstStyle/>
          <a:p>
            <a:pPr marL="0" indent="0">
              <a:buNone/>
            </a:pPr>
            <a:r>
              <a:rPr lang="en-US" sz="2800" dirty="0">
                <a:solidFill>
                  <a:srgbClr val="FF0000"/>
                </a:solidFill>
                <a:latin typeface="Times New Roman" panose="02020603050405020304" pitchFamily="18" charset="0"/>
                <a:cs typeface="Times New Roman" panose="02020603050405020304" pitchFamily="18" charset="0"/>
              </a:rPr>
              <a:t>Guthi Corporation Act, 1976….</a:t>
            </a:r>
          </a:p>
          <a:p>
            <a:pPr algn="just">
              <a:lnSpc>
                <a:spcPct val="150000"/>
              </a:lnSpc>
            </a:pPr>
            <a:r>
              <a:rPr lang="en-US" dirty="0">
                <a:latin typeface="Times New Roman" panose="02020603050405020304" pitchFamily="18" charset="0"/>
                <a:cs typeface="Times New Roman" panose="02020603050405020304" pitchFamily="18" charset="0"/>
              </a:rPr>
              <a:t>Some of the relevant provisions of the Act comprise</a:t>
            </a:r>
          </a:p>
          <a:p>
            <a:pPr marL="0" indent="0" algn="just">
              <a:lnSpc>
                <a:spcPct val="150000"/>
              </a:lnSpc>
              <a:buNone/>
            </a:pP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i</a:t>
            </a:r>
            <a:r>
              <a:rPr lang="en-US" dirty="0">
                <a:latin typeface="Times New Roman" panose="02020603050405020304" pitchFamily="18" charset="0"/>
                <a:cs typeface="Times New Roman" panose="02020603050405020304" pitchFamily="18" charset="0"/>
              </a:rPr>
              <a:t>) abolition of </a:t>
            </a:r>
            <a:r>
              <a:rPr lang="en-US" dirty="0" err="1">
                <a:latin typeface="Times New Roman" panose="02020603050405020304" pitchFamily="18" charset="0"/>
                <a:cs typeface="Times New Roman" panose="02020603050405020304" pitchFamily="18" charset="0"/>
              </a:rPr>
              <a:t>Jimidari</a:t>
            </a:r>
            <a:r>
              <a:rPr lang="en-US" dirty="0">
                <a:latin typeface="Times New Roman" panose="02020603050405020304" pitchFamily="18" charset="0"/>
                <a:cs typeface="Times New Roman" panose="02020603050405020304" pitchFamily="18" charset="0"/>
              </a:rPr>
              <a:t> system in the trust land; </a:t>
            </a:r>
          </a:p>
          <a:p>
            <a:pPr marL="0" indent="0" algn="just">
              <a:lnSpc>
                <a:spcPct val="150000"/>
              </a:lnSpc>
              <a:buNone/>
            </a:pPr>
            <a:r>
              <a:rPr lang="en-US" dirty="0">
                <a:latin typeface="Times New Roman" panose="02020603050405020304" pitchFamily="18" charset="0"/>
                <a:cs typeface="Times New Roman" panose="02020603050405020304" pitchFamily="18" charset="0"/>
              </a:rPr>
              <a:t>(ii) management of the tenancy right for the tiller of the trust land; </a:t>
            </a:r>
          </a:p>
          <a:p>
            <a:pPr marL="0" indent="0" algn="just">
              <a:lnSpc>
                <a:spcPct val="150000"/>
              </a:lnSpc>
              <a:buNone/>
            </a:pPr>
            <a:r>
              <a:rPr lang="en-US" dirty="0">
                <a:latin typeface="Times New Roman" panose="02020603050405020304" pitchFamily="18" charset="0"/>
                <a:cs typeface="Times New Roman" panose="02020603050405020304" pitchFamily="18" charset="0"/>
              </a:rPr>
              <a:t>(iii) specification for the Kut Tero (fixed agricultural rent or ground rent) in the trust land tilled under tenancy provision similar to the one in the Raikar land as per the location and type of land; </a:t>
            </a:r>
          </a:p>
          <a:p>
            <a:pPr marL="0" indent="0" algn="just">
              <a:lnSpc>
                <a:spcPct val="150000"/>
              </a:lnSpc>
              <a:buNone/>
            </a:pPr>
            <a:r>
              <a:rPr lang="en-US" dirty="0">
                <a:latin typeface="Times New Roman" panose="02020603050405020304" pitchFamily="18" charset="0"/>
                <a:cs typeface="Times New Roman" panose="02020603050405020304" pitchFamily="18" charset="0"/>
              </a:rPr>
              <a:t>(iv) institutional denial of tenancy rights on the stipulation of the failure to pay ground rent on the specified time; </a:t>
            </a:r>
          </a:p>
          <a:p>
            <a:pPr marL="0" indent="0" algn="just">
              <a:lnSpc>
                <a:spcPct val="150000"/>
              </a:lnSpc>
              <a:buNone/>
            </a:pPr>
            <a:r>
              <a:rPr lang="en-US" dirty="0">
                <a:latin typeface="Times New Roman" panose="02020603050405020304" pitchFamily="18" charset="0"/>
                <a:cs typeface="Times New Roman" panose="02020603050405020304" pitchFamily="18" charset="0"/>
              </a:rPr>
              <a:t>(v) special arrangement for the alienation of the tenancy right</a:t>
            </a:r>
          </a:p>
        </p:txBody>
      </p:sp>
    </p:spTree>
    <p:extLst>
      <p:ext uri="{BB962C8B-B14F-4D97-AF65-F5344CB8AC3E}">
        <p14:creationId xmlns:p14="http://schemas.microsoft.com/office/powerpoint/2010/main" val="1313959446"/>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7B87DD-2AF7-7252-4043-854E0BFB6099}"/>
              </a:ext>
            </a:extLst>
          </p:cNvPr>
          <p:cNvSpPr>
            <a:spLocks noGrp="1"/>
          </p:cNvSpPr>
          <p:nvPr>
            <p:ph type="title"/>
          </p:nvPr>
        </p:nvSpPr>
        <p:spPr>
          <a:xfrm>
            <a:off x="76200" y="152400"/>
            <a:ext cx="8229600" cy="990600"/>
          </a:xfrm>
        </p:spPr>
        <p:txBody>
          <a:bodyPr/>
          <a:lstStyle/>
          <a:p>
            <a:r>
              <a:rPr lang="en-US" dirty="0">
                <a:latin typeface="Times New Roman" panose="02020603050405020304" pitchFamily="18" charset="0"/>
                <a:cs typeface="Times New Roman" panose="02020603050405020304" pitchFamily="18" charset="0"/>
              </a:rPr>
              <a:t>Land Acquisition Act, 1977</a:t>
            </a:r>
          </a:p>
        </p:txBody>
      </p:sp>
      <p:sp>
        <p:nvSpPr>
          <p:cNvPr id="3" name="Content Placeholder 2">
            <a:extLst>
              <a:ext uri="{FF2B5EF4-FFF2-40B4-BE49-F238E27FC236}">
                <a16:creationId xmlns:a16="http://schemas.microsoft.com/office/drawing/2014/main" id="{09A84B27-DA2F-4997-AE86-C122FBE1319F}"/>
              </a:ext>
            </a:extLst>
          </p:cNvPr>
          <p:cNvSpPr>
            <a:spLocks noGrp="1"/>
          </p:cNvSpPr>
          <p:nvPr>
            <p:ph idx="1"/>
          </p:nvPr>
        </p:nvSpPr>
        <p:spPr>
          <a:xfrm>
            <a:off x="0" y="1143000"/>
            <a:ext cx="8991600" cy="5486400"/>
          </a:xfrm>
        </p:spPr>
        <p:txBody>
          <a:bodyPr>
            <a:normAutofit/>
          </a:bodyPr>
          <a:lstStyle/>
          <a:p>
            <a:r>
              <a:rPr lang="en-US" dirty="0">
                <a:latin typeface="Times New Roman" panose="02020603050405020304" pitchFamily="18" charset="0"/>
                <a:cs typeface="Times New Roman" panose="02020603050405020304" pitchFamily="18" charset="0"/>
              </a:rPr>
              <a:t>It is in the process of being amended very soon to address many contemporaneous issues in land acquisition.</a:t>
            </a:r>
          </a:p>
          <a:p>
            <a:r>
              <a:rPr lang="en-US" dirty="0">
                <a:latin typeface="Times New Roman" panose="02020603050405020304" pitchFamily="18" charset="0"/>
                <a:cs typeface="Times New Roman" panose="02020603050405020304" pitchFamily="18" charset="0"/>
              </a:rPr>
              <a:t>Some salient provisions of the Act comprise as follows: </a:t>
            </a:r>
          </a:p>
          <a:p>
            <a:pPr marL="514350" indent="-514350">
              <a:buAutoNum type="romanLcParenBoth"/>
            </a:pPr>
            <a:r>
              <a:rPr lang="en-US" dirty="0">
                <a:latin typeface="Times New Roman" panose="02020603050405020304" pitchFamily="18" charset="0"/>
                <a:cs typeface="Times New Roman" panose="02020603050405020304" pitchFamily="18" charset="0"/>
              </a:rPr>
              <a:t>Power vested with Nepal government for the acquisition of land for public work </a:t>
            </a:r>
          </a:p>
          <a:p>
            <a:pPr marL="514350" indent="-514350">
              <a:buAutoNum type="romanLcParenBoth"/>
            </a:pPr>
            <a:r>
              <a:rPr lang="en-US" dirty="0">
                <a:latin typeface="Times New Roman" panose="02020603050405020304" pitchFamily="18" charset="0"/>
                <a:cs typeface="Times New Roman" panose="02020603050405020304" pitchFamily="18" charset="0"/>
              </a:rPr>
              <a:t>Compensation to be paid to the affected party for the loss incurred upon </a:t>
            </a:r>
          </a:p>
          <a:p>
            <a:pPr marL="514350" indent="-514350">
              <a:buAutoNum type="romanLcParenBoth"/>
            </a:pPr>
            <a:r>
              <a:rPr lang="en-US" dirty="0">
                <a:latin typeface="Times New Roman" panose="02020603050405020304" pitchFamily="18" charset="0"/>
                <a:cs typeface="Times New Roman" panose="02020603050405020304" pitchFamily="18" charset="0"/>
              </a:rPr>
              <a:t>Possibility of providing land in lieu of land acquired by Nepal government </a:t>
            </a:r>
          </a:p>
          <a:p>
            <a:pPr marL="514350" indent="-514350">
              <a:buAutoNum type="romanLcParenBoth"/>
            </a:pPr>
            <a:r>
              <a:rPr lang="en-US" dirty="0">
                <a:latin typeface="Times New Roman" panose="02020603050405020304" pitchFamily="18" charset="0"/>
                <a:cs typeface="Times New Roman" panose="02020603050405020304" pitchFamily="18" charset="0"/>
              </a:rPr>
              <a:t>Compensation for the land appropriated in excess of ceiling set by government does not exceed the figure as specified in the Lands Act, 1964; </a:t>
            </a:r>
          </a:p>
          <a:p>
            <a:pPr marL="514350" indent="-514350">
              <a:buAutoNum type="romanLcParenBoth"/>
            </a:pPr>
            <a:r>
              <a:rPr lang="en-US" dirty="0">
                <a:latin typeface="Times New Roman" panose="02020603050405020304" pitchFamily="18" charset="0"/>
                <a:cs typeface="Times New Roman" panose="02020603050405020304" pitchFamily="18" charset="0"/>
              </a:rPr>
              <a:t>Compensation to be received by tenant </a:t>
            </a:r>
          </a:p>
        </p:txBody>
      </p:sp>
    </p:spTree>
    <p:extLst>
      <p:ext uri="{BB962C8B-B14F-4D97-AF65-F5344CB8AC3E}">
        <p14:creationId xmlns:p14="http://schemas.microsoft.com/office/powerpoint/2010/main" val="4062045280"/>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D28745-0DB6-B890-95ED-F6C41DCE5C99}"/>
              </a:ext>
            </a:extLst>
          </p:cNvPr>
          <p:cNvSpPr>
            <a:spLocks noGrp="1"/>
          </p:cNvSpPr>
          <p:nvPr>
            <p:ph type="title"/>
          </p:nvPr>
        </p:nvSpPr>
        <p:spPr>
          <a:xfrm>
            <a:off x="0" y="0"/>
            <a:ext cx="8229600" cy="990600"/>
          </a:xfrm>
        </p:spPr>
        <p:txBody>
          <a:bodyPr/>
          <a:lstStyle/>
          <a:p>
            <a:r>
              <a:rPr lang="en-US" dirty="0">
                <a:latin typeface="Times New Roman" panose="02020603050405020304" pitchFamily="18" charset="0"/>
                <a:cs typeface="Times New Roman" panose="02020603050405020304" pitchFamily="18" charset="0"/>
              </a:rPr>
              <a:t>Land Revenue Act, 1978</a:t>
            </a:r>
          </a:p>
        </p:txBody>
      </p:sp>
      <p:sp>
        <p:nvSpPr>
          <p:cNvPr id="3" name="Content Placeholder 2">
            <a:extLst>
              <a:ext uri="{FF2B5EF4-FFF2-40B4-BE49-F238E27FC236}">
                <a16:creationId xmlns:a16="http://schemas.microsoft.com/office/drawing/2014/main" id="{E0774C58-7BB8-594B-B3FC-DE1158D6730E}"/>
              </a:ext>
            </a:extLst>
          </p:cNvPr>
          <p:cNvSpPr>
            <a:spLocks noGrp="1"/>
          </p:cNvSpPr>
          <p:nvPr>
            <p:ph idx="1"/>
          </p:nvPr>
        </p:nvSpPr>
        <p:spPr>
          <a:xfrm>
            <a:off x="76200" y="838200"/>
            <a:ext cx="9067800" cy="5867400"/>
          </a:xfrm>
        </p:spPr>
        <p:txBody>
          <a:bodyPr>
            <a:normAutofit lnSpcReduction="10000"/>
          </a:bodyPr>
          <a:lstStyle/>
          <a:p>
            <a:pPr algn="just"/>
            <a:r>
              <a:rPr lang="en-US" dirty="0">
                <a:latin typeface="Times New Roman" panose="02020603050405020304" pitchFamily="18" charset="0"/>
                <a:cs typeface="Times New Roman" panose="02020603050405020304" pitchFamily="18" charset="0"/>
              </a:rPr>
              <a:t>Land Revenue Act has two major objectives as follows: </a:t>
            </a:r>
          </a:p>
          <a:p>
            <a:pPr marL="514350" indent="-514350" algn="just">
              <a:buAutoNum type="romanLcParenBoth"/>
            </a:pPr>
            <a:r>
              <a:rPr lang="en-US" dirty="0">
                <a:latin typeface="Times New Roman" panose="02020603050405020304" pitchFamily="18" charset="0"/>
                <a:cs typeface="Times New Roman" panose="02020603050405020304" pitchFamily="18" charset="0"/>
              </a:rPr>
              <a:t>Collection of land revenues, and </a:t>
            </a:r>
          </a:p>
          <a:p>
            <a:pPr marL="514350" indent="-514350" algn="just">
              <a:buAutoNum type="romanLcParenBoth"/>
            </a:pPr>
            <a:r>
              <a:rPr lang="en-US" dirty="0">
                <a:latin typeface="Times New Roman" panose="02020603050405020304" pitchFamily="18" charset="0"/>
                <a:cs typeface="Times New Roman" panose="02020603050405020304" pitchFamily="18" charset="0"/>
              </a:rPr>
              <a:t>Reclamation of land. </a:t>
            </a:r>
          </a:p>
          <a:p>
            <a:pPr algn="just"/>
            <a:r>
              <a:rPr lang="en-US" dirty="0">
                <a:latin typeface="Times New Roman" panose="02020603050405020304" pitchFamily="18" charset="0"/>
                <a:cs typeface="Times New Roman" panose="02020603050405020304" pitchFamily="18" charset="0"/>
              </a:rPr>
              <a:t>Some salient relevant provisions of the Act comprise as follows: </a:t>
            </a:r>
          </a:p>
          <a:p>
            <a:pPr marL="514350" indent="-514350" algn="just">
              <a:buAutoNum type="romanLcParenBoth"/>
            </a:pPr>
            <a:r>
              <a:rPr lang="en-US" dirty="0">
                <a:latin typeface="Times New Roman" panose="02020603050405020304" pitchFamily="18" charset="0"/>
                <a:cs typeface="Times New Roman" panose="02020603050405020304" pitchFamily="18" charset="0"/>
              </a:rPr>
              <a:t>maintenance of the official record of landowners in all places (including in areas where cadastral survey has not been conducted through the use of existing land records); </a:t>
            </a:r>
          </a:p>
          <a:p>
            <a:pPr marL="514350" indent="-514350" algn="just">
              <a:buAutoNum type="romanLcParenBoth"/>
            </a:pPr>
            <a:r>
              <a:rPr lang="en-US" dirty="0">
                <a:latin typeface="Times New Roman" panose="02020603050405020304" pitchFamily="18" charset="0"/>
                <a:cs typeface="Times New Roman" panose="02020603050405020304" pitchFamily="18" charset="0"/>
              </a:rPr>
              <a:t>making official effort for conducting cadastral survey of lands left under the Land (Cadastral Survey and Measurement) Act (2062) and registering such lands; </a:t>
            </a:r>
          </a:p>
          <a:p>
            <a:pPr marL="514350" indent="-514350" algn="just">
              <a:buAutoNum type="romanLcParenBoth"/>
            </a:pPr>
            <a:r>
              <a:rPr lang="en-US" dirty="0">
                <a:latin typeface="Times New Roman" panose="02020603050405020304" pitchFamily="18" charset="0"/>
                <a:cs typeface="Times New Roman" panose="02020603050405020304" pitchFamily="18" charset="0"/>
              </a:rPr>
              <a:t>rendering services for land registration, transfer of land ownership (in other names/s), and adjusting land records; </a:t>
            </a:r>
          </a:p>
          <a:p>
            <a:pPr marL="514350" indent="-514350" algn="just">
              <a:buAutoNum type="romanLcParenBoth"/>
            </a:pPr>
            <a:r>
              <a:rPr lang="en-US" dirty="0">
                <a:latin typeface="Times New Roman" panose="02020603050405020304" pitchFamily="18" charset="0"/>
                <a:cs typeface="Times New Roman" panose="02020603050405020304" pitchFamily="18" charset="0"/>
              </a:rPr>
              <a:t>sharing information by land revenue office on the change/s in landownership official record under tenancy or excess land above ceiling (set by government) with land reform office;</a:t>
            </a:r>
          </a:p>
          <a:p>
            <a:pPr marL="514350" indent="-514350" algn="just">
              <a:buAutoNum type="romanLcParenBoth"/>
            </a:pPr>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753159316"/>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544370F-BC26-04F8-625E-8C62A252B1A0}"/>
              </a:ext>
            </a:extLst>
          </p:cNvPr>
          <p:cNvSpPr>
            <a:spLocks noGrp="1"/>
          </p:cNvSpPr>
          <p:nvPr>
            <p:ph idx="1"/>
          </p:nvPr>
        </p:nvSpPr>
        <p:spPr>
          <a:xfrm>
            <a:off x="0" y="381000"/>
            <a:ext cx="8991600" cy="6477000"/>
          </a:xfrm>
        </p:spPr>
        <p:txBody>
          <a:bodyPr>
            <a:normAutofit/>
          </a:bodyPr>
          <a:lstStyle/>
          <a:p>
            <a:pPr marL="0" indent="0" algn="just">
              <a:buNone/>
            </a:pPr>
            <a:r>
              <a:rPr lang="en-US" sz="2600" dirty="0">
                <a:solidFill>
                  <a:srgbClr val="FF0000"/>
                </a:solidFill>
                <a:latin typeface="Times New Roman" panose="02020603050405020304" pitchFamily="18" charset="0"/>
                <a:cs typeface="Times New Roman" panose="02020603050405020304" pitchFamily="18" charset="0"/>
              </a:rPr>
              <a:t>Land Revenue Act, 1978…..</a:t>
            </a:r>
          </a:p>
          <a:p>
            <a:pPr marL="0" indent="0" algn="just">
              <a:buNone/>
            </a:pPr>
            <a:r>
              <a:rPr lang="en-US" dirty="0">
                <a:latin typeface="Times New Roman" panose="02020603050405020304" pitchFamily="18" charset="0"/>
                <a:cs typeface="Times New Roman" panose="02020603050405020304" pitchFamily="18" charset="0"/>
              </a:rPr>
              <a:t>(v) remission of land tax by the Nepal government to the peasants (landowners) in the events of the damage of land caused by river or landslide and failure or depredation of main crop triggered by drought or other natural calamities upon the field investigation made by land revenue office and its subsequent recommendation for remission;</a:t>
            </a:r>
          </a:p>
          <a:p>
            <a:pPr marL="0" indent="0" algn="just">
              <a:buNone/>
            </a:pPr>
            <a:r>
              <a:rPr lang="en-US" dirty="0">
                <a:latin typeface="Times New Roman" panose="02020603050405020304" pitchFamily="18" charset="0"/>
                <a:cs typeface="Times New Roman" panose="02020603050405020304" pitchFamily="18" charset="0"/>
              </a:rPr>
              <a:t> (vi) prohibition on the private registration of governmental, public or community lands</a:t>
            </a:r>
          </a:p>
          <a:p>
            <a:pPr marL="0" indent="0" algn="just">
              <a:buNone/>
            </a:pPr>
            <a:r>
              <a:rPr lang="en-US" dirty="0">
                <a:latin typeface="Times New Roman" panose="02020603050405020304" pitchFamily="18" charset="0"/>
                <a:cs typeface="Times New Roman" panose="02020603050405020304" pitchFamily="18" charset="0"/>
              </a:rPr>
              <a:t>(vii) prohibition on reclamation of unregistered governmental land for human settlement </a:t>
            </a:r>
          </a:p>
          <a:p>
            <a:pPr marL="0" indent="0" algn="just">
              <a:buNone/>
            </a:pPr>
            <a:r>
              <a:rPr lang="en-US" dirty="0">
                <a:latin typeface="Times New Roman" panose="02020603050405020304" pitchFamily="18" charset="0"/>
                <a:cs typeface="Times New Roman" panose="02020603050405020304" pitchFamily="18" charset="0"/>
              </a:rPr>
              <a:t>(viii) incarceration of a culpable person and his/ her accomplice for three years or imposition of NRs. 3,000 as fine or provision of both punishments in the event of registration of governmental land or public land in his/her name or reclamation of such lands, etc.</a:t>
            </a:r>
            <a:endParaRPr lang="en-US" dirty="0"/>
          </a:p>
        </p:txBody>
      </p:sp>
    </p:spTree>
    <p:extLst>
      <p:ext uri="{BB962C8B-B14F-4D97-AF65-F5344CB8AC3E}">
        <p14:creationId xmlns:p14="http://schemas.microsoft.com/office/powerpoint/2010/main" val="674341386"/>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C6B351-F85E-8A06-3D5B-0815A486EBD5}"/>
              </a:ext>
            </a:extLst>
          </p:cNvPr>
          <p:cNvSpPr>
            <a:spLocks noGrp="1"/>
          </p:cNvSpPr>
          <p:nvPr>
            <p:ph type="title"/>
          </p:nvPr>
        </p:nvSpPr>
        <p:spPr>
          <a:xfrm>
            <a:off x="37672" y="381000"/>
            <a:ext cx="8229600" cy="990600"/>
          </a:xfrm>
        </p:spPr>
        <p:txBody>
          <a:bodyPr/>
          <a:lstStyle/>
          <a:p>
            <a:r>
              <a:rPr lang="en-US" dirty="0">
                <a:latin typeface="Times New Roman" panose="02020603050405020304" pitchFamily="18" charset="0"/>
                <a:cs typeface="Times New Roman" panose="02020603050405020304" pitchFamily="18" charset="0"/>
              </a:rPr>
              <a:t>Nepal Trust Act, 2008</a:t>
            </a:r>
          </a:p>
        </p:txBody>
      </p:sp>
      <p:sp>
        <p:nvSpPr>
          <p:cNvPr id="3" name="Content Placeholder 2">
            <a:extLst>
              <a:ext uri="{FF2B5EF4-FFF2-40B4-BE49-F238E27FC236}">
                <a16:creationId xmlns:a16="http://schemas.microsoft.com/office/drawing/2014/main" id="{90B487B2-33ED-CFEB-02FB-F6818EDBFDAE}"/>
              </a:ext>
            </a:extLst>
          </p:cNvPr>
          <p:cNvSpPr>
            <a:spLocks noGrp="1"/>
          </p:cNvSpPr>
          <p:nvPr>
            <p:ph idx="1"/>
          </p:nvPr>
        </p:nvSpPr>
        <p:spPr>
          <a:xfrm>
            <a:off x="37672" y="1143000"/>
            <a:ext cx="9068656" cy="5715000"/>
          </a:xfrm>
        </p:spPr>
        <p:txBody>
          <a:bodyPr>
            <a:normAutofit fontScale="92500"/>
          </a:bodyPr>
          <a:lstStyle/>
          <a:p>
            <a:pPr algn="just"/>
            <a:r>
              <a:rPr lang="en-US" dirty="0">
                <a:latin typeface="Times New Roman" panose="02020603050405020304" pitchFamily="18" charset="0"/>
                <a:cs typeface="Times New Roman" panose="02020603050405020304" pitchFamily="18" charset="0"/>
              </a:rPr>
              <a:t>After the declaration of Nepal as a republic state in 2006, there was a hue and cry from the public about the property (movable and immovable) of late king Birendra, his late queen, and their late family members. As a result, an Act was framed in 2008 and implemented for bringing all their property under the trust for its use in national interest through its proper management. </a:t>
            </a:r>
          </a:p>
          <a:p>
            <a:pPr algn="just"/>
            <a:r>
              <a:rPr lang="en-US" dirty="0">
                <a:latin typeface="Times New Roman" panose="02020603050405020304" pitchFamily="18" charset="0"/>
                <a:cs typeface="Times New Roman" panose="02020603050405020304" pitchFamily="18" charset="0"/>
              </a:rPr>
              <a:t>Important provisions of the Act comprise: </a:t>
            </a:r>
          </a:p>
          <a:p>
            <a:pPr marL="0" indent="0" algn="just">
              <a:buNone/>
            </a:pPr>
            <a:r>
              <a:rPr lang="en-US" dirty="0">
                <a:latin typeface="Times New Roman" panose="02020603050405020304" pitchFamily="18" charset="0"/>
                <a:cs typeface="Times New Roman" panose="02020603050405020304" pitchFamily="18" charset="0"/>
              </a:rPr>
              <a:t>(</a:t>
            </a:r>
            <a:r>
              <a:rPr lang="en-US" dirty="0" err="1">
                <a:latin typeface="Times New Roman" panose="02020603050405020304" pitchFamily="18" charset="0"/>
                <a:cs typeface="Times New Roman" panose="02020603050405020304" pitchFamily="18" charset="0"/>
              </a:rPr>
              <a:t>i</a:t>
            </a:r>
            <a:r>
              <a:rPr lang="en-US" dirty="0">
                <a:latin typeface="Times New Roman" panose="02020603050405020304" pitchFamily="18" charset="0"/>
                <a:cs typeface="Times New Roman" panose="02020603050405020304" pitchFamily="18" charset="0"/>
              </a:rPr>
              <a:t>) Use of the trust property in the national interest that can accrue comprehensive and optimal public benefits </a:t>
            </a:r>
          </a:p>
          <a:p>
            <a:pPr marL="0" indent="0" algn="just">
              <a:buNone/>
            </a:pPr>
            <a:r>
              <a:rPr lang="en-US" dirty="0">
                <a:latin typeface="Times New Roman" panose="02020603050405020304" pitchFamily="18" charset="0"/>
                <a:cs typeface="Times New Roman" panose="02020603050405020304" pitchFamily="18" charset="0"/>
              </a:rPr>
              <a:t>(ii) Role of the trust management committee which is legally responsible for the promotion and protection of trust property and income generation by implementing activities as specified in the Act;</a:t>
            </a:r>
          </a:p>
          <a:p>
            <a:pPr marL="0" indent="0" algn="just">
              <a:buNone/>
            </a:pPr>
            <a:r>
              <a:rPr lang="en-US" dirty="0">
                <a:latin typeface="Times New Roman" panose="02020603050405020304" pitchFamily="18" charset="0"/>
                <a:cs typeface="Times New Roman" panose="02020603050405020304" pitchFamily="18" charset="0"/>
              </a:rPr>
              <a:t> (iii) Prohibition on the sale of the trust property and provisioning it to anyone on the usufructuary rights;</a:t>
            </a:r>
          </a:p>
          <a:p>
            <a:pPr marL="0" indent="0" algn="just">
              <a:buNone/>
            </a:pPr>
            <a:r>
              <a:rPr lang="en-US" dirty="0">
                <a:latin typeface="Times New Roman" panose="02020603050405020304" pitchFamily="18" charset="0"/>
                <a:cs typeface="Times New Roman" panose="02020603050405020304" pitchFamily="18" charset="0"/>
              </a:rPr>
              <a:t> (iv) Sale of trust property by trust management committee for specific purpose for promoting the national interests as approved by the cabinet, etc.</a:t>
            </a:r>
          </a:p>
          <a:p>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188994298"/>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C09A2A-B7CD-F156-9465-4654882E733F}"/>
              </a:ext>
            </a:extLst>
          </p:cNvPr>
          <p:cNvSpPr>
            <a:spLocks noGrp="1"/>
          </p:cNvSpPr>
          <p:nvPr>
            <p:ph type="title"/>
          </p:nvPr>
        </p:nvSpPr>
        <p:spPr>
          <a:xfrm>
            <a:off x="0" y="76200"/>
            <a:ext cx="8229600" cy="990600"/>
          </a:xfrm>
        </p:spPr>
        <p:txBody>
          <a:bodyPr/>
          <a:lstStyle/>
          <a:p>
            <a:r>
              <a:rPr lang="en-US" dirty="0">
                <a:latin typeface="Times New Roman" panose="02020603050405020304" pitchFamily="18" charset="0"/>
                <a:cs typeface="Times New Roman" panose="02020603050405020304" pitchFamily="18" charset="0"/>
              </a:rPr>
              <a:t>Forest Act, 2019</a:t>
            </a:r>
          </a:p>
        </p:txBody>
      </p:sp>
      <p:sp>
        <p:nvSpPr>
          <p:cNvPr id="3" name="Content Placeholder 2">
            <a:extLst>
              <a:ext uri="{FF2B5EF4-FFF2-40B4-BE49-F238E27FC236}">
                <a16:creationId xmlns:a16="http://schemas.microsoft.com/office/drawing/2014/main" id="{873F19DE-C2A4-9ECF-A03F-D726513D96AA}"/>
              </a:ext>
            </a:extLst>
          </p:cNvPr>
          <p:cNvSpPr>
            <a:spLocks noGrp="1"/>
          </p:cNvSpPr>
          <p:nvPr>
            <p:ph idx="1"/>
          </p:nvPr>
        </p:nvSpPr>
        <p:spPr>
          <a:xfrm>
            <a:off x="152400" y="838200"/>
            <a:ext cx="8915400" cy="5943600"/>
          </a:xfrm>
        </p:spPr>
        <p:txBody>
          <a:bodyPr>
            <a:normAutofit fontScale="92500"/>
          </a:bodyPr>
          <a:lstStyle/>
          <a:p>
            <a:pPr algn="just"/>
            <a:r>
              <a:rPr lang="en-US" dirty="0">
                <a:latin typeface="Times New Roman" panose="02020603050405020304" pitchFamily="18" charset="0"/>
                <a:cs typeface="Times New Roman" panose="02020603050405020304" pitchFamily="18" charset="0"/>
              </a:rPr>
              <a:t>“Forest” as “an area with fully or partially covered with trees or bushes”</a:t>
            </a:r>
          </a:p>
          <a:p>
            <a:pPr algn="just"/>
            <a:r>
              <a:rPr lang="en-US" dirty="0">
                <a:latin typeface="Times New Roman" panose="02020603050405020304" pitchFamily="18" charset="0"/>
                <a:cs typeface="Times New Roman" panose="02020603050405020304" pitchFamily="18" charset="0"/>
              </a:rPr>
              <a:t>“Forest area” as “an area with forest boundary or an area covered by forest without boundary or grassland, pastureland, snow-capped mountain or mountain bereft of snow, road, lake, pond, wetland, river, stream, the sand area along the course of the river, unregistered public land located within the forest excluding the area under private ownership or an area managed by any other prevailing law”. </a:t>
            </a:r>
          </a:p>
          <a:p>
            <a:pPr algn="just"/>
            <a:r>
              <a:rPr lang="en-US" dirty="0">
                <a:latin typeface="Times New Roman" panose="02020603050405020304" pitchFamily="18" charset="0"/>
                <a:cs typeface="Times New Roman" panose="02020603050405020304" pitchFamily="18" charset="0"/>
              </a:rPr>
              <a:t>The Act has categorized the forest of Nepal into seven as follows:</a:t>
            </a:r>
          </a:p>
          <a:p>
            <a:pPr marL="0" indent="0" algn="just">
              <a:buNone/>
            </a:pPr>
            <a:r>
              <a:rPr lang="en-US" dirty="0">
                <a:latin typeface="Times New Roman" panose="02020603050405020304" pitchFamily="18" charset="0"/>
                <a:cs typeface="Times New Roman" panose="02020603050405020304" pitchFamily="18" charset="0"/>
              </a:rPr>
              <a:t>(</a:t>
            </a:r>
            <a:r>
              <a:rPr lang="en-US" dirty="0" err="1">
                <a:latin typeface="Times New Roman" panose="02020603050405020304" pitchFamily="18" charset="0"/>
                <a:cs typeface="Times New Roman" panose="02020603050405020304" pitchFamily="18" charset="0"/>
              </a:rPr>
              <a:t>i</a:t>
            </a:r>
            <a:r>
              <a:rPr lang="en-US" dirty="0">
                <a:latin typeface="Times New Roman" panose="02020603050405020304" pitchFamily="18" charset="0"/>
                <a:cs typeface="Times New Roman" panose="02020603050405020304" pitchFamily="18" charset="0"/>
              </a:rPr>
              <a:t>) government-managed forest; </a:t>
            </a:r>
          </a:p>
          <a:p>
            <a:pPr marL="0" indent="0" algn="just">
              <a:buNone/>
            </a:pPr>
            <a:r>
              <a:rPr lang="en-US" dirty="0">
                <a:latin typeface="Times New Roman" panose="02020603050405020304" pitchFamily="18" charset="0"/>
                <a:cs typeface="Times New Roman" panose="02020603050405020304" pitchFamily="18" charset="0"/>
              </a:rPr>
              <a:t>(ii) community-managed forest; </a:t>
            </a:r>
          </a:p>
          <a:p>
            <a:pPr marL="0" indent="0" algn="just">
              <a:buNone/>
            </a:pPr>
            <a:r>
              <a:rPr lang="en-US" dirty="0">
                <a:latin typeface="Times New Roman" panose="02020603050405020304" pitchFamily="18" charset="0"/>
                <a:cs typeface="Times New Roman" panose="02020603050405020304" pitchFamily="18" charset="0"/>
              </a:rPr>
              <a:t>(iii) jointly-managed forest (by users and government); </a:t>
            </a:r>
          </a:p>
          <a:p>
            <a:pPr marL="0" indent="0" algn="just">
              <a:buNone/>
            </a:pPr>
            <a:r>
              <a:rPr lang="en-US" dirty="0">
                <a:latin typeface="Times New Roman" panose="02020603050405020304" pitchFamily="18" charset="0"/>
                <a:cs typeface="Times New Roman" panose="02020603050405020304" pitchFamily="18" charset="0"/>
              </a:rPr>
              <a:t>(iv) leasehold forest; </a:t>
            </a:r>
          </a:p>
          <a:p>
            <a:pPr marL="0" indent="0" algn="just">
              <a:buNone/>
            </a:pPr>
            <a:r>
              <a:rPr lang="en-US" dirty="0">
                <a:latin typeface="Times New Roman" panose="02020603050405020304" pitchFamily="18" charset="0"/>
                <a:cs typeface="Times New Roman" panose="02020603050405020304" pitchFamily="18" charset="0"/>
              </a:rPr>
              <a:t>(v) religious forest; </a:t>
            </a:r>
          </a:p>
          <a:p>
            <a:pPr marL="0" indent="0" algn="just">
              <a:buNone/>
            </a:pPr>
            <a:r>
              <a:rPr lang="en-US" dirty="0">
                <a:latin typeface="Times New Roman" panose="02020603050405020304" pitchFamily="18" charset="0"/>
                <a:cs typeface="Times New Roman" panose="02020603050405020304" pitchFamily="18" charset="0"/>
              </a:rPr>
              <a:t>(vi) public and private forests, and </a:t>
            </a:r>
          </a:p>
          <a:p>
            <a:pPr marL="0" indent="0" algn="just">
              <a:buNone/>
            </a:pPr>
            <a:r>
              <a:rPr lang="en-US" dirty="0">
                <a:latin typeface="Times New Roman" panose="02020603050405020304" pitchFamily="18" charset="0"/>
                <a:cs typeface="Times New Roman" panose="02020603050405020304" pitchFamily="18" charset="0"/>
              </a:rPr>
              <a:t>(vii) urban forest.</a:t>
            </a:r>
          </a:p>
        </p:txBody>
      </p:sp>
    </p:spTree>
    <p:extLst>
      <p:ext uri="{BB962C8B-B14F-4D97-AF65-F5344CB8AC3E}">
        <p14:creationId xmlns:p14="http://schemas.microsoft.com/office/powerpoint/2010/main" val="3315932640"/>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A0DCD18-DAC5-17D3-8CF8-976C5EB7D3ED}"/>
              </a:ext>
            </a:extLst>
          </p:cNvPr>
          <p:cNvSpPr>
            <a:spLocks noGrp="1"/>
          </p:cNvSpPr>
          <p:nvPr>
            <p:ph idx="1"/>
          </p:nvPr>
        </p:nvSpPr>
        <p:spPr>
          <a:xfrm>
            <a:off x="0" y="457200"/>
            <a:ext cx="8991600" cy="6324600"/>
          </a:xfrm>
        </p:spPr>
        <p:txBody>
          <a:bodyPr>
            <a:normAutofit/>
          </a:bodyPr>
          <a:lstStyle/>
          <a:p>
            <a:pPr marL="0" indent="0">
              <a:buNone/>
            </a:pPr>
            <a:r>
              <a:rPr lang="en-US" sz="2800" dirty="0">
                <a:solidFill>
                  <a:srgbClr val="FF0000"/>
                </a:solidFill>
                <a:latin typeface="Times New Roman" panose="02020603050405020304" pitchFamily="18" charset="0"/>
                <a:cs typeface="Times New Roman" panose="02020603050405020304" pitchFamily="18" charset="0"/>
              </a:rPr>
              <a:t>Forest Act, 2019….</a:t>
            </a:r>
          </a:p>
          <a:p>
            <a:r>
              <a:rPr lang="en-US" dirty="0">
                <a:latin typeface="Times New Roman" panose="02020603050405020304" pitchFamily="18" charset="0"/>
                <a:cs typeface="Times New Roman" panose="02020603050405020304" pitchFamily="18" charset="0"/>
              </a:rPr>
              <a:t>Relevant provisions</a:t>
            </a:r>
          </a:p>
          <a:p>
            <a:pPr marL="788670" lvl="1" indent="-514350">
              <a:buAutoNum type="romanLcParenBoth"/>
            </a:pPr>
            <a:r>
              <a:rPr lang="en-US" sz="2400" dirty="0">
                <a:latin typeface="Times New Roman" panose="02020603050405020304" pitchFamily="18" charset="0"/>
                <a:cs typeface="Times New Roman" panose="02020603050405020304" pitchFamily="18" charset="0"/>
              </a:rPr>
              <a:t>The ownership of national forest vested with Nepal government</a:t>
            </a:r>
          </a:p>
          <a:p>
            <a:pPr marL="788670" lvl="1" indent="-514350">
              <a:buAutoNum type="romanLcParenBoth"/>
            </a:pPr>
            <a:r>
              <a:rPr lang="en-US" sz="2400" dirty="0">
                <a:latin typeface="Times New Roman" panose="02020603050405020304" pitchFamily="18" charset="0"/>
                <a:cs typeface="Times New Roman" panose="02020603050405020304" pitchFamily="18" charset="0"/>
              </a:rPr>
              <a:t>Acquisition of public or private land including the physical structures by the Nepal government in case of its need for forest protection in the process of boundary demarcation of national forest prohibition on the registration of national forest land in people’s names </a:t>
            </a:r>
          </a:p>
          <a:p>
            <a:pPr marL="788670" lvl="1" indent="-514350">
              <a:buAutoNum type="romanLcParenBoth"/>
            </a:pPr>
            <a:r>
              <a:rPr lang="en-US" sz="2400" dirty="0">
                <a:latin typeface="Times New Roman" panose="02020603050405020304" pitchFamily="18" charset="0"/>
                <a:cs typeface="Times New Roman" panose="02020603050405020304" pitchFamily="18" charset="0"/>
              </a:rPr>
              <a:t>Power vested with the Nepal government for the formulation of land use plan for sustainable forest protection, management and maintaining equilibrium between environment and development in any designated area of national forest and </a:t>
            </a:r>
          </a:p>
          <a:p>
            <a:pPr marL="788670" lvl="1" indent="-514350">
              <a:buAutoNum type="romanLcParenBoth"/>
            </a:pPr>
            <a:r>
              <a:rPr lang="en-US" sz="2400" dirty="0">
                <a:latin typeface="Times New Roman" panose="02020603050405020304" pitchFamily="18" charset="0"/>
                <a:cs typeface="Times New Roman" panose="02020603050405020304" pitchFamily="18" charset="0"/>
              </a:rPr>
              <a:t>Prohibition on the settlement or resettlement within the forest area.</a:t>
            </a:r>
          </a:p>
          <a:p>
            <a:pPr marL="0" indent="0">
              <a:buNone/>
            </a:pPr>
            <a:endParaRPr lang="en-US" dirty="0"/>
          </a:p>
        </p:txBody>
      </p:sp>
    </p:spTree>
    <p:extLst>
      <p:ext uri="{BB962C8B-B14F-4D97-AF65-F5344CB8AC3E}">
        <p14:creationId xmlns:p14="http://schemas.microsoft.com/office/powerpoint/2010/main" val="1701673652"/>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3218BD-0E33-E210-CDCF-74118822F5E6}"/>
              </a:ext>
            </a:extLst>
          </p:cNvPr>
          <p:cNvSpPr>
            <a:spLocks noGrp="1"/>
          </p:cNvSpPr>
          <p:nvPr>
            <p:ph type="title"/>
          </p:nvPr>
        </p:nvSpPr>
        <p:spPr>
          <a:xfrm>
            <a:off x="152400" y="76200"/>
            <a:ext cx="8229600" cy="990600"/>
          </a:xfrm>
        </p:spPr>
        <p:txBody>
          <a:bodyPr/>
          <a:lstStyle/>
          <a:p>
            <a:r>
              <a:rPr lang="en-US" dirty="0">
                <a:latin typeface="Times New Roman" panose="02020603050405020304" pitchFamily="18" charset="0"/>
                <a:cs typeface="Times New Roman" panose="02020603050405020304" pitchFamily="18" charset="0"/>
              </a:rPr>
              <a:t>Land Use Act, 2019</a:t>
            </a:r>
          </a:p>
        </p:txBody>
      </p:sp>
      <p:sp>
        <p:nvSpPr>
          <p:cNvPr id="3" name="Content Placeholder 2">
            <a:extLst>
              <a:ext uri="{FF2B5EF4-FFF2-40B4-BE49-F238E27FC236}">
                <a16:creationId xmlns:a16="http://schemas.microsoft.com/office/drawing/2014/main" id="{49B34114-8D11-BC6B-D565-B4212AA3755E}"/>
              </a:ext>
            </a:extLst>
          </p:cNvPr>
          <p:cNvSpPr>
            <a:spLocks noGrp="1"/>
          </p:cNvSpPr>
          <p:nvPr>
            <p:ph idx="1"/>
          </p:nvPr>
        </p:nvSpPr>
        <p:spPr>
          <a:xfrm>
            <a:off x="76200" y="762000"/>
            <a:ext cx="8991600" cy="6019800"/>
          </a:xfrm>
        </p:spPr>
        <p:txBody>
          <a:bodyPr>
            <a:normAutofit lnSpcReduction="10000"/>
          </a:bodyPr>
          <a:lstStyle/>
          <a:p>
            <a:pPr algn="just"/>
            <a:r>
              <a:rPr lang="en-US" dirty="0">
                <a:latin typeface="Times New Roman" panose="02020603050405020304" pitchFamily="18" charset="0"/>
                <a:cs typeface="Times New Roman" panose="02020603050405020304" pitchFamily="18" charset="0"/>
              </a:rPr>
              <a:t>Act states that it has been enacted for the optimum and sustainable benefit through the classification of land, integrated use, and effective management </a:t>
            </a:r>
          </a:p>
          <a:p>
            <a:r>
              <a:rPr lang="en-US" dirty="0">
                <a:latin typeface="Times New Roman" panose="02020603050405020304" pitchFamily="18" charset="0"/>
                <a:cs typeface="Times New Roman" panose="02020603050405020304" pitchFamily="18" charset="0"/>
              </a:rPr>
              <a:t>The important provisions of the Act has been the “classification of land use areas” into 10 different types as follows: </a:t>
            </a:r>
          </a:p>
          <a:p>
            <a:pPr marL="0" indent="0">
              <a:buNone/>
            </a:pPr>
            <a:r>
              <a:rPr lang="en-US" dirty="0">
                <a:latin typeface="Times New Roman" panose="02020603050405020304" pitchFamily="18" charset="0"/>
                <a:cs typeface="Times New Roman" panose="02020603050405020304" pitchFamily="18" charset="0"/>
              </a:rPr>
              <a:t>(</a:t>
            </a:r>
            <a:r>
              <a:rPr lang="en-US" dirty="0" err="1">
                <a:latin typeface="Times New Roman" panose="02020603050405020304" pitchFamily="18" charset="0"/>
                <a:cs typeface="Times New Roman" panose="02020603050405020304" pitchFamily="18" charset="0"/>
              </a:rPr>
              <a:t>i</a:t>
            </a:r>
            <a:r>
              <a:rPr lang="en-US" dirty="0">
                <a:latin typeface="Times New Roman" panose="02020603050405020304" pitchFamily="18" charset="0"/>
                <a:cs typeface="Times New Roman" panose="02020603050405020304" pitchFamily="18" charset="0"/>
              </a:rPr>
              <a:t>) Agricultural area; </a:t>
            </a:r>
          </a:p>
          <a:p>
            <a:pPr marL="0" indent="0">
              <a:buNone/>
            </a:pPr>
            <a:r>
              <a:rPr lang="en-US" dirty="0">
                <a:latin typeface="Times New Roman" panose="02020603050405020304" pitchFamily="18" charset="0"/>
                <a:cs typeface="Times New Roman" panose="02020603050405020304" pitchFamily="18" charset="0"/>
              </a:rPr>
              <a:t>(ii) Residential area; </a:t>
            </a:r>
          </a:p>
          <a:p>
            <a:pPr marL="0" indent="0">
              <a:buNone/>
            </a:pPr>
            <a:r>
              <a:rPr lang="en-US" dirty="0">
                <a:latin typeface="Times New Roman" panose="02020603050405020304" pitchFamily="18" charset="0"/>
                <a:cs typeface="Times New Roman" panose="02020603050405020304" pitchFamily="18" charset="0"/>
              </a:rPr>
              <a:t>(iii) Commercial area; </a:t>
            </a:r>
          </a:p>
          <a:p>
            <a:pPr marL="0" indent="0">
              <a:buNone/>
            </a:pPr>
            <a:r>
              <a:rPr lang="en-US" dirty="0">
                <a:latin typeface="Times New Roman" panose="02020603050405020304" pitchFamily="18" charset="0"/>
                <a:cs typeface="Times New Roman" panose="02020603050405020304" pitchFamily="18" charset="0"/>
              </a:rPr>
              <a:t>(iv) Industrial area; </a:t>
            </a:r>
          </a:p>
          <a:p>
            <a:pPr marL="0" indent="0">
              <a:buNone/>
            </a:pPr>
            <a:r>
              <a:rPr lang="en-US" dirty="0">
                <a:latin typeface="Times New Roman" panose="02020603050405020304" pitchFamily="18" charset="0"/>
                <a:cs typeface="Times New Roman" panose="02020603050405020304" pitchFamily="18" charset="0"/>
              </a:rPr>
              <a:t>(v) Area of mines and minerals;</a:t>
            </a:r>
          </a:p>
          <a:p>
            <a:pPr marL="0" indent="0">
              <a:buNone/>
            </a:pPr>
            <a:r>
              <a:rPr lang="en-US" dirty="0">
                <a:latin typeface="Times New Roman" panose="02020603050405020304" pitchFamily="18" charset="0"/>
                <a:cs typeface="Times New Roman" panose="02020603050405020304" pitchFamily="18" charset="0"/>
              </a:rPr>
              <a:t>(vi) Forest area; </a:t>
            </a:r>
          </a:p>
          <a:p>
            <a:pPr marL="0" indent="0">
              <a:buNone/>
            </a:pPr>
            <a:r>
              <a:rPr lang="en-US" dirty="0">
                <a:latin typeface="Times New Roman" panose="02020603050405020304" pitchFamily="18" charset="0"/>
                <a:cs typeface="Times New Roman" panose="02020603050405020304" pitchFamily="18" charset="0"/>
              </a:rPr>
              <a:t>(vii) Area of river, stream, lake, wetland; </a:t>
            </a:r>
          </a:p>
          <a:p>
            <a:pPr marL="0" indent="0">
              <a:buNone/>
            </a:pPr>
            <a:r>
              <a:rPr lang="en-US" dirty="0">
                <a:latin typeface="Times New Roman" panose="02020603050405020304" pitchFamily="18" charset="0"/>
                <a:cs typeface="Times New Roman" panose="02020603050405020304" pitchFamily="18" charset="0"/>
              </a:rPr>
              <a:t>(viii) Area of public use; </a:t>
            </a:r>
          </a:p>
          <a:p>
            <a:pPr marL="0" indent="0">
              <a:buNone/>
            </a:pPr>
            <a:r>
              <a:rPr lang="en-US" dirty="0">
                <a:latin typeface="Times New Roman" panose="02020603050405020304" pitchFamily="18" charset="0"/>
                <a:cs typeface="Times New Roman" panose="02020603050405020304" pitchFamily="18" charset="0"/>
              </a:rPr>
              <a:t>(ix) Area of cultural and archaeological importance, and</a:t>
            </a:r>
          </a:p>
          <a:p>
            <a:pPr marL="0" indent="0">
              <a:buNone/>
            </a:pPr>
            <a:r>
              <a:rPr lang="en-US" dirty="0">
                <a:latin typeface="Times New Roman" panose="02020603050405020304" pitchFamily="18" charset="0"/>
                <a:cs typeface="Times New Roman" panose="02020603050405020304" pitchFamily="18" charset="0"/>
              </a:rPr>
              <a:t> (x) Any other area designated by Nepal Government as per necessity. </a:t>
            </a:r>
          </a:p>
        </p:txBody>
      </p:sp>
    </p:spTree>
    <p:extLst>
      <p:ext uri="{BB962C8B-B14F-4D97-AF65-F5344CB8AC3E}">
        <p14:creationId xmlns:p14="http://schemas.microsoft.com/office/powerpoint/2010/main" val="3423771650"/>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0DE2FEB-7F61-A530-7761-CA304FBB1706}"/>
              </a:ext>
            </a:extLst>
          </p:cNvPr>
          <p:cNvSpPr>
            <a:spLocks noGrp="1"/>
          </p:cNvSpPr>
          <p:nvPr>
            <p:ph idx="1"/>
          </p:nvPr>
        </p:nvSpPr>
        <p:spPr>
          <a:xfrm>
            <a:off x="76200" y="533400"/>
            <a:ext cx="8991600" cy="6248400"/>
          </a:xfrm>
        </p:spPr>
        <p:txBody>
          <a:bodyPr>
            <a:normAutofit fontScale="92500"/>
          </a:bodyPr>
          <a:lstStyle/>
          <a:p>
            <a:pPr marL="0" indent="0">
              <a:buNone/>
            </a:pPr>
            <a:r>
              <a:rPr lang="en-US" sz="2800" dirty="0">
                <a:solidFill>
                  <a:srgbClr val="FF0000"/>
                </a:solidFill>
                <a:latin typeface="Times New Roman" panose="02020603050405020304" pitchFamily="18" charset="0"/>
                <a:cs typeface="Times New Roman" panose="02020603050405020304" pitchFamily="18" charset="0"/>
              </a:rPr>
              <a:t>Land Use Act, 2019…</a:t>
            </a:r>
          </a:p>
          <a:p>
            <a:pPr algn="just">
              <a:lnSpc>
                <a:spcPct val="150000"/>
              </a:lnSpc>
            </a:pPr>
            <a:r>
              <a:rPr lang="en-US" dirty="0">
                <a:latin typeface="Times New Roman" panose="02020603050405020304" pitchFamily="18" charset="0"/>
                <a:cs typeface="Times New Roman" panose="02020603050405020304" pitchFamily="18" charset="0"/>
              </a:rPr>
              <a:t>Provisions of the Act comprise the following;</a:t>
            </a:r>
          </a:p>
          <a:p>
            <a:pPr marL="514350" indent="-514350" algn="just">
              <a:lnSpc>
                <a:spcPct val="150000"/>
              </a:lnSpc>
              <a:buAutoNum type="romanLcParenBoth"/>
            </a:pPr>
            <a:r>
              <a:rPr lang="en-US" dirty="0">
                <a:latin typeface="Times New Roman" panose="02020603050405020304" pitchFamily="18" charset="0"/>
                <a:cs typeface="Times New Roman" panose="02020603050405020304" pitchFamily="18" charset="0"/>
              </a:rPr>
              <a:t>Preparation of land-use area map by the federal ministry for every local unit and handing it over within a year after the onset of this Act which can be updated periodically by “Local Land Use Council” through the consideration of its necessity, and </a:t>
            </a:r>
          </a:p>
          <a:p>
            <a:pPr marL="514350" indent="-514350" algn="just">
              <a:lnSpc>
                <a:spcPct val="150000"/>
              </a:lnSpc>
              <a:buAutoNum type="romanLcParenBoth"/>
            </a:pPr>
            <a:r>
              <a:rPr lang="en-US" dirty="0">
                <a:latin typeface="Times New Roman" panose="02020603050405020304" pitchFamily="18" charset="0"/>
                <a:cs typeface="Times New Roman" panose="02020603050405020304" pitchFamily="18" charset="0"/>
              </a:rPr>
              <a:t>Formulation of land use plan by Nepal government, the provincial government and local unit after the preparation of long-term land-use plan approach paper through the detailed study of the land situation, population growth rate, the necessity of food and housing, and demand of land for economic development and infrastructural construction </a:t>
            </a:r>
          </a:p>
          <a:p>
            <a:pPr marL="0" indent="0">
              <a:buNone/>
            </a:pPr>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545607136"/>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E089999-11DF-C1C2-1D96-A37357953E95}"/>
              </a:ext>
            </a:extLst>
          </p:cNvPr>
          <p:cNvSpPr>
            <a:spLocks noGrp="1"/>
          </p:cNvSpPr>
          <p:nvPr>
            <p:ph idx="1"/>
          </p:nvPr>
        </p:nvSpPr>
        <p:spPr>
          <a:xfrm>
            <a:off x="0" y="381000"/>
            <a:ext cx="8991600" cy="6477000"/>
          </a:xfrm>
        </p:spPr>
        <p:txBody>
          <a:bodyPr>
            <a:normAutofit fontScale="92500" lnSpcReduction="20000"/>
          </a:bodyPr>
          <a:lstStyle/>
          <a:p>
            <a:pPr marL="0" indent="0">
              <a:buNone/>
            </a:pPr>
            <a:r>
              <a:rPr lang="en-US" sz="2600" dirty="0">
                <a:solidFill>
                  <a:srgbClr val="FF0000"/>
                </a:solidFill>
                <a:latin typeface="Times New Roman" panose="02020603050405020304" pitchFamily="18" charset="0"/>
                <a:cs typeface="Times New Roman" panose="02020603050405020304" pitchFamily="18" charset="0"/>
              </a:rPr>
              <a:t>Land Use Act, 2019…</a:t>
            </a:r>
          </a:p>
          <a:p>
            <a:pPr>
              <a:lnSpc>
                <a:spcPct val="110000"/>
              </a:lnSpc>
            </a:pPr>
            <a:r>
              <a:rPr lang="en-US" dirty="0">
                <a:latin typeface="Times New Roman" panose="02020603050405020304" pitchFamily="18" charset="0"/>
                <a:cs typeface="Times New Roman" panose="02020603050405020304" pitchFamily="18" charset="0"/>
              </a:rPr>
              <a:t>More importantly, a land use plan must be prepared with the clear visibility of the following areas: </a:t>
            </a:r>
          </a:p>
          <a:p>
            <a:pPr marL="457200" indent="-457200">
              <a:lnSpc>
                <a:spcPct val="110000"/>
              </a:lnSpc>
              <a:buAutoNum type="alphaLcParenBoth"/>
            </a:pPr>
            <a:r>
              <a:rPr lang="en-US" dirty="0">
                <a:latin typeface="Times New Roman" panose="02020603050405020304" pitchFamily="18" charset="0"/>
                <a:cs typeface="Times New Roman" panose="02020603050405020304" pitchFamily="18" charset="0"/>
              </a:rPr>
              <a:t>industrial corridor; </a:t>
            </a:r>
          </a:p>
          <a:p>
            <a:pPr marL="457200" indent="-457200">
              <a:lnSpc>
                <a:spcPct val="110000"/>
              </a:lnSpc>
              <a:buAutoNum type="alphaLcParenBoth"/>
            </a:pPr>
            <a:r>
              <a:rPr lang="en-US" dirty="0">
                <a:latin typeface="Times New Roman" panose="02020603050405020304" pitchFamily="18" charset="0"/>
                <a:cs typeface="Times New Roman" panose="02020603050405020304" pitchFamily="18" charset="0"/>
              </a:rPr>
              <a:t>special economic zone;</a:t>
            </a:r>
          </a:p>
          <a:p>
            <a:pPr marL="457200" indent="-457200">
              <a:lnSpc>
                <a:spcPct val="110000"/>
              </a:lnSpc>
              <a:buAutoNum type="alphaLcParenBoth"/>
            </a:pPr>
            <a:r>
              <a:rPr lang="en-US" dirty="0">
                <a:latin typeface="Times New Roman" panose="02020603050405020304" pitchFamily="18" charset="0"/>
                <a:cs typeface="Times New Roman" panose="02020603050405020304" pitchFamily="18" charset="0"/>
              </a:rPr>
              <a:t>national project; </a:t>
            </a:r>
          </a:p>
          <a:p>
            <a:pPr marL="457200" indent="-457200">
              <a:lnSpc>
                <a:spcPct val="110000"/>
              </a:lnSpc>
              <a:buAutoNum type="alphaLcParenBoth"/>
            </a:pPr>
            <a:r>
              <a:rPr lang="en-US" dirty="0">
                <a:latin typeface="Times New Roman" panose="02020603050405020304" pitchFamily="18" charset="0"/>
                <a:cs typeface="Times New Roman" panose="02020603050405020304" pitchFamily="18" charset="0"/>
              </a:rPr>
              <a:t>inter-provincial project; </a:t>
            </a:r>
          </a:p>
          <a:p>
            <a:pPr marL="457200" indent="-457200">
              <a:lnSpc>
                <a:spcPct val="110000"/>
              </a:lnSpc>
              <a:buAutoNum type="alphaLcParenBoth"/>
            </a:pPr>
            <a:r>
              <a:rPr lang="en-US" dirty="0">
                <a:latin typeface="Times New Roman" panose="02020603050405020304" pitchFamily="18" charset="0"/>
                <a:cs typeface="Times New Roman" panose="02020603050405020304" pitchFamily="18" charset="0"/>
              </a:rPr>
              <a:t>natural  and physical properties of national importance worth preserving; </a:t>
            </a:r>
          </a:p>
          <a:p>
            <a:pPr marL="457200" indent="-457200">
              <a:lnSpc>
                <a:spcPct val="110000"/>
              </a:lnSpc>
              <a:buAutoNum type="alphaLcParenBoth"/>
            </a:pPr>
            <a:r>
              <a:rPr lang="en-US" dirty="0">
                <a:latin typeface="Times New Roman" panose="02020603050405020304" pitchFamily="18" charset="0"/>
                <a:cs typeface="Times New Roman" panose="02020603050405020304" pitchFamily="18" charset="0"/>
              </a:rPr>
              <a:t>religiously and culturally important sites with international identity and human belief; </a:t>
            </a:r>
          </a:p>
          <a:p>
            <a:pPr marL="457200" indent="-457200">
              <a:lnSpc>
                <a:spcPct val="110000"/>
              </a:lnSpc>
              <a:buAutoNum type="alphaLcParenBoth"/>
            </a:pPr>
            <a:r>
              <a:rPr lang="en-US" dirty="0">
                <a:latin typeface="Times New Roman" panose="02020603050405020304" pitchFamily="18" charset="0"/>
                <a:cs typeface="Times New Roman" panose="02020603050405020304" pitchFamily="18" charset="0"/>
              </a:rPr>
              <a:t>school or other educational site, and area of road, health institution, and irrigation canal; </a:t>
            </a:r>
          </a:p>
          <a:p>
            <a:pPr marL="457200" indent="-457200">
              <a:lnSpc>
                <a:spcPct val="110000"/>
              </a:lnSpc>
              <a:buAutoNum type="alphaLcParenBoth"/>
            </a:pPr>
            <a:r>
              <a:rPr lang="en-US" dirty="0">
                <a:latin typeface="Times New Roman" panose="02020603050405020304" pitchFamily="18" charset="0"/>
                <a:cs typeface="Times New Roman" panose="02020603050405020304" pitchFamily="18" charset="0"/>
              </a:rPr>
              <a:t>sensitive site from the perspective of national security; </a:t>
            </a:r>
          </a:p>
          <a:p>
            <a:pPr marL="457200" indent="-457200">
              <a:lnSpc>
                <a:spcPct val="110000"/>
              </a:lnSpc>
              <a:buAutoNum type="alphaLcParenBoth"/>
            </a:pPr>
            <a:r>
              <a:rPr lang="en-US" dirty="0">
                <a:latin typeface="Times New Roman" panose="02020603050405020304" pitchFamily="18" charset="0"/>
                <a:cs typeface="Times New Roman" panose="02020603050405020304" pitchFamily="18" charset="0"/>
              </a:rPr>
              <a:t>disaster-prone area;</a:t>
            </a:r>
          </a:p>
          <a:p>
            <a:pPr marL="457200" indent="-457200">
              <a:lnSpc>
                <a:spcPct val="110000"/>
              </a:lnSpc>
              <a:buAutoNum type="alphaLcParenBoth"/>
            </a:pPr>
            <a:r>
              <a:rPr lang="en-US" dirty="0">
                <a:latin typeface="Times New Roman" panose="02020603050405020304" pitchFamily="18" charset="0"/>
                <a:cs typeface="Times New Roman" panose="02020603050405020304" pitchFamily="18" charset="0"/>
              </a:rPr>
              <a:t>protected area for environmental cleanliness and conservation of biological diversity, and </a:t>
            </a:r>
          </a:p>
          <a:p>
            <a:pPr marL="457200" indent="-457200">
              <a:lnSpc>
                <a:spcPct val="110000"/>
              </a:lnSpc>
              <a:buAutoNum type="alphaLcParenBoth"/>
            </a:pPr>
            <a:r>
              <a:rPr lang="en-US" dirty="0">
                <a:latin typeface="Times New Roman" panose="02020603050405020304" pitchFamily="18" charset="0"/>
                <a:cs typeface="Times New Roman" panose="02020603050405020304" pitchFamily="18" charset="0"/>
              </a:rPr>
              <a:t>other necessary areas. </a:t>
            </a:r>
          </a:p>
        </p:txBody>
      </p:sp>
    </p:spTree>
    <p:extLst>
      <p:ext uri="{BB962C8B-B14F-4D97-AF65-F5344CB8AC3E}">
        <p14:creationId xmlns:p14="http://schemas.microsoft.com/office/powerpoint/2010/main" val="841710397"/>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A172EBA-0EED-B6B1-AD2A-124960F7D302}"/>
              </a:ext>
            </a:extLst>
          </p:cNvPr>
          <p:cNvSpPr>
            <a:spLocks noGrp="1"/>
          </p:cNvSpPr>
          <p:nvPr>
            <p:ph idx="1"/>
          </p:nvPr>
        </p:nvSpPr>
        <p:spPr>
          <a:xfrm>
            <a:off x="0" y="304800"/>
            <a:ext cx="8991600" cy="6477000"/>
          </a:xfrm>
        </p:spPr>
        <p:txBody>
          <a:bodyPr>
            <a:normAutofit lnSpcReduction="10000"/>
          </a:bodyPr>
          <a:lstStyle/>
          <a:p>
            <a:pPr marL="0" indent="0" algn="just">
              <a:lnSpc>
                <a:spcPct val="150000"/>
              </a:lnSpc>
              <a:buNone/>
            </a:pPr>
            <a:r>
              <a:rPr lang="en-US" dirty="0">
                <a:solidFill>
                  <a:srgbClr val="FF0000"/>
                </a:solidFill>
                <a:latin typeface="Times New Roman" panose="02020603050405020304" pitchFamily="18" charset="0"/>
                <a:cs typeface="Times New Roman" panose="02020603050405020304" pitchFamily="18" charset="0"/>
              </a:rPr>
              <a:t>Land Use Act, 2019…</a:t>
            </a:r>
          </a:p>
          <a:p>
            <a:pPr algn="just">
              <a:lnSpc>
                <a:spcPct val="150000"/>
              </a:lnSpc>
            </a:pPr>
            <a:r>
              <a:rPr lang="en-US" dirty="0">
                <a:latin typeface="Times New Roman" panose="02020603050405020304" pitchFamily="18" charset="0"/>
                <a:cs typeface="Times New Roman" panose="02020603050405020304" pitchFamily="18" charset="0"/>
              </a:rPr>
              <a:t>There is also a specific provision for updating the land owners’ records and certificates of land ownership by the local unit within its territory in accordance with the land use classification map.</a:t>
            </a:r>
          </a:p>
          <a:p>
            <a:pPr algn="just">
              <a:lnSpc>
                <a:spcPct val="150000"/>
              </a:lnSpc>
            </a:pPr>
            <a:r>
              <a:rPr lang="en-US" dirty="0">
                <a:latin typeface="Times New Roman" panose="02020603050405020304" pitchFamily="18" charset="0"/>
                <a:cs typeface="Times New Roman" panose="02020603050405020304" pitchFamily="18" charset="0"/>
              </a:rPr>
              <a:t>One of the important legal provisions of the Act is on “control of land fragmentation and land consolidation”. It articulates to set the necessary criteria and necessary standards to control land fragmentation and regulate land plotting. </a:t>
            </a:r>
          </a:p>
          <a:p>
            <a:pPr algn="just">
              <a:lnSpc>
                <a:spcPct val="150000"/>
              </a:lnSpc>
            </a:pPr>
            <a:r>
              <a:rPr lang="en-US" dirty="0">
                <a:latin typeface="Times New Roman" panose="02020603050405020304" pitchFamily="18" charset="0"/>
                <a:cs typeface="Times New Roman" panose="02020603050405020304" pitchFamily="18" charset="0"/>
              </a:rPr>
              <a:t>The Act specifically states, “Nepal government will establish land bank at the local unit as per necessity for the implementation of the system concerning the land use classification and enhancing productivity through the optimum utilization of land” </a:t>
            </a:r>
          </a:p>
        </p:txBody>
      </p:sp>
    </p:spTree>
    <p:extLst>
      <p:ext uri="{BB962C8B-B14F-4D97-AF65-F5344CB8AC3E}">
        <p14:creationId xmlns:p14="http://schemas.microsoft.com/office/powerpoint/2010/main" val="787075945"/>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DA04B1-925F-449F-0E40-218F9FA6E0C3}"/>
              </a:ext>
            </a:extLst>
          </p:cNvPr>
          <p:cNvSpPr>
            <a:spLocks noGrp="1"/>
          </p:cNvSpPr>
          <p:nvPr>
            <p:ph type="title"/>
          </p:nvPr>
        </p:nvSpPr>
        <p:spPr>
          <a:xfrm>
            <a:off x="457200" y="381000"/>
            <a:ext cx="8229600" cy="990600"/>
          </a:xfrm>
        </p:spPr>
        <p:txBody>
          <a:bodyPr>
            <a:normAutofit fontScale="90000"/>
          </a:bodyPr>
          <a:lstStyle/>
          <a:p>
            <a:r>
              <a:rPr lang="en-US" dirty="0"/>
              <a:t> Land Related Government Institutions</a:t>
            </a:r>
          </a:p>
        </p:txBody>
      </p:sp>
      <p:pic>
        <p:nvPicPr>
          <p:cNvPr id="5" name="Content Placeholder 4">
            <a:extLst>
              <a:ext uri="{FF2B5EF4-FFF2-40B4-BE49-F238E27FC236}">
                <a16:creationId xmlns:a16="http://schemas.microsoft.com/office/drawing/2014/main" id="{B3881095-E684-3689-A5B6-11E999910D96}"/>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341758" y="1371600"/>
            <a:ext cx="8460482" cy="5410200"/>
          </a:xfrm>
        </p:spPr>
      </p:pic>
    </p:spTree>
    <p:extLst>
      <p:ext uri="{BB962C8B-B14F-4D97-AF65-F5344CB8AC3E}">
        <p14:creationId xmlns:p14="http://schemas.microsoft.com/office/powerpoint/2010/main" val="2628742958"/>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241FFE-DB60-0A91-68DA-30F2942A7039}"/>
              </a:ext>
            </a:extLst>
          </p:cNvPr>
          <p:cNvSpPr>
            <a:spLocks noGrp="1"/>
          </p:cNvSpPr>
          <p:nvPr>
            <p:ph type="title"/>
          </p:nvPr>
        </p:nvSpPr>
        <p:spPr>
          <a:xfrm>
            <a:off x="76200" y="685800"/>
            <a:ext cx="8229600" cy="762000"/>
          </a:xfrm>
        </p:spPr>
        <p:txBody>
          <a:bodyPr>
            <a:normAutofit fontScale="90000"/>
          </a:bodyPr>
          <a:lstStyle/>
          <a:p>
            <a:r>
              <a:rPr lang="en-US" sz="3600" dirty="0"/>
              <a:t>Importance of land law on development of country</a:t>
            </a:r>
            <a:br>
              <a:rPr lang="en-US" dirty="0"/>
            </a:br>
            <a:endParaRPr lang="en-US" dirty="0"/>
          </a:p>
        </p:txBody>
      </p:sp>
      <p:sp>
        <p:nvSpPr>
          <p:cNvPr id="3" name="Content Placeholder 2">
            <a:extLst>
              <a:ext uri="{FF2B5EF4-FFF2-40B4-BE49-F238E27FC236}">
                <a16:creationId xmlns:a16="http://schemas.microsoft.com/office/drawing/2014/main" id="{2C18815A-BBBF-646D-D1D0-437A07DF0BA8}"/>
              </a:ext>
            </a:extLst>
          </p:cNvPr>
          <p:cNvSpPr>
            <a:spLocks noGrp="1"/>
          </p:cNvSpPr>
          <p:nvPr>
            <p:ph idx="1"/>
          </p:nvPr>
        </p:nvSpPr>
        <p:spPr>
          <a:xfrm>
            <a:off x="76200" y="1143000"/>
            <a:ext cx="8991600" cy="5715000"/>
          </a:xfrm>
        </p:spPr>
        <p:txBody>
          <a:bodyPr>
            <a:normAutofit fontScale="85000" lnSpcReduction="10000"/>
          </a:bodyPr>
          <a:lstStyle/>
          <a:p>
            <a:endParaRPr lang="en-US" b="1" dirty="0"/>
          </a:p>
          <a:p>
            <a:pPr marL="0" indent="0" algn="just">
              <a:buNone/>
            </a:pPr>
            <a:r>
              <a:rPr lang="en-US" dirty="0">
                <a:latin typeface="Times New Roman" panose="02020603050405020304" pitchFamily="18" charset="0"/>
                <a:cs typeface="Times New Roman" panose="02020603050405020304" pitchFamily="18" charset="0"/>
              </a:rPr>
              <a:t>Land laws provide a legal framework that is essential for establishing and protecting property rights, promoting economic development, </a:t>
            </a:r>
            <a:r>
              <a:rPr lang="en-US" dirty="0">
                <a:latin typeface="Times New Roman" panose="02020603050405020304" pitchFamily="18" charset="0"/>
                <a:cs typeface="Times New Roman" panose="02020603050405020304" pitchFamily="18" charset="0"/>
                <a:hlinkClick r:id="rId2">
                  <a:extLst>
                    <a:ext uri="{A12FA001-AC4F-418D-AE19-62706E023703}">
                      <ahyp:hlinkClr xmlns:ahyp="http://schemas.microsoft.com/office/drawing/2018/hyperlinkcolor" val="tx"/>
                    </a:ext>
                  </a:extLst>
                </a:hlinkClick>
              </a:rPr>
              <a:t>ensuring social justice</a:t>
            </a:r>
            <a:r>
              <a:rPr lang="en-US" dirty="0">
                <a:latin typeface="Times New Roman" panose="02020603050405020304" pitchFamily="18" charset="0"/>
                <a:cs typeface="Times New Roman" panose="02020603050405020304" pitchFamily="18" charset="0"/>
              </a:rPr>
              <a:t>, and managing conflicts related to land use. They contribute to the overall stability, prosperity, and sustainability of a society.</a:t>
            </a:r>
            <a:endParaRPr lang="en-US" b="1" dirty="0">
              <a:latin typeface="Times New Roman" panose="02020603050405020304" pitchFamily="18" charset="0"/>
              <a:cs typeface="Times New Roman" panose="02020603050405020304" pitchFamily="18" charset="0"/>
            </a:endParaRPr>
          </a:p>
          <a:p>
            <a:pPr algn="just"/>
            <a:endParaRPr lang="en-US" b="1" dirty="0">
              <a:latin typeface="Times New Roman" panose="02020603050405020304" pitchFamily="18" charset="0"/>
              <a:cs typeface="Times New Roman" panose="02020603050405020304" pitchFamily="18" charset="0"/>
            </a:endParaRPr>
          </a:p>
          <a:p>
            <a:pPr marL="0" indent="0" algn="just">
              <a:buNone/>
            </a:pPr>
            <a:r>
              <a:rPr lang="en-US" b="1" dirty="0">
                <a:latin typeface="Times New Roman" panose="02020603050405020304" pitchFamily="18" charset="0"/>
                <a:cs typeface="Times New Roman" panose="02020603050405020304" pitchFamily="18" charset="0"/>
              </a:rPr>
              <a:t>Importance </a:t>
            </a:r>
          </a:p>
          <a:p>
            <a:pPr algn="just"/>
            <a:r>
              <a:rPr lang="en-US" b="1" dirty="0">
                <a:latin typeface="Times New Roman" panose="02020603050405020304" pitchFamily="18" charset="0"/>
                <a:cs typeface="Times New Roman" panose="02020603050405020304" pitchFamily="18" charset="0"/>
              </a:rPr>
              <a:t>Property Rights and Ownership:</a:t>
            </a:r>
            <a:endParaRPr lang="en-US" dirty="0">
              <a:latin typeface="Times New Roman" panose="02020603050405020304" pitchFamily="18" charset="0"/>
              <a:cs typeface="Times New Roman" panose="02020603050405020304" pitchFamily="18" charset="0"/>
            </a:endParaRPr>
          </a:p>
          <a:p>
            <a:pPr lvl="1" algn="just"/>
            <a:r>
              <a:rPr lang="en-US" b="1" dirty="0">
                <a:latin typeface="Times New Roman" panose="02020603050405020304" pitchFamily="18" charset="0"/>
                <a:cs typeface="Times New Roman" panose="02020603050405020304" pitchFamily="18" charset="0"/>
              </a:rPr>
              <a:t>Legal Certainty:</a:t>
            </a:r>
            <a:r>
              <a:rPr lang="en-US" dirty="0">
                <a:latin typeface="Times New Roman" panose="02020603050405020304" pitchFamily="18" charset="0"/>
                <a:cs typeface="Times New Roman" panose="02020603050405020304" pitchFamily="18" charset="0"/>
              </a:rPr>
              <a:t> Land laws provide a legal framework that defines and protects property rights. Clear and enforceable property rights are essential for individuals and businesses to feel secure in their ownership, encouraging investment and </a:t>
            </a:r>
            <a:r>
              <a:rPr lang="en-US" dirty="0">
                <a:latin typeface="Times New Roman" panose="02020603050405020304" pitchFamily="18" charset="0"/>
                <a:cs typeface="Times New Roman" panose="02020603050405020304" pitchFamily="18" charset="0"/>
                <a:hlinkClick r:id="rId3">
                  <a:extLst>
                    <a:ext uri="{A12FA001-AC4F-418D-AE19-62706E023703}">
                      <ahyp:hlinkClr xmlns:ahyp="http://schemas.microsoft.com/office/drawing/2018/hyperlinkcolor" val="tx"/>
                    </a:ext>
                  </a:extLst>
                </a:hlinkClick>
              </a:rPr>
              <a:t>economic development</a:t>
            </a:r>
            <a:r>
              <a:rPr lang="en-US" dirty="0">
                <a:latin typeface="Times New Roman" panose="02020603050405020304" pitchFamily="18" charset="0"/>
                <a:cs typeface="Times New Roman" panose="02020603050405020304" pitchFamily="18" charset="0"/>
              </a:rPr>
              <a:t>.</a:t>
            </a:r>
          </a:p>
          <a:p>
            <a:pPr lvl="1" algn="just"/>
            <a:r>
              <a:rPr lang="en-US" b="1" dirty="0">
                <a:latin typeface="Times New Roman" panose="02020603050405020304" pitchFamily="18" charset="0"/>
                <a:cs typeface="Times New Roman" panose="02020603050405020304" pitchFamily="18" charset="0"/>
              </a:rPr>
              <a:t>Transfer of Ownership:</a:t>
            </a:r>
            <a:r>
              <a:rPr lang="en-US" dirty="0">
                <a:latin typeface="Times New Roman" panose="02020603050405020304" pitchFamily="18" charset="0"/>
                <a:cs typeface="Times New Roman" panose="02020603050405020304" pitchFamily="18" charset="0"/>
              </a:rPr>
              <a:t> Land laws establish the legal procedures for the transfer of property ownership. This ensures that transactions are transparent, recorded, and legally binding.</a:t>
            </a:r>
          </a:p>
          <a:p>
            <a:pPr algn="just"/>
            <a:r>
              <a:rPr lang="en-US" b="1" dirty="0">
                <a:latin typeface="Times New Roman" panose="02020603050405020304" pitchFamily="18" charset="0"/>
                <a:cs typeface="Times New Roman" panose="02020603050405020304" pitchFamily="18" charset="0"/>
              </a:rPr>
              <a:t>Land Use Planning and Zoning:</a:t>
            </a:r>
            <a:endParaRPr lang="en-US" dirty="0">
              <a:latin typeface="Times New Roman" panose="02020603050405020304" pitchFamily="18" charset="0"/>
              <a:cs typeface="Times New Roman" panose="02020603050405020304" pitchFamily="18" charset="0"/>
            </a:endParaRPr>
          </a:p>
          <a:p>
            <a:pPr lvl="1" algn="just"/>
            <a:r>
              <a:rPr lang="en-US" b="1" dirty="0">
                <a:latin typeface="Times New Roman" panose="02020603050405020304" pitchFamily="18" charset="0"/>
                <a:cs typeface="Times New Roman" panose="02020603050405020304" pitchFamily="18" charset="0"/>
              </a:rPr>
              <a:t>Orderly Development:</a:t>
            </a:r>
            <a:r>
              <a:rPr lang="en-US" dirty="0">
                <a:latin typeface="Times New Roman" panose="02020603050405020304" pitchFamily="18" charset="0"/>
                <a:cs typeface="Times New Roman" panose="02020603050405020304" pitchFamily="18" charset="0"/>
              </a:rPr>
              <a:t> Land laws often include provisions for land use planning and zoning regulations. These help in organizing urban and rural spaces, preventing haphazard development, and promoting orderly growth.</a:t>
            </a:r>
          </a:p>
          <a:p>
            <a:pPr lvl="1" algn="just"/>
            <a:r>
              <a:rPr lang="en-US" b="1" dirty="0">
                <a:latin typeface="Times New Roman" panose="02020603050405020304" pitchFamily="18" charset="0"/>
                <a:cs typeface="Times New Roman" panose="02020603050405020304" pitchFamily="18" charset="0"/>
              </a:rPr>
              <a:t>Environmental Protection:</a:t>
            </a:r>
            <a:r>
              <a:rPr lang="en-US" dirty="0">
                <a:latin typeface="Times New Roman" panose="02020603050405020304" pitchFamily="18" charset="0"/>
                <a:cs typeface="Times New Roman" panose="02020603050405020304" pitchFamily="18" charset="0"/>
              </a:rPr>
              <a:t> Zoning laws may include provisions for environmental protection, ensuring that certain areas are preserved for conservation or restricted to specific types of development to prevent environmental degradation.</a:t>
            </a:r>
          </a:p>
          <a:p>
            <a:pPr marL="0" indent="0">
              <a:buNone/>
            </a:pPr>
            <a:endParaRPr lang="en-US" dirty="0"/>
          </a:p>
        </p:txBody>
      </p:sp>
    </p:spTree>
    <p:extLst>
      <p:ext uri="{BB962C8B-B14F-4D97-AF65-F5344CB8AC3E}">
        <p14:creationId xmlns:p14="http://schemas.microsoft.com/office/powerpoint/2010/main" val="2883868070"/>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594460-75AC-E977-81FE-C73C1658408A}"/>
              </a:ext>
            </a:extLst>
          </p:cNvPr>
          <p:cNvSpPr>
            <a:spLocks noGrp="1"/>
          </p:cNvSpPr>
          <p:nvPr>
            <p:ph type="title"/>
          </p:nvPr>
        </p:nvSpPr>
        <p:spPr>
          <a:xfrm>
            <a:off x="37672" y="152400"/>
            <a:ext cx="8229600" cy="990600"/>
          </a:xfrm>
        </p:spPr>
        <p:txBody>
          <a:bodyPr>
            <a:noAutofit/>
          </a:bodyPr>
          <a:lstStyle/>
          <a:p>
            <a:r>
              <a:rPr lang="en-US" sz="2800" dirty="0">
                <a:latin typeface="Times New Roman" panose="02020603050405020304" pitchFamily="18" charset="0"/>
                <a:cs typeface="Times New Roman" panose="02020603050405020304" pitchFamily="18" charset="0"/>
              </a:rPr>
              <a:t>Importance of land law on development of country….</a:t>
            </a:r>
          </a:p>
        </p:txBody>
      </p:sp>
      <p:sp>
        <p:nvSpPr>
          <p:cNvPr id="3" name="Content Placeholder 2">
            <a:extLst>
              <a:ext uri="{FF2B5EF4-FFF2-40B4-BE49-F238E27FC236}">
                <a16:creationId xmlns:a16="http://schemas.microsoft.com/office/drawing/2014/main" id="{752E0DC0-D49B-8C07-8355-440CD07C5AF9}"/>
              </a:ext>
            </a:extLst>
          </p:cNvPr>
          <p:cNvSpPr>
            <a:spLocks noGrp="1"/>
          </p:cNvSpPr>
          <p:nvPr>
            <p:ph idx="1"/>
          </p:nvPr>
        </p:nvSpPr>
        <p:spPr>
          <a:xfrm>
            <a:off x="0" y="1143000"/>
            <a:ext cx="9106328" cy="5562600"/>
          </a:xfrm>
        </p:spPr>
        <p:txBody>
          <a:bodyPr>
            <a:normAutofit fontScale="85000" lnSpcReduction="20000"/>
          </a:bodyPr>
          <a:lstStyle/>
          <a:p>
            <a:r>
              <a:rPr lang="en-US" b="1" dirty="0">
                <a:latin typeface="Times New Roman" panose="02020603050405020304" pitchFamily="18" charset="0"/>
                <a:cs typeface="Times New Roman" panose="02020603050405020304" pitchFamily="18" charset="0"/>
              </a:rPr>
              <a:t>Economic Development:</a:t>
            </a:r>
            <a:endParaRPr lang="en-US" dirty="0">
              <a:latin typeface="Times New Roman" panose="02020603050405020304" pitchFamily="18" charset="0"/>
              <a:cs typeface="Times New Roman" panose="02020603050405020304" pitchFamily="18" charset="0"/>
            </a:endParaRPr>
          </a:p>
          <a:p>
            <a:pPr lvl="1"/>
            <a:r>
              <a:rPr lang="en-US" b="1" dirty="0">
                <a:latin typeface="Times New Roman" panose="02020603050405020304" pitchFamily="18" charset="0"/>
                <a:cs typeface="Times New Roman" panose="02020603050405020304" pitchFamily="18" charset="0"/>
              </a:rPr>
              <a:t>Collateral for Financing:</a:t>
            </a:r>
            <a:r>
              <a:rPr lang="en-US" dirty="0">
                <a:latin typeface="Times New Roman" panose="02020603050405020304" pitchFamily="18" charset="0"/>
                <a:cs typeface="Times New Roman" panose="02020603050405020304" pitchFamily="18" charset="0"/>
              </a:rPr>
              <a:t> Land often serves as a valuable asset that can be used as collateral for loans and other financial transactions. A well-established land law system facilitates secure transactions and encourages financial institutions to lend money for development projects.</a:t>
            </a:r>
          </a:p>
          <a:p>
            <a:pPr lvl="1"/>
            <a:r>
              <a:rPr lang="en-US" b="1" dirty="0">
                <a:latin typeface="Times New Roman" panose="02020603050405020304" pitchFamily="18" charset="0"/>
                <a:cs typeface="Times New Roman" panose="02020603050405020304" pitchFamily="18" charset="0"/>
              </a:rPr>
              <a:t>Investment Incentives:</a:t>
            </a:r>
            <a:r>
              <a:rPr lang="en-US" dirty="0">
                <a:latin typeface="Times New Roman" panose="02020603050405020304" pitchFamily="18" charset="0"/>
                <a:cs typeface="Times New Roman" panose="02020603050405020304" pitchFamily="18" charset="0"/>
              </a:rPr>
              <a:t> Clearly defined land rights attract investments by providing potential investors with confidence in the </a:t>
            </a:r>
            <a:r>
              <a:rPr lang="en-US" dirty="0">
                <a:latin typeface="Times New Roman" panose="02020603050405020304" pitchFamily="18" charset="0"/>
                <a:cs typeface="Times New Roman" panose="02020603050405020304" pitchFamily="18" charset="0"/>
                <a:hlinkClick r:id="rId2">
                  <a:extLst>
                    <a:ext uri="{A12FA001-AC4F-418D-AE19-62706E023703}">
                      <ahyp:hlinkClr xmlns:ahyp="http://schemas.microsoft.com/office/drawing/2018/hyperlinkcolor" val="tx"/>
                    </a:ext>
                  </a:extLst>
                </a:hlinkClick>
              </a:rPr>
              <a:t>security of their property</a:t>
            </a:r>
            <a:r>
              <a:rPr lang="en-US" dirty="0">
                <a:latin typeface="Times New Roman" panose="02020603050405020304" pitchFamily="18" charset="0"/>
                <a:cs typeface="Times New Roman" panose="02020603050405020304" pitchFamily="18" charset="0"/>
              </a:rPr>
              <a:t>. </a:t>
            </a:r>
          </a:p>
          <a:p>
            <a:r>
              <a:rPr lang="en-US" b="1" dirty="0">
                <a:latin typeface="Times New Roman" panose="02020603050405020304" pitchFamily="18" charset="0"/>
                <a:cs typeface="Times New Roman" panose="02020603050405020304" pitchFamily="18" charset="0"/>
              </a:rPr>
              <a:t>Social Justice:</a:t>
            </a:r>
            <a:endParaRPr lang="en-US" dirty="0">
              <a:latin typeface="Times New Roman" panose="02020603050405020304" pitchFamily="18" charset="0"/>
              <a:cs typeface="Times New Roman" panose="02020603050405020304" pitchFamily="18" charset="0"/>
            </a:endParaRPr>
          </a:p>
          <a:p>
            <a:pPr lvl="1"/>
            <a:r>
              <a:rPr lang="en-US" b="1" dirty="0">
                <a:latin typeface="Times New Roman" panose="02020603050405020304" pitchFamily="18" charset="0"/>
                <a:cs typeface="Times New Roman" panose="02020603050405020304" pitchFamily="18" charset="0"/>
              </a:rPr>
              <a:t>Land Redistribution:</a:t>
            </a:r>
            <a:r>
              <a:rPr lang="en-US" dirty="0">
                <a:latin typeface="Times New Roman" panose="02020603050405020304" pitchFamily="18" charset="0"/>
                <a:cs typeface="Times New Roman" panose="02020603050405020304" pitchFamily="18" charset="0"/>
              </a:rPr>
              <a:t> In many societies, land laws address issues of social justice by regulating the distribution of land to ensure fair and equitable access. This may involve mechanisms for </a:t>
            </a:r>
            <a:r>
              <a:rPr lang="en-US" dirty="0">
                <a:latin typeface="Times New Roman" panose="02020603050405020304" pitchFamily="18" charset="0"/>
                <a:cs typeface="Times New Roman" panose="02020603050405020304" pitchFamily="18" charset="0"/>
                <a:hlinkClick r:id="rId3">
                  <a:extLst>
                    <a:ext uri="{A12FA001-AC4F-418D-AE19-62706E023703}">
                      <ahyp:hlinkClr xmlns:ahyp="http://schemas.microsoft.com/office/drawing/2018/hyperlinkcolor" val="tx"/>
                    </a:ext>
                  </a:extLst>
                </a:hlinkClick>
              </a:rPr>
              <a:t>land reform</a:t>
            </a:r>
            <a:r>
              <a:rPr lang="en-US" dirty="0">
                <a:latin typeface="Times New Roman" panose="02020603050405020304" pitchFamily="18" charset="0"/>
                <a:cs typeface="Times New Roman" panose="02020603050405020304" pitchFamily="18" charset="0"/>
              </a:rPr>
              <a:t>, redistributing land to address historical injustices or promote economic equality.</a:t>
            </a:r>
          </a:p>
          <a:p>
            <a:r>
              <a:rPr lang="en-US" b="1" dirty="0">
                <a:latin typeface="Times New Roman" panose="02020603050405020304" pitchFamily="18" charset="0"/>
                <a:cs typeface="Times New Roman" panose="02020603050405020304" pitchFamily="18" charset="0"/>
              </a:rPr>
              <a:t>Conflict Resolution:</a:t>
            </a:r>
            <a:endParaRPr lang="en-US" dirty="0">
              <a:latin typeface="Times New Roman" panose="02020603050405020304" pitchFamily="18" charset="0"/>
              <a:cs typeface="Times New Roman" panose="02020603050405020304" pitchFamily="18" charset="0"/>
            </a:endParaRPr>
          </a:p>
          <a:p>
            <a:pPr lvl="1"/>
            <a:r>
              <a:rPr lang="en-US" b="1" dirty="0">
                <a:latin typeface="Times New Roman" panose="02020603050405020304" pitchFamily="18" charset="0"/>
                <a:cs typeface="Times New Roman" panose="02020603050405020304" pitchFamily="18" charset="0"/>
              </a:rPr>
              <a:t>Dispute Resolution:</a:t>
            </a:r>
            <a:r>
              <a:rPr lang="en-US" dirty="0">
                <a:latin typeface="Times New Roman" panose="02020603050405020304" pitchFamily="18" charset="0"/>
                <a:cs typeface="Times New Roman" panose="02020603050405020304" pitchFamily="18" charset="0"/>
              </a:rPr>
              <a:t> Land laws provide mechanisms for resolving disputes related to property, boundaries, and land use. A well-functioning legal system helps in preventing and resolving conflicts, reducing the likelihood of disputes escalating into larger issues.</a:t>
            </a:r>
          </a:p>
          <a:p>
            <a:r>
              <a:rPr lang="en-US" b="1" dirty="0">
                <a:latin typeface="Times New Roman" panose="02020603050405020304" pitchFamily="18" charset="0"/>
                <a:cs typeface="Times New Roman" panose="02020603050405020304" pitchFamily="18" charset="0"/>
              </a:rPr>
              <a:t>Infrastructure Development:</a:t>
            </a:r>
            <a:endParaRPr lang="en-US" dirty="0">
              <a:latin typeface="Times New Roman" panose="02020603050405020304" pitchFamily="18" charset="0"/>
              <a:cs typeface="Times New Roman" panose="02020603050405020304" pitchFamily="18" charset="0"/>
            </a:endParaRPr>
          </a:p>
          <a:p>
            <a:pPr lvl="1"/>
            <a:r>
              <a:rPr lang="en-US" b="1" dirty="0">
                <a:latin typeface="Times New Roman" panose="02020603050405020304" pitchFamily="18" charset="0"/>
                <a:cs typeface="Times New Roman" panose="02020603050405020304" pitchFamily="18" charset="0"/>
              </a:rPr>
              <a:t>Public Projects:</a:t>
            </a:r>
            <a:r>
              <a:rPr lang="en-US" dirty="0">
                <a:latin typeface="Times New Roman" panose="02020603050405020304" pitchFamily="18" charset="0"/>
                <a:cs typeface="Times New Roman" panose="02020603050405020304" pitchFamily="18" charset="0"/>
              </a:rPr>
              <a:t> Land laws enable governments to acquire land for public projects such as roads, schools, and utilities through mechanisms like eminent domain. This ensures that infrastructure projects can be carried out for the public good.</a:t>
            </a:r>
          </a:p>
          <a:p>
            <a:r>
              <a:rPr lang="en-US" b="1" dirty="0">
                <a:latin typeface="Times New Roman" panose="02020603050405020304" pitchFamily="18" charset="0"/>
                <a:cs typeface="Times New Roman" panose="02020603050405020304" pitchFamily="18" charset="0"/>
              </a:rPr>
              <a:t>Cultural and Heritage Preservation:</a:t>
            </a:r>
            <a:endParaRPr lang="en-US" dirty="0">
              <a:latin typeface="Times New Roman" panose="02020603050405020304" pitchFamily="18" charset="0"/>
              <a:cs typeface="Times New Roman" panose="02020603050405020304" pitchFamily="18" charset="0"/>
            </a:endParaRPr>
          </a:p>
          <a:p>
            <a:pPr lvl="1"/>
            <a:r>
              <a:rPr lang="en-US" b="1" dirty="0">
                <a:latin typeface="Times New Roman" panose="02020603050405020304" pitchFamily="18" charset="0"/>
                <a:cs typeface="Times New Roman" panose="02020603050405020304" pitchFamily="18" charset="0"/>
              </a:rPr>
              <a:t>Cultural Significance:</a:t>
            </a:r>
            <a:r>
              <a:rPr lang="en-US" dirty="0">
                <a:latin typeface="Times New Roman" panose="02020603050405020304" pitchFamily="18" charset="0"/>
                <a:cs typeface="Times New Roman" panose="02020603050405020304" pitchFamily="18" charset="0"/>
              </a:rPr>
              <a:t> Land laws may include provisions for the protection of culturally significant sites or heritage areas. This helps preserve historical landmarks and maintain a connection to cultural identity.</a:t>
            </a:r>
          </a:p>
          <a:p>
            <a:pPr marL="0" indent="0">
              <a:buNone/>
            </a:pPr>
            <a:endParaRPr lang="en-US" dirty="0"/>
          </a:p>
        </p:txBody>
      </p:sp>
    </p:spTree>
    <p:extLst>
      <p:ext uri="{BB962C8B-B14F-4D97-AF65-F5344CB8AC3E}">
        <p14:creationId xmlns:p14="http://schemas.microsoft.com/office/powerpoint/2010/main" val="572665707"/>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Clarity">
  <a:themeElements>
    <a:clrScheme name="Clarity">
      <a:dk1>
        <a:srgbClr val="292934"/>
      </a:dk1>
      <a:lt1>
        <a:srgbClr val="FFFFFF"/>
      </a:lt1>
      <a:dk2>
        <a:srgbClr val="D2533C"/>
      </a:dk2>
      <a:lt2>
        <a:srgbClr val="F3F2DC"/>
      </a:lt2>
      <a:accent1>
        <a:srgbClr val="93A299"/>
      </a:accent1>
      <a:accent2>
        <a:srgbClr val="AD8F67"/>
      </a:accent2>
      <a:accent3>
        <a:srgbClr val="726056"/>
      </a:accent3>
      <a:accent4>
        <a:srgbClr val="4C5A6A"/>
      </a:accent4>
      <a:accent5>
        <a:srgbClr val="808DA0"/>
      </a:accent5>
      <a:accent6>
        <a:srgbClr val="79463D"/>
      </a:accent6>
      <a:hlink>
        <a:srgbClr val="0000FF"/>
      </a:hlink>
      <a:folHlink>
        <a:srgbClr val="800080"/>
      </a:folHlink>
    </a:clrScheme>
    <a:fontScheme name="Office Classic 2">
      <a:majorFont>
        <a:latin typeface="Arial"/>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Clarity">
      <a:fillStyleLst>
        <a:solidFill>
          <a:schemeClr val="phClr"/>
        </a:solidFill>
        <a:gradFill rotWithShape="1">
          <a:gsLst>
            <a:gs pos="0">
              <a:schemeClr val="phClr">
                <a:tint val="50000"/>
                <a:shade val="86000"/>
                <a:satMod val="140000"/>
              </a:schemeClr>
            </a:gs>
            <a:gs pos="45000">
              <a:schemeClr val="phClr">
                <a:tint val="48000"/>
                <a:satMod val="150000"/>
              </a:schemeClr>
            </a:gs>
            <a:gs pos="100000">
              <a:schemeClr val="phClr">
                <a:tint val="28000"/>
                <a:satMod val="160000"/>
              </a:schemeClr>
            </a:gs>
          </a:gsLst>
          <a:path path="circle">
            <a:fillToRect l="100000" t="100000" r="100000" b="100000"/>
          </a:path>
        </a:gradFill>
        <a:gradFill rotWithShape="1">
          <a:gsLst>
            <a:gs pos="0">
              <a:schemeClr val="phClr">
                <a:shade val="70000"/>
                <a:satMod val="150000"/>
              </a:schemeClr>
            </a:gs>
            <a:gs pos="34000">
              <a:schemeClr val="phClr">
                <a:shade val="70000"/>
                <a:satMod val="140000"/>
              </a:schemeClr>
            </a:gs>
            <a:gs pos="70000">
              <a:schemeClr val="phClr">
                <a:tint val="100000"/>
                <a:shade val="90000"/>
                <a:satMod val="140000"/>
              </a:schemeClr>
            </a:gs>
            <a:gs pos="100000">
              <a:schemeClr val="phClr">
                <a:tint val="100000"/>
                <a:shade val="100000"/>
                <a:satMod val="100000"/>
              </a:schemeClr>
            </a:gs>
          </a:gsLst>
          <a:path path="circle">
            <a:fillToRect l="100000" t="100000" r="100000" b="100000"/>
          </a:path>
        </a:gradFill>
      </a:fillStyleLst>
      <a:lnStyleLst>
        <a:ln w="9525" cap="flat" cmpd="sng" algn="ctr">
          <a:solidFill>
            <a:schemeClr val="phClr"/>
          </a:solidFill>
          <a:prstDash val="solid"/>
        </a:ln>
        <a:ln w="26425" cap="flat" cmpd="sng" algn="ctr">
          <a:solidFill>
            <a:schemeClr val="phClr"/>
          </a:solidFill>
          <a:prstDash val="solid"/>
        </a:ln>
        <a:ln w="4445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38100" dist="25400" dir="2700000" algn="br" rotWithShape="0">
              <a:srgbClr val="000000">
                <a:alpha val="60000"/>
              </a:srgbClr>
            </a:outerShdw>
          </a:effectLst>
          <a:scene3d>
            <a:camera prst="orthographicFront">
              <a:rot lat="0" lon="0" rev="0"/>
            </a:camera>
            <a:lightRig rig="balanced" dir="t">
              <a:rot lat="0" lon="0" rev="5100000"/>
            </a:lightRig>
          </a:scene3d>
          <a:sp3d contourW="6350">
            <a:bevelT w="29210" h="12700"/>
            <a:contourClr>
              <a:schemeClr val="phClr">
                <a:shade val="30000"/>
                <a:satMod val="130000"/>
              </a:schemeClr>
            </a:contourClr>
          </a:sp3d>
        </a:effectStyle>
      </a:effectStyleLst>
      <a:bgFillStyleLst>
        <a:solidFill>
          <a:schemeClr val="phClr"/>
        </a:solidFill>
        <a:gradFill rotWithShape="1">
          <a:gsLst>
            <a:gs pos="0">
              <a:schemeClr val="phClr">
                <a:tint val="85000"/>
                <a:satMod val="180000"/>
              </a:schemeClr>
            </a:gs>
            <a:gs pos="40000">
              <a:schemeClr val="phClr">
                <a:tint val="95000"/>
                <a:shade val="85000"/>
                <a:satMod val="150000"/>
              </a:schemeClr>
            </a:gs>
            <a:gs pos="100000">
              <a:schemeClr val="phClr">
                <a:shade val="45000"/>
                <a:satMod val="200000"/>
              </a:schemeClr>
            </a:gs>
          </a:gsLst>
          <a:lin ang="5400000" scaled="0"/>
        </a:gradFill>
        <a:blipFill rotWithShape="1">
          <a:blip xmlns:r="http://schemas.openxmlformats.org/officeDocument/2006/relationships" r:embed="rId1">
            <a:duotone>
              <a:schemeClr val="phClr">
                <a:shade val="55000"/>
              </a:schemeClr>
              <a:schemeClr val="phClr">
                <a:tint val="97000"/>
                <a:satMod val="95000"/>
              </a:schemeClr>
            </a:duotone>
          </a:blip>
          <a:tile tx="0" ty="0" sx="70000" sy="70000" flip="none" algn="tl"/>
        </a:blip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Clarity</Template>
  <TotalTime>16335</TotalTime>
  <Words>6090</Words>
  <Application>Microsoft Office PowerPoint</Application>
  <PresentationFormat>On-screen Show (4:3)</PresentationFormat>
  <Paragraphs>361</Paragraphs>
  <Slides>59</Slides>
  <Notes>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59</vt:i4>
      </vt:variant>
    </vt:vector>
  </HeadingPairs>
  <TitlesOfParts>
    <vt:vector size="67" baseType="lpstr">
      <vt:lpstr>Arial</vt:lpstr>
      <vt:lpstr>Calibri</vt:lpstr>
      <vt:lpstr>Cambria</vt:lpstr>
      <vt:lpstr>Open Sans</vt:lpstr>
      <vt:lpstr>Preeti</vt:lpstr>
      <vt:lpstr>Times New Roman</vt:lpstr>
      <vt:lpstr>Wingdings</vt:lpstr>
      <vt:lpstr>Clarity</vt:lpstr>
      <vt:lpstr>Law, Land, Property Law and Land Law  </vt:lpstr>
      <vt:lpstr>PowerPoint Presentation</vt:lpstr>
      <vt:lpstr>Law</vt:lpstr>
      <vt:lpstr>Why Law </vt:lpstr>
      <vt:lpstr>Land</vt:lpstr>
      <vt:lpstr>Land</vt:lpstr>
      <vt:lpstr>Land…</vt:lpstr>
      <vt:lpstr>PowerPoint Presentation</vt:lpstr>
      <vt:lpstr>PowerPoint Presentation</vt:lpstr>
      <vt:lpstr>PowerPoint Presentation</vt:lpstr>
      <vt:lpstr>Property</vt:lpstr>
      <vt:lpstr>Property Law</vt:lpstr>
      <vt:lpstr>Property Law (Legal Framework and Sources)</vt:lpstr>
      <vt:lpstr>Types of Property in Nepal </vt:lpstr>
      <vt:lpstr>Classification by Ownership</vt:lpstr>
      <vt:lpstr>Land Law</vt:lpstr>
      <vt:lpstr>Land Law</vt:lpstr>
      <vt:lpstr>PowerPoint Presentation</vt:lpstr>
      <vt:lpstr>LAND RELATED POLICIES AND LAWS IN NEPAL</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Acts</vt:lpstr>
      <vt:lpstr>PowerPoint Presentation</vt:lpstr>
      <vt:lpstr>PowerPoint Presentation</vt:lpstr>
      <vt:lpstr>Land (Survey and Measurement) Act, 1963</vt:lpstr>
      <vt:lpstr>PowerPoint Presentation</vt:lpstr>
      <vt:lpstr>PowerPoint Presentation</vt:lpstr>
      <vt:lpstr>PowerPoint Presentation</vt:lpstr>
      <vt:lpstr>Act Concerning Ukhada, 1964</vt:lpstr>
      <vt:lpstr>Land Management (Sale/Distribution) Act of Raptidun Development Sector, 1967</vt:lpstr>
      <vt:lpstr>The Lands Act, 1964</vt:lpstr>
      <vt:lpstr>PowerPoint Presentation</vt:lpstr>
      <vt:lpstr>PowerPoint Presentation</vt:lpstr>
      <vt:lpstr>Jhora Area Land Act, 1971</vt:lpstr>
      <vt:lpstr>National Parks and Wildlife Conservation Act, 1972</vt:lpstr>
      <vt:lpstr>Pastureland Nationalization Act,1974</vt:lpstr>
      <vt:lpstr>PowerPoint Presentation</vt:lpstr>
      <vt:lpstr>Guthi Corporation Act, 1976</vt:lpstr>
      <vt:lpstr>PowerPoint Presentation</vt:lpstr>
      <vt:lpstr>Land Acquisition Act, 1977</vt:lpstr>
      <vt:lpstr>Land Revenue Act, 1978</vt:lpstr>
      <vt:lpstr>PowerPoint Presentation</vt:lpstr>
      <vt:lpstr>Nepal Trust Act, 2008</vt:lpstr>
      <vt:lpstr>Forest Act, 2019</vt:lpstr>
      <vt:lpstr>PowerPoint Presentation</vt:lpstr>
      <vt:lpstr>Land Use Act, 2019</vt:lpstr>
      <vt:lpstr>PowerPoint Presentation</vt:lpstr>
      <vt:lpstr>PowerPoint Presentation</vt:lpstr>
      <vt:lpstr>PowerPoint Presentation</vt:lpstr>
      <vt:lpstr> Land Related Government Institutions</vt:lpstr>
      <vt:lpstr>Importance of land law on development of country </vt:lpstr>
      <vt:lpstr>Importance of land law on development of country….</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Land registration</dc:title>
  <dc:creator>Administrator</dc:creator>
  <cp:lastModifiedBy>User</cp:lastModifiedBy>
  <cp:revision>278</cp:revision>
  <cp:lastPrinted>2016-08-26T09:10:02Z</cp:lastPrinted>
  <dcterms:created xsi:type="dcterms:W3CDTF">2006-08-16T00:00:00Z</dcterms:created>
  <dcterms:modified xsi:type="dcterms:W3CDTF">2026-01-05T10:02:32Z</dcterms:modified>
</cp:coreProperties>
</file>